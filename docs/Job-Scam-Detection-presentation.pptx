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815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this is a deployed capstone decision-support system with a real benchmark evaluation. The frontend and API are live; the model is still a benchmark-validated tool and Kenyan-market generalization remains unverified. Team roles reflect division of labor across data, modelling, and product/deployment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framing careful: this is a decision-support / prioritization tool, not an enforcement or investigation system. The FTC figure is US-wide, not Kenya-specific — presented as external context, not a Kenyan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human-in-the-loop framing throughout: score → explanation → human verification, not score → automatic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'future accessibility' objective is intentionally phrased as future work — no USSD or WhatsApp integration has been built or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Public-sector partners are grouped together (NEA, Ministry of Labour, DCI) — none of these integrations are implemented; they represent the intended long-term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Row-count reconciliation, verified against the notebook: 71,321 raw → 1,019 duplicates removed (matched on title+company+location+description) → 70,302 final → split into 57,150 labeled and 13,152 unlabeled.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three-class-to-binary mapping was applied consistently across EMSCAD (harmonized from its native binary label) and the synthetic dataset (native 3-class).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EMSCAD holdout (3,484 records: 3,314 Legitimate, 170 Fraud-risk) is the primary final estimate of performance — it is never used for fitting, tuning, or threshold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come from the real EMSCAD benchmark holdout, not confirmed Kenyan job-board scam cases. The system is now deployed with a Vercel frontend and Render FastAPI backend. Registry verification, blacklist checks, and fuzzy impersonation matching are implemented. Kenyan-market generalization remains unverified because the scraped Kenyan postings have no ground-truth fraud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presenting the system as ready for fully automated enforcement. It is a deployed decision-support tool validated on a benchmark, and local Kenyan-market ground truth remains limited.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402336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21792"/>
            <a:ext cx="310896" cy="3108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676400" y="1019429"/>
            <a:ext cx="10515600" cy="911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AI-Powered Job Scam Detection System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2649220" y="23149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Machine-Learning Classifier for Fraudulent Job Postings in Kenya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647700" y="19893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HAKIKI HIRE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4434840" y="3201543"/>
            <a:ext cx="6159137" cy="23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6C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Research and Search — Whole Team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548640" y="39319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Melisa Achieng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548640" y="4242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Loading &amp; Cleaning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439660" y="39263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Briannah Chelangat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14960" y="47823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Christopher Kariuki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314960" y="5010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 &amp; Project Documentation &amp; PowerPoint </a:t>
            </a:r>
            <a:r>
              <a:rPr lang="en-US" sz="105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creration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4114800" y="3922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Cleopas Karanja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42976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Modelling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4213860" y="4764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Alex Kinyua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4056380" y="503199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Backend, Repository Admin &amp; Deployment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073900" y="4194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Backend, Job Seeker UI &amp; Gov Dashboard Concept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6696" y="466344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Online recruitment has widened access to employment in Kenya — but also created new fraud vectors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seekers may encounter upfront-fee requests, vague job descriptions, urgency language, impersonated employers, or suspicious contact channels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evidence: FTC-reported US job-scam losses rose from ~$90M (2020) to ~$501M (2024)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External evidence: a 2024 Kenyan DCI case reportedly affected ~1,000 job seekers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practical gap: job seekers need a way to prioritize verification before engaging with a posting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0" y="1463040"/>
            <a:ext cx="3840480" cy="4206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89720" y="228600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523744"/>
            <a:ext cx="530352" cy="5303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5528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prioritization tool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955280" y="3931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Helping job seekers know what to verify first — not a substitute for official investigation or human judgment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External statistics: Commission, F.T. (2024), Federal Trade Commission; DCI (2024), Ministry of Interior and National Administration.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 Solution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875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1" y="21854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Posting Text + Metadata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5836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Title, description, requirements, structured fields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2937510" y="19202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4043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054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561" y="218541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15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Fraud-Risk Score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55015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Model-generated probability estimate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5829300" y="19202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33222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233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351" y="21854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194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Explanation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644194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Influential words &amp; structured signals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721090" y="192024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9224010" y="192024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44125" y="205740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2141" y="218541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33738" y="267004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Human Verification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9333738" y="299923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seeker / reviewer decides next step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supports human verification and official reporting channels — it does not replace them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is a fraud-risk score and classification (Legitimate / Fraud-risk) at a chosen operating threshold, not a certainty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 &amp; Success Criteria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 fraud-risk postings from text and structured metadata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NLP — TF-IDF features with 1–2 word n-grams — to capture linguistic signals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 signals such as payment language, urgency, vague descriptions, missing fields, and suspicious contact patterns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126480" y="14630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a text-only baseline against hybrid models combining text and engineered features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Select an operating threshold on validation data, balancing fraud-risk precision and recall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Produce explainable risk signals — not just an unexplained label — and prepare the model for a future web/API or human-review workflow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Stakeholders &amp; Intended Workflow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485900"/>
            <a:ext cx="9144" cy="198882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6080760" y="2766060"/>
            <a:ext cx="3840480" cy="708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3474720"/>
            <a:ext cx="2560320" cy="1851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3154680" y="3474720"/>
            <a:ext cx="2926080" cy="1851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74520" y="2766060"/>
            <a:ext cx="4206240" cy="708660"/>
          </a:xfrm>
          <a:prstGeom prst="line">
            <a:avLst/>
          </a:prstGeom>
          <a:noFill/>
          <a:ln w="1905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880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00600" y="28803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Fraud-Risk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Screening System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8686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Users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480560" y="13441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Kenyan job seekers, especially young adults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83880" y="21488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Distribution &amp; Data Partners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321040" y="2624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Job boards and recruiters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03720" y="47091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Public-Sector Partners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040880" y="5184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NEA, Ministry of Labour, DCI, and related agencies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417320" y="470916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55448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Community Channels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1554480" y="5184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County governments and TVET career services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37160" y="21488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743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Beneficiaries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274320" y="26243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Legitimate employers and agencies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Sources &amp; Labeling Strategy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original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Job Postings / EMSCAD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17,880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benchmark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Fuzu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PigiaMe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Staffing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BrighterMonday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JobWeb 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scraped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Kenya-market augmentation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40,000 (39,733 after cleaning)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71,321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00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Initial combined records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2918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2918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8A75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−1,019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33832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Duplicates removed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0350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0350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70,302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61264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integrated records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778240" y="48920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778240" y="4983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57,150 / 13,152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8869680" y="546811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Labeled / Unlabeled records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Scraped Kenyan postings were not automatically labeled legitimate — they remain a separate, unlabeled contextual set.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Dataset Structure &amp; Target Definition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 — Legitimate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— Suspicious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— Fraudulent / Scam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017520" cy="594360"/>
          </a:xfrm>
          <a:prstGeom prst="roundRect">
            <a:avLst>
              <a:gd name="adj" fmla="val 9231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 = Legitimate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2240280"/>
            <a:ext cx="3017520" cy="1234440"/>
          </a:xfrm>
          <a:prstGeom prst="roundRect">
            <a:avLst>
              <a:gd name="adj" fmla="val 4444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38160" y="22402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= Fraud-risk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(Suspicious + Fraudulent)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3566160" y="1714500"/>
            <a:ext cx="4572000" cy="9144"/>
          </a:xfrm>
          <a:prstGeom prst="line">
            <a:avLst/>
          </a:prstGeom>
          <a:noFill/>
          <a:ln w="25400">
            <a:solidFill>
              <a:srgbClr val="4A6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446020"/>
            <a:ext cx="4572000" cy="2057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566160" y="3017520"/>
            <a:ext cx="4572000" cy="1600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657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Binary modeling target: Suspicious and Fraudulent/Scam are combined into a single Fraud-risk positive class.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0607040" cy="2286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+ description + requirements → TF-IDF, 1–2 n-grams, 50K-word vocabulary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company, location, industry, work type, salary range, experience level, qualification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lengths, word counts, URL/email/phone counts, uppercase-word count, missing-field 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is_fraud (0/1/2 source scheme) → binary Fraud-risk target for modeling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EDA Insight — Class Distribution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5624468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eda1_fraud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50148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4389120"/>
          </a:xfrm>
          <a:prstGeom prst="roundRect">
            <a:avLst>
              <a:gd name="adj" fmla="val 2083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shows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Legitimate: 39,219  ·  Suspicious: 11,426  ·  Fraudulent: 6,505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Counts refer to the labeled subset only (57,150 of 70,302 records)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imbalance is why precision, recall, F1, and PR-AUC are more informative here than raw accuracy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Source/data note: notebook EDA output (labeled_df class distribution).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EDA Insight — Description Length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5460966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eda2_desc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186646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4389120"/>
          </a:xfrm>
          <a:prstGeom prst="roundRect">
            <a:avLst>
              <a:gd name="adj" fmla="val 2083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shows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Legitimate postings average longer descriptions than Suspicious or Fraudulent ones in this dataset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as a dataset pattern, not a universal fraud rule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Description length was carried forward as one engineered feature for modeling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Source/data note: notebook EDA output (average description length by class).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987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Methodology &amp; Evaluation Design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5417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8755" y="16789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71" y="18069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2915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Isolate Holdout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58368" y="26207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20% of real EMSCAD records set aside untouched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2937510" y="154178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40430" y="15417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60545" y="16789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561" y="18069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0158" y="22915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Train/Validation Pool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3550158" y="26207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Remaining EMSCAD + synthetic labels: 53,666 records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5829300" y="154178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332220" y="15417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2335" y="16789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351" y="180695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1948" y="22915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Tune Models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6441948" y="26207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TF-IDF + engineered features; GridSearchCV, 5-fold, average precision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721090" y="1541780"/>
            <a:ext cx="502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6FA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9224010" y="1541780"/>
            <a:ext cx="238887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44125" y="1678940"/>
            <a:ext cx="548640" cy="54864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2141" y="180695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33738" y="2291588"/>
            <a:ext cx="2169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&amp; Holdout Eval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9333738" y="2620772"/>
            <a:ext cx="21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threshold selection, then one-time holdout evaluation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548640" y="35534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Baseline: Logistic Regression on TF-IDF text only  •  Hybrid candidates: Logistic Regression and LinearSVC on TF-IDF + structured features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imbalance handled with class_weight="balanced"; tuning optimizes average precision (PR-AUC) via 5-fold GridSearchCV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33414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split: 42,932 records  •  Validation split: 10,734 records  •  Real holdout: 3,484 records (kept fully separate)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-19812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Modeling Insight — Threshold Selection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762000"/>
            <a:ext cx="6400800" cy="3651120"/>
          </a:xfrm>
          <a:prstGeom prst="roundRect">
            <a:avLst>
              <a:gd name="adj" fmla="val 200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model1_thresh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99160"/>
            <a:ext cx="6126480" cy="3376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899160"/>
            <a:ext cx="4572000" cy="3651120"/>
          </a:xfrm>
          <a:prstGeom prst="roundRect">
            <a:avLst>
              <a:gd name="adj" fmla="val 2504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1094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shows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69480" y="1539240"/>
            <a:ext cx="4114800" cy="26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Threshold candidates were evaluated on validation data only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0.6047 maximized validation F1 (0.9913)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real holdout was not used to choose this threshold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2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claimed to be a universal or permanently optimal threshold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59009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Source/data note: notebook threshold-sweep output (validation set).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Modeling Insight — Explainable Fraud-Risk Signals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" y="1371600"/>
            <a:ext cx="6400800" cy="4344842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pic>
        <p:nvPicPr>
          <p:cNvPr id="4" name="Image 0" descr="model2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6126480" cy="407052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508760"/>
            <a:ext cx="4572000" cy="4344842"/>
          </a:xfrm>
          <a:prstGeom prst="roundRect">
            <a:avLst>
              <a:gd name="adj" fmla="val 210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26948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shows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69480" y="2148840"/>
            <a:ext cx="4114800" cy="33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sz="1450">
                <a:latin typeface="Times New Roman" panose="02020603050405020304" pitchFamily="18" charset="0"/>
                <a:cs typeface="Times New Roman" panose="02020603050405020304" pitchFamily="18" charset="0"/>
              </a:rPr>
              <a:t>Strongest positive coefficients include meaningful terms such as "fee", "money", "whatsapp", and "confirm role"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450">
                <a:latin typeface="Times New Roman" panose="02020603050405020304" pitchFamily="18" charset="0"/>
                <a:cs typeface="Times New Roman" panose="02020603050405020304" pitchFamily="18" charset="0"/>
              </a:rPr>
              <a:t>Some other high-weight terms are synthetic generator fragments (e.g. "group looking", "weather", and "shared confirm") rather than validated scam language</a:t>
            </a:r>
          </a:p>
          <a:p>
            <a:pPr>
              <a:spcAft>
                <a:spcPts val="600"/>
              </a:spcAft>
            </a:pPr>
            <a:r>
              <a:rPr sz="1450">
                <a:latin typeface="Times New Roman" panose="02020603050405020304" pitchFamily="18" charset="0"/>
                <a:cs typeface="Times New Roman" panose="02020603050405020304" pitchFamily="18" charset="0"/>
              </a:rPr>
              <a:t>These are dataset-specific associations, not universal or causal fraud rules; they support human review, not replace it</a:t>
            </a:r>
          </a:p>
          <a:p>
            <a:pPr>
              <a:spcAft>
                <a:spcPts val="600"/>
              </a:spcAft>
            </a:pPr>
            <a:r>
              <a:rPr sz="1450">
                <a:latin typeface="Times New Roman" panose="02020603050405020304" pitchFamily="18" charset="0"/>
                <a:cs typeface="Times New Roman" panose="02020603050405020304" pitchFamily="18" charset="0"/>
              </a:rPr>
              <a:t>The real EMSCAD holdout is the primary reference for reported model performance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Source/data note: notebook Logistic Regression coefficient output.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Final Evaluation, Deployment &amp; Limitations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Real EMSCAD holdout — measured results (left) vs. current deployment status and remaining limitations (right)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Measured Results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Fraud-risk precision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5661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99%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2862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Fraud-risk recall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66160" y="2862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92%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22960" y="33467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Fraud-risk F1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566160" y="33467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96%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38313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ROC-AUC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66160" y="3831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0.9947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4315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PR-AUC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56616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0.9768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False positives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5661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legitimate posting flagged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285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False negatives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3566160" y="5285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fraud-risk postings missed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35040" y="160020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Status &amp; Limitations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630936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600"/>
              </a:spcAft>
              <a:buSzPct val="100000"/>
              <a:buChar char="●"/>
            </a:pPr>
            <a:r>
              <a:rPr sz="142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is live: Vercel frontend + Render FastAPI backend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420">
                <a:latin typeface="Times New Roman" panose="02020603050405020304" pitchFamily="18" charset="0"/>
                <a:cs typeface="Times New Roman" panose="02020603050405020304" pitchFamily="18" charset="0"/>
              </a:rPr>
              <a:t>Registry verification, blacklist checks, and fuzzy impersonation matching are implemented</a:t>
            </a:r>
          </a:p>
          <a:p>
            <a:pPr>
              <a:spcAft>
                <a:spcPts val="600"/>
              </a:spcAft>
            </a:pPr>
            <a:r>
              <a:rPr sz="142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is synthetic-heavy</a:t>
            </a:r>
          </a:p>
          <a:p>
            <a:pPr>
              <a:spcAft>
                <a:spcPts val="600"/>
              </a:spcAft>
            </a:pPr>
            <a:r>
              <a:rPr sz="1420">
                <a:latin typeface="Times New Roman" panose="02020603050405020304" pitchFamily="18" charset="0"/>
                <a:cs typeface="Times New Roman" panose="02020603050405020304" pitchFamily="18" charset="0"/>
              </a:rPr>
              <a:t>Kenyan scraped postings lack ground-truth fraud labels</a:t>
            </a:r>
          </a:p>
          <a:p>
            <a:pPr>
              <a:spcAft>
                <a:spcPts val="600"/>
              </a:spcAft>
            </a:pPr>
            <a:r>
              <a:rPr sz="1420">
                <a:latin typeface="Times New Roman" panose="02020603050405020304" pitchFamily="18" charset="0"/>
                <a:cs typeface="Times New Roman" panose="02020603050405020304" pitchFamily="18" charset="0"/>
              </a:rPr>
              <a:t>Real Kenyan-market generalization has not yet been fully established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424160" y="4114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2" y="5760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hybrid Logistic Regression provides a promising fraud-risk ranking and classification workflow on the real EMSCAD benchmark holdout.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manually label Kenyan job postings to build real ground truth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red-flag patterns against confirmed local scam cases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and expand the registry, blacklist, and fuzzy-impersonation verification layer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human-in-the-loop review with a job board or public-sector partner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drift and reassess the operating threshold over time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960120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2700">
            <a:solidFill>
              <a:srgbClr val="34456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301752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goal is not to replace human verification—it is to help people know what to verify first.”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Scam Detection System  |  Moringa School Data Science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1609</Words>
  <Application>Microsoft Office PowerPoint</Application>
  <PresentationFormat>Widescreen</PresentationFormat>
  <Paragraphs>209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christopher kariuki</cp:lastModifiedBy>
  <cp:revision>8</cp:revision>
  <dcterms:created xsi:type="dcterms:W3CDTF">2026-09-12T18:27:34Z</dcterms:created>
  <dcterms:modified xsi:type="dcterms:W3CDTF">2026-09-14T13:39:11Z</dcterms:modified>
</cp:coreProperties>
</file>