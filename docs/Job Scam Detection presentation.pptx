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5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4815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Emphasize this is a capstone project with a real benchmark evaluation, not a deployed product. Team roles reflect division of labor across data, modelling, and (conceptual, not-yet-built) product/deployment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framing careful: this is a decision-support / prioritization tool, not an enforcement or investigation system. The FTC figure is US-wide, not Kenya-specific — presented as external context, not a Kenyan statistic.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human-in-the-loop framing throughout: score → explanation → human verification, not score → automatic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'future accessibility' objective is intentionally phrased as future work — no USSD or WhatsApp integration has been built or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Public-sector partners are grouped together (NEA, Ministry of Labour, DCI) — none of these integrations are implemented; they represent the intended long-term ecosystem.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Row-count reconciliation, verified against the notebook: 71,321 raw → 1,019 duplicates removed (matched on title+company+location+description) → 70,302 final → split into 57,150 labeled and 13,152 unlabeled.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three-class-to-binary mapping was applied consistently across EMSCAD (harmonized from its native binary label) and the synthetic dataset (native 3-class).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real EMSCAD holdout (3,484 records: 3,314 Legitimate, 170 Fraud-risk) is the primary final estimate of performance — it is never used for fitting, tuning, or threshold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 are from the real EMSCAD benchmark holdout, not confirmed Kenyan job-board scam cases. Kenyan-market generalization remains unverified because the scraped Kenyan postings have no ground-truth fraud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presenting the system as ready for fully automated enforcement — it is a decision-support tool validated on a benchmark, not yet on confirmed Kenyan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8869680" y="4023360"/>
            <a:ext cx="2926080" cy="29260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21792"/>
            <a:ext cx="310896" cy="31089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13258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AI-Powered Job Scam Detection System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 txBox="1"/>
          <p:nvPr/>
        </p:nvSpPr>
        <p:spPr>
          <a:xfrm>
            <a:off x="548640" y="23317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Machine-Learning Classifier for Fraudulent Job Postings in Kenya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548640" y="2926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Moringa School — Data Science Capstone  |  Cohort DSF-FTH16M3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548640" y="325526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6C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Dataset Research and Search — Whole Team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548640" y="39319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Melisa Achieng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548640" y="424281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Loading &amp; Cleaning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7439660" y="39263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Briannah Chelangat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314960" y="47823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Christopher Kariuki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314960" y="50109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EDA &amp; Project Documentation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 txBox="1"/>
          <p:nvPr/>
        </p:nvSpPr>
        <p:spPr>
          <a:xfrm>
            <a:off x="4114800" y="39227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Cleopas Karanja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4297680" y="4206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Modelling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 txBox="1"/>
          <p:nvPr/>
        </p:nvSpPr>
        <p:spPr>
          <a:xfrm>
            <a:off x="4213860" y="476402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Alex Kinyua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/>
          <p:cNvSpPr txBox="1"/>
          <p:nvPr/>
        </p:nvSpPr>
        <p:spPr>
          <a:xfrm>
            <a:off x="4056380" y="503199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Backend, Repository Admin &amp; Deployment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/>
          <p:cNvSpPr txBox="1"/>
          <p:nvPr/>
        </p:nvSpPr>
        <p:spPr>
          <a:xfrm>
            <a:off x="7073900" y="41940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Backend, Job Seeker UI &amp; Gov Dashboard Concept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6696" y="466344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Problem Statement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858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3341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Online recruitment has widened access to employment in Kenya — but also created new fraud vectors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3341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Job seekers may encounter upfront-fee requests, vague job descriptions, urgency language, impersonated employers, or suspicious contact channels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3341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External evidence: FTC-reported US job-scam losses rose from ~$90M (2020) to ~$501M (2024)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3341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External evidence: a 2024 Kenyan DCI case reportedly affected ~1,000 job seekers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3341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practical gap: job seekers need a way to prioritize verification before engaging with a posting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772400" y="1463040"/>
            <a:ext cx="3840480" cy="4206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89720" y="2286000"/>
            <a:ext cx="1005840" cy="10058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464" y="2523744"/>
            <a:ext cx="530352" cy="5303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55280" y="3520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prioritization tool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7955280" y="39319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A8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Helping job seekers know what to verify first — not a substitute for official investigation or human judgment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A8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External statistics: Commission, F.T. (2024), Federal Trade Commission; DCI (2025), Ministry of Interior and National Administration.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38887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8755" y="2057400"/>
            <a:ext cx="548640" cy="54864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771" y="21854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2670048"/>
            <a:ext cx="21694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Text + Metadata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2999232"/>
            <a:ext cx="21694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description, requirements, structured fields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2937510" y="1920240"/>
            <a:ext cx="502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440430" y="1920240"/>
            <a:ext cx="238887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60545" y="2057400"/>
            <a:ext cx="548640" cy="54864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8561" y="218541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50158" y="2670048"/>
            <a:ext cx="21694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Fraud-Risk Score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3550158" y="2999232"/>
            <a:ext cx="21694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Model-generated probability estimate</a:t>
            </a:r>
            <a:endParaRPr lang="en-US" sz="950" dirty="0"/>
          </a:p>
        </p:txBody>
      </p:sp>
      <p:sp>
        <p:nvSpPr>
          <p:cNvPr id="14" name="Text 10"/>
          <p:cNvSpPr txBox="1"/>
          <p:nvPr/>
        </p:nvSpPr>
        <p:spPr>
          <a:xfrm>
            <a:off x="5829300" y="1920240"/>
            <a:ext cx="502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6332220" y="1920240"/>
            <a:ext cx="238887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252335" y="2057400"/>
            <a:ext cx="548640" cy="54864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0351" y="2185416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41948" y="2670048"/>
            <a:ext cx="21694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441948" y="2999232"/>
            <a:ext cx="21694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Influential words &amp; structured signals</a:t>
            </a:r>
            <a:endParaRPr lang="en-US" sz="950" dirty="0"/>
          </a:p>
        </p:txBody>
      </p:sp>
      <p:sp>
        <p:nvSpPr>
          <p:cNvPr id="20" name="Text 15"/>
          <p:cNvSpPr txBox="1"/>
          <p:nvPr/>
        </p:nvSpPr>
        <p:spPr>
          <a:xfrm>
            <a:off x="8721090" y="1920240"/>
            <a:ext cx="502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6"/>
          <p:cNvSpPr/>
          <p:nvPr/>
        </p:nvSpPr>
        <p:spPr>
          <a:xfrm>
            <a:off x="9224010" y="1920240"/>
            <a:ext cx="238887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0144125" y="2057400"/>
            <a:ext cx="548640" cy="54864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72141" y="2185416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333738" y="2670048"/>
            <a:ext cx="21694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Verification</a:t>
            </a:r>
            <a:endParaRPr lang="en-US" sz="1150" dirty="0"/>
          </a:p>
        </p:txBody>
      </p:sp>
      <p:sp>
        <p:nvSpPr>
          <p:cNvPr id="25" name="Text 19"/>
          <p:cNvSpPr txBox="1"/>
          <p:nvPr/>
        </p:nvSpPr>
        <p:spPr>
          <a:xfrm>
            <a:off x="9333738" y="2999232"/>
            <a:ext cx="21694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 / reviewer decides next step</a:t>
            </a:r>
            <a:endParaRPr lang="en-US" sz="95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42062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supports human verification and official reporting channels — it does not replace them</a:t>
            </a:r>
            <a:endParaRPr lang="en-US" sz="1450" dirty="0"/>
          </a:p>
          <a:p>
            <a:pPr marL="342900" indent="-3429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a fraud-risk score and classification (Legitimate / Fraud-risk) at a chosen operating threshold, not a certainty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Success Criteria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424160" y="411480"/>
            <a:ext cx="594360" cy="59436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52" y="576072"/>
            <a:ext cx="265176" cy="2651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46304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fraud-risk postings from text and structured metadata</a:t>
            </a:r>
            <a:endParaRPr lang="en-US" sz="1400" dirty="0"/>
          </a:p>
          <a:p>
            <a:pPr marL="342900" indent="-3429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NLP — TF-IDF features with 1–2 word n-grams — to capture linguistic signals</a:t>
            </a:r>
            <a:endParaRPr lang="en-US" sz="1400" dirty="0"/>
          </a:p>
          <a:p>
            <a:pPr marL="342900" indent="-3429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signals such as payment language, urgency, vague descriptions, missing fields, and suspicious contact patterns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146304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 text-only baseline against hybrid models combining text and engineered features</a:t>
            </a:r>
            <a:endParaRPr lang="en-US" sz="1400" dirty="0"/>
          </a:p>
          <a:p>
            <a:pPr marL="342900" indent="-3429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 operating threshold on validation data, balancing fraud-risk precision and recall</a:t>
            </a:r>
            <a:endParaRPr lang="en-US" sz="1400" dirty="0"/>
          </a:p>
          <a:p>
            <a:pPr marL="342900" indent="-3429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explainable risk signals — not just an unexplained label — and prepare the model for a future web/API or human-review workflow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Stakeholders &amp; Intended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424160" y="411480"/>
            <a:ext cx="594360" cy="59436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52" y="576072"/>
            <a:ext cx="265176" cy="2651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80760" y="1485900"/>
            <a:ext cx="9144" cy="1988820"/>
          </a:xfrm>
          <a:prstGeom prst="line">
            <a:avLst/>
          </a:prstGeom>
          <a:noFill/>
          <a:ln w="19050">
            <a:solidFill>
              <a:srgbClr val="E1E6E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6080760" y="2766060"/>
            <a:ext cx="3840480" cy="708660"/>
          </a:xfrm>
          <a:prstGeom prst="line">
            <a:avLst/>
          </a:prstGeom>
          <a:noFill/>
          <a:ln w="19050">
            <a:solidFill>
              <a:srgbClr val="E1E6E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080760" y="3474720"/>
            <a:ext cx="2560320" cy="1851660"/>
          </a:xfrm>
          <a:prstGeom prst="line">
            <a:avLst/>
          </a:prstGeom>
          <a:noFill/>
          <a:ln w="19050">
            <a:solidFill>
              <a:srgbClr val="E1E6E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flipV="1">
            <a:off x="3154680" y="3474720"/>
            <a:ext cx="2926080" cy="1851660"/>
          </a:xfrm>
          <a:prstGeom prst="line">
            <a:avLst/>
          </a:prstGeom>
          <a:noFill/>
          <a:ln w="19050">
            <a:solidFill>
              <a:srgbClr val="E1E6E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874520" y="2766060"/>
            <a:ext cx="4206240" cy="708660"/>
          </a:xfrm>
          <a:prstGeom prst="line">
            <a:avLst/>
          </a:prstGeom>
          <a:noFill/>
          <a:ln w="19050">
            <a:solidFill>
              <a:srgbClr val="E1E6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288036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1B2A4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00600" y="288036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Fraud-Risk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System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43400" y="86868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80560" y="960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Users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4480560" y="134416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Kenyan job seekers, especially young adults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183880" y="214884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2104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&amp; Data Partners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262432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boards and recruiters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903720" y="470916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040880" y="4800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Public-Sector Partners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518464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NEA, Ministry of Labour, DCI, and related agencies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417320" y="470916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554480" y="4800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Channels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1554480" y="518464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 governments and TVET career services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137160" y="214884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7432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Beneficiaries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274320" y="262432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employers and agencies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 &amp; Labeling Strategy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424160" y="411480"/>
            <a:ext cx="594360" cy="59436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52" y="576072"/>
            <a:ext cx="265176" cy="265176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3291840"/>
        </p:xfrm>
        <a:graphic>
          <a:graphicData uri="http://schemas.openxmlformats.org/drawingml/2006/table">
            <a:tbl>
              <a:tblPr/>
              <a:tblGrid>
                <a:gridCol w="484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group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Approx. original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 Job Postings / EMSCAD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17,880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benchmark labels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Fuzu Kenya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Unlabeled scraped postings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PigiaMe Kenya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Unlabeled scraped postings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 Staffing Kenya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3,988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Unlabeled scraped postings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BrighterMonday Kenya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Unlabeled scraped postings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JobWeb Kenya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Unlabeled scraped postings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Kenya-market augmentation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40,000 (39,733 after cleaning)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Generated labels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8920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9834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71,321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546811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combined records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3291840" y="48920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3291840" y="49834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8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−1,019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3383280" y="546811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removed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035040" y="48920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035040" y="49834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70,302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6126480" y="546811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integrated records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8778240" y="48920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8778240" y="49834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57,150 / 13,152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8869680" y="546811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/ Unlabeled records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Scraped Kenyan postings were not automatically labeled legitimate — they remain a separate, unlabeled contextual set.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Structure &amp; Target Definition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0175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— Legitimate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0175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1488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Suspicious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30175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8803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Fraudulent / Scam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38160" y="1417320"/>
            <a:ext cx="3017520" cy="594360"/>
          </a:xfrm>
          <a:prstGeom prst="roundRect">
            <a:avLst>
              <a:gd name="adj" fmla="val 9231"/>
            </a:avLst>
          </a:prstGeom>
          <a:solidFill>
            <a:srgbClr val="4A6FA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138160" y="14173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Legitimate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38160" y="2240280"/>
            <a:ext cx="3017520" cy="1234440"/>
          </a:xfrm>
          <a:prstGeom prst="roundRect">
            <a:avLst>
              <a:gd name="adj" fmla="val 4444"/>
            </a:avLst>
          </a:prstGeom>
          <a:solidFill>
            <a:srgbClr val="C039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138160" y="224028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Fraud-risk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(Suspicious + Fraudulent)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 flipV="1">
            <a:off x="3566160" y="1714500"/>
            <a:ext cx="4572000" cy="9144"/>
          </a:xfrm>
          <a:prstGeom prst="line">
            <a:avLst/>
          </a:prstGeom>
          <a:noFill/>
          <a:ln w="25400">
            <a:solidFill>
              <a:srgbClr val="4A6F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2446020"/>
            <a:ext cx="4572000" cy="20574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3566160" y="3017520"/>
            <a:ext cx="4572000" cy="16002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6576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modeling target: Suspicious and Fraudulent/Scam are combined into a single Fraud-risk positive class.</a:t>
            </a:r>
            <a:endParaRPr lang="en-US" sz="11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60520"/>
          <a:ext cx="10607040" cy="22860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group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+ description + requirements → TF-IDF, 1–2 n-grams, 50K-word vocabulary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company, location, industry, work type, salary range, experience level, qualification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lengths, word counts, URL/email/phone counts, uppercase-word count, missing-field flags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is_fraud (0/1/2 source scheme) → binary Fraud-risk target for modeling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Insight — Class Distribution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1371600"/>
            <a:ext cx="5624468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pic>
        <p:nvPicPr>
          <p:cNvPr id="4" name="Image 0" descr="eda1_fraud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5350148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40880" y="1508760"/>
            <a:ext cx="4572000" cy="4389120"/>
          </a:xfrm>
          <a:prstGeom prst="roundRect">
            <a:avLst>
              <a:gd name="adj" fmla="val 2083"/>
            </a:avLst>
          </a:prstGeom>
          <a:solidFill>
            <a:srgbClr val="1B2A4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269480" y="17190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7269480" y="2148840"/>
            <a:ext cx="41148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Legitimate: 39,219  ·  Suspicious: 11,426  ·  Fraudulent: 6,505</a:t>
            </a:r>
            <a:endParaRPr lang="en-US" sz="1150" dirty="0"/>
          </a:p>
          <a:p>
            <a:pPr marL="342900" indent="-342900" algn="l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refer to the labeled subset only (57,150 of 70,302 records)</a:t>
            </a:r>
            <a:endParaRPr lang="en-US" sz="1150" dirty="0"/>
          </a:p>
          <a:p>
            <a:pPr marL="342900" indent="-342900" algn="l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imbalance is why precision, recall, F1, and PR-AUC are more informative here than raw accuracy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Source/data note: notebook EDA output (labeled_df class distribution).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Insight — Description Length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1371600"/>
            <a:ext cx="5460966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pic>
        <p:nvPicPr>
          <p:cNvPr id="4" name="Image 0" descr="eda2_desc_leng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5186646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40880" y="1508760"/>
            <a:ext cx="4572000" cy="4389120"/>
          </a:xfrm>
          <a:prstGeom prst="roundRect">
            <a:avLst>
              <a:gd name="adj" fmla="val 2083"/>
            </a:avLst>
          </a:prstGeom>
          <a:solidFill>
            <a:srgbClr val="1B2A4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269480" y="17190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7269480" y="2148840"/>
            <a:ext cx="41148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postings average longer descriptions than Suspicious or Fraudulent ones in this dataset</a:t>
            </a:r>
            <a:endParaRPr lang="en-US" sz="1150" dirty="0"/>
          </a:p>
          <a:p>
            <a:pPr marL="342900" indent="-342900" algn="l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as a dataset pattern, not a universal fraud rule</a:t>
            </a:r>
            <a:endParaRPr lang="en-US" sz="1150" dirty="0"/>
          </a:p>
          <a:p>
            <a:pPr marL="342900" indent="-342900" algn="l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length was carried forward as one engineered feature for modeling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Source/data note: notebook EDA output (average description length by class).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Evaluation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38887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8755" y="1691640"/>
            <a:ext cx="548640" cy="54864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771" y="181965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2304288"/>
            <a:ext cx="21694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Holdout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2633472"/>
            <a:ext cx="21694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 real EMSCAD records set aside untouched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2937510" y="1554480"/>
            <a:ext cx="502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440430" y="1554480"/>
            <a:ext cx="238887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60545" y="1691640"/>
            <a:ext cx="548640" cy="54864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8561" y="181965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50158" y="2304288"/>
            <a:ext cx="21694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Train/Validation Pool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3550158" y="2633472"/>
            <a:ext cx="21694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EMSCAD + synthetic labels: 53,666 records</a:t>
            </a:r>
            <a:endParaRPr lang="en-US" sz="950" dirty="0"/>
          </a:p>
        </p:txBody>
      </p:sp>
      <p:sp>
        <p:nvSpPr>
          <p:cNvPr id="14" name="Text 10"/>
          <p:cNvSpPr txBox="1"/>
          <p:nvPr/>
        </p:nvSpPr>
        <p:spPr>
          <a:xfrm>
            <a:off x="5829300" y="1554480"/>
            <a:ext cx="502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6332220" y="1554480"/>
            <a:ext cx="238887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252335" y="1691640"/>
            <a:ext cx="548640" cy="54864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0351" y="1819656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41948" y="2304288"/>
            <a:ext cx="21694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Models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441948" y="2633472"/>
            <a:ext cx="21694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engineered features; GridSearchCV, 5-fold, average precision</a:t>
            </a:r>
            <a:endParaRPr lang="en-US" sz="950" dirty="0"/>
          </a:p>
        </p:txBody>
      </p:sp>
      <p:sp>
        <p:nvSpPr>
          <p:cNvPr id="20" name="Text 15"/>
          <p:cNvSpPr txBox="1"/>
          <p:nvPr/>
        </p:nvSpPr>
        <p:spPr>
          <a:xfrm>
            <a:off x="8721090" y="1554480"/>
            <a:ext cx="502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6"/>
          <p:cNvSpPr/>
          <p:nvPr/>
        </p:nvSpPr>
        <p:spPr>
          <a:xfrm>
            <a:off x="9224010" y="1554480"/>
            <a:ext cx="238887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0144125" y="1691640"/>
            <a:ext cx="548640" cy="54864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72141" y="1819656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333738" y="2304288"/>
            <a:ext cx="21694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&amp; Holdout Eval</a:t>
            </a:r>
            <a:endParaRPr lang="en-US" sz="1150" dirty="0"/>
          </a:p>
        </p:txBody>
      </p:sp>
      <p:sp>
        <p:nvSpPr>
          <p:cNvPr id="25" name="Text 19"/>
          <p:cNvSpPr txBox="1"/>
          <p:nvPr/>
        </p:nvSpPr>
        <p:spPr>
          <a:xfrm>
            <a:off x="9333738" y="2633472"/>
            <a:ext cx="21694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threshold selection, then one-time holdout evaluation</a:t>
            </a:r>
            <a:endParaRPr lang="en-US" sz="95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356616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Logistic Regression on TF-IDF text only  •  Hybrid candidates: Logistic Regression and LinearSVC on TF-IDF + structured features</a:t>
            </a:r>
            <a:endParaRPr lang="en-US" sz="1300" dirty="0"/>
          </a:p>
          <a:p>
            <a:pPr marL="342900" indent="-3429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handled with class_weight="balanced"; tuning optimizes average precision (PR-AUC) via 5-fold GridSearchCV</a:t>
            </a:r>
            <a:endParaRPr lang="en-US" sz="1300" dirty="0"/>
          </a:p>
          <a:p>
            <a:pPr marL="342900" indent="-3429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split: 42,932 records  •  Validation split: 10,734 records  •  Real holdout: 3,484 records (kept fully separate)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Insight — Threshold Selection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1371600"/>
            <a:ext cx="6400800" cy="3651120"/>
          </a:xfrm>
          <a:prstGeom prst="roundRect">
            <a:avLst>
              <a:gd name="adj" fmla="val 2004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pic>
        <p:nvPicPr>
          <p:cNvPr id="4" name="Image 0" descr="model1_thresh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6126480" cy="3376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40880" y="1508760"/>
            <a:ext cx="4572000" cy="3651120"/>
          </a:xfrm>
          <a:prstGeom prst="roundRect">
            <a:avLst>
              <a:gd name="adj" fmla="val 2504"/>
            </a:avLst>
          </a:prstGeom>
          <a:solidFill>
            <a:srgbClr val="1B2A4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269480" y="17190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7269480" y="2148840"/>
            <a:ext cx="4114800" cy="26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candidates were evaluated on validation data only</a:t>
            </a:r>
            <a:endParaRPr lang="en-US" sz="1150" dirty="0"/>
          </a:p>
          <a:p>
            <a:pPr marL="342900" indent="-342900" algn="l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0.6047 maximized validation F1 (0.9913)</a:t>
            </a:r>
            <a:endParaRPr lang="en-US" sz="1150" dirty="0"/>
          </a:p>
          <a:p>
            <a:pPr marL="342900" indent="-342900" algn="l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holdout was not used to choose this threshold</a:t>
            </a:r>
            <a:endParaRPr lang="en-US" sz="1150" dirty="0"/>
          </a:p>
          <a:p>
            <a:pPr marL="342900" indent="-342900" algn="l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claimed to be a universal or permanently optimal threshold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Source/data note: notebook threshold-sweep output (validation set).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Insight — Explainable Fraud-Risk Signals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1371600"/>
            <a:ext cx="6400800" cy="4344842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pic>
        <p:nvPicPr>
          <p:cNvPr id="4" name="Image 0" descr="model2_feat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6126480" cy="407052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40880" y="1508760"/>
            <a:ext cx="4572000" cy="4344842"/>
          </a:xfrm>
          <a:prstGeom prst="roundRect">
            <a:avLst>
              <a:gd name="adj" fmla="val 2105"/>
            </a:avLst>
          </a:prstGeom>
          <a:solidFill>
            <a:srgbClr val="1B2A4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269480" y="17190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7269480" y="2148840"/>
            <a:ext cx="4114800" cy="3384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positive coefficients include terms like "fee", "money", "whatsapp", and "confirm role"</a:t>
            </a:r>
            <a:endParaRPr lang="en-US" sz="1150" dirty="0"/>
          </a:p>
          <a:p>
            <a:pPr marL="342900" indent="-342900" algn="l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dataset-specific associations that increase the model's fraud-risk score</a:t>
            </a:r>
            <a:endParaRPr lang="en-US" sz="1150" dirty="0"/>
          </a:p>
          <a:p>
            <a:pPr marL="342900" indent="-342900" algn="l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universal or causal fraud rules — they support human review, not replace it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Source/data note: notebook Logistic Regression coefficient output.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Evaluation &amp; Limitations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EMSCAD holdout — measured results (left) vs. known limitations (right)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4572000"/>
          </a:xfrm>
          <a:prstGeom prst="roundRect">
            <a:avLst>
              <a:gd name="adj" fmla="val 2000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Results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Fraud-risk precision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620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Fraud-risk recall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8620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34670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Fraud-risk F1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33467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83133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8313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0.9947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3159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43159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0.9768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800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legitimate posting flagged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2852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566160" y="52852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fraud-risk postings missed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35040" y="1600200"/>
            <a:ext cx="55778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0936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237744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is synthetic-heavy</a:t>
            </a:r>
            <a:endParaRPr lang="en-US" sz="1250" dirty="0"/>
          </a:p>
          <a:p>
            <a:pPr marL="342900" indent="-3429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Kenyan scraped postings lack ground-truth labels</a:t>
            </a:r>
            <a:endParaRPr lang="en-US" sz="1250" dirty="0"/>
          </a:p>
          <a:p>
            <a:pPr marL="342900" indent="-3429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Kenyan-market generalization is not yet established</a:t>
            </a:r>
            <a:endParaRPr lang="en-US" sz="1250" dirty="0"/>
          </a:p>
          <a:p>
            <a:pPr marL="342900" indent="-3429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and blacklist checks are future work, not implemented</a:t>
            </a:r>
            <a:endParaRPr lang="en-US" sz="1250" dirty="0"/>
          </a:p>
          <a:p>
            <a:pPr marL="342900" indent="-3429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is planned, not completed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424160" y="411480"/>
            <a:ext cx="594360" cy="59436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52" y="576072"/>
            <a:ext cx="265176" cy="2651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417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tuned hybrid Logistic Regression provides a promising fraud-risk ranking and classification workflow on the real EMSCAD benchmark holdout.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286000"/>
            <a:ext cx="10515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manually label Kenyan job postings to build real ground truth</a:t>
            </a:r>
            <a:endParaRPr lang="en-US" sz="1500" dirty="0"/>
          </a:p>
          <a:p>
            <a:pPr marL="342900" indent="-3429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red-flag patterns against confirmed local scam cases</a:t>
            </a:r>
            <a:endParaRPr lang="en-US" sz="1500" dirty="0"/>
          </a:p>
          <a:p>
            <a:pPr marL="342900" indent="-3429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registry and blacklist verification as a separate, clearly-labeled verification layer</a:t>
            </a:r>
            <a:endParaRPr lang="en-US" sz="1500" dirty="0"/>
          </a:p>
          <a:p>
            <a:pPr marL="342900" indent="-3429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human-in-the-loop review with a job board or public-sector partner</a:t>
            </a:r>
            <a:endParaRPr lang="en-US" sz="1500" dirty="0"/>
          </a:p>
          <a:p>
            <a:pPr marL="342900" indent="-3429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drift and reassess the operating threshold over time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67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258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03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3017520"/>
            <a:ext cx="9601200" cy="1005840"/>
          </a:xfrm>
          <a:prstGeom prst="roundRect">
            <a:avLst>
              <a:gd name="adj" fmla="val 9091"/>
            </a:avLst>
          </a:prstGeom>
          <a:solidFill>
            <a:srgbClr val="1B2A4A"/>
          </a:solidFill>
          <a:ln w="12700">
            <a:solidFill>
              <a:srgbClr val="34456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301752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goal is not to replace human verification—it is to help people know what to verify first.”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Job Scam Detection System  |  Moringa School Data Science Capstone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1511</Words>
  <Application>Microsoft Office PowerPoint</Application>
  <PresentationFormat>Widescreen</PresentationFormat>
  <Paragraphs>208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christopher kariuki</cp:lastModifiedBy>
  <cp:revision>2</cp:revision>
  <dcterms:created xsi:type="dcterms:W3CDTF">2026-09-12T18:27:34Z</dcterms:created>
  <dcterms:modified xsi:type="dcterms:W3CDTF">2026-09-13T09:52:53Z</dcterms:modified>
</cp:coreProperties>
</file>