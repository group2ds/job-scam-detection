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2" r:id="rId3"/>
    <p:sldId id="257" r:id="rId4"/>
    <p:sldId id="258" r:id="rId5"/>
    <p:sldId id="259" r:id="rId6"/>
    <p:sldId id="260" r:id="rId7"/>
    <p:sldId id="261" r:id="rId8"/>
    <p:sldId id="263" r:id="rId10"/>
    <p:sldId id="264" r:id="rId11"/>
    <p:sldId id="276" r:id="rId25"/>
    <p:sldId id="262" r:id="rId9"/>
    <p:sldId id="266" r:id="rId12"/>
    <p:sldId id="273" r:id="rId22"/>
    <p:sldId id="267" r:id="rId13"/>
    <p:sldId id="268" r:id="rId14"/>
    <p:sldId id="269" r:id="rId15"/>
    <p:sldId id="274" r:id="rId23"/>
    <p:sldId id="275" r:id="rId24"/>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10.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2.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4815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this is a deployed capstone decision-support system with a real benchmark evaluation. The frontend and API are live; the model is still a benchmark-validated tool and Kenyan-market generalization remains unverified. Team roles reflect division of labor across data, modelling, and product/deployment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framing careful: this is a decision-support / prioritization tool, not an enforcement or investigation system. The FTC figure is US-wide, not Kenya-specific — presented as external context, not a Kenyan statistic.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human-in-the-loop framing throughout: score → explanation → human verification, not score → automatic action.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accessibility' objective is intentionally phrased as future work — no USSD or WhatsApp integration has been built or tested.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Public-sector partners are grouped together (NEA, Ministry of Labour, DCI) — none of these integrations are implemented; they represent the intended long-term ecosystem.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Row counts checked against the notebook: 76,311 rows after merging, 75,223 after removing 1,088 exact duplicates, then 71,280 after removing near-duplicate and empty-text rows (5,031 removed in total). Of these, 58,225 are labelled and 13,055 (the Kenyan job-board posts) are unlabelled. The labelled rows are 15,537 real EMSCAD posts (667 fraud) and 42,688 synthetic posts.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three-class-to-binary mapping was applied consistently across EMSCAD (harmonized from its native binary label) and the synthetic dataset (native 3-class).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real EMSCAD holdout has 2,331 posts (2,217 Legitimate, 114 Fraud-risk) and is the main estimate of real performance. It was never used for fitting, tuning or choosing the threshold. It was scored twice, once in Part 26 and again in Part 27 after a feature change. The second use is declared in the notebook. Synthetic data is excluded from training because the A/B test showed it made real-data results worse.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results come from the real EMSCAD holdout (2,331 posts, 114 fraud-risk) at threshold 0.25: 93 scams caught, 21 missed, 54 false alarms; PR-AUC about 0.81 and ROC-AUC about 0.97. They are not confirmed Kenyan scam cases. The model is trained only on US posts from 2012–14 and there are no labelled Kenyan fraud posts, so Kenyan performance is unproven. The notebook notes that adding filler text to a scam lowers its score; in a test, 7 of 93 caught scams fell below the threshold.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All models were scored on the same real EMSCAD validation set (2,331 posts, 4.4% fraud-risk). The tuned logistic regression (0.7906 PR-AUC) and the calibrated SVM (0.7874) were close. Gradient boosting on reduced text, frozen sentence embeddings and zero-shot similarity all did worse. The rule engine alone scores about the same as guessing on EMSCAD because the dataset has few Kenyan scam patterns, but the rules are kept because they cover patterns the model has never seen. Fine-tuned DistilBERT scored 0.69 on EMSCAD, but on a few hand-written Kenyan test scams it scored 0.72 to 0.99, while the logistic regression scored the fee and Dubai scams below 0.35. Those test posts are only a handful, so treat them as a hint, not a measurement. The notebook recommends not deploying a transformer for now and revisiting it once labelled Kenyan data exists.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notebook first suspected post length: the same legitimate advert scored 0.575 when cut to 28 characters and 0.196 at 462. Replacing length counts with length-independent features did not fix it, and neither did changing the TF-IDF scaling. A cleaner test showed that repeating the scam text 3 or 6 times leaves the score at about 0.31, while adding new normal-sounding words drops it to 0.13. So the weakness is vocabulary dilution: new ordinary words water down the scam words. On the 114 fraud posts in the holdout, adding neutral filler reduced the number caught from 93 to 86 (87 with the rule layer). This matters because a scammer could pad a post on purpose. The defence is to keep the rule layer and employer checks, and to keep a human in the loop.</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notebook calls a labelled corpus of Kenyan job posts the single highest-value addition: it would settle the synthetic-data question, let the rules be validated instead of assumed, allow the thresholds to be tuned on real traffic, and let the transformer route be reconsidered on evidence. The 13,055 scraped Kenyan posts are unlabelled, so they are the natural starting point for manual review. Employer checks matter because some fraud posts read like ordinary adverts, and no text model can catch those. The thresholds (0.25 and 0.70) were tuned on EMSCAD, where the rule layer changes no decisions, so they must be re-checked on Kenyan traffic. Several posts labelled legitimate in EMSCAD scored above 0.98 from two very different models, which points to label errors rather than model failure, so reported precision is probably pessimistic.</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1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B41"/>
        </a:solidFill>
        <a:effectLst/>
      </p:bgPr>
    </p:bg>
    <p:spTree>
      <p:nvGrpSpPr>
        <p:cNvPr id="1" name=""/>
        <p:cNvGrpSpPr/>
        <p:nvPr/>
      </p:nvGrpSpPr>
      <p:grpSpPr>
        <a:xfrm>
          <a:off x="0" y="0"/>
          <a:ext cx="0" cy="0"/>
          <a:chOff x="0" y="0"/>
          <a:chExt cx="0" cy="0"/>
        </a:xfrm>
      </p:grpSpPr>
      <p:sp>
        <p:nvSpPr>
          <p:cNvPr id="2" name="TextBox 1"/>
          <p:cNvSpPr txBox="1"/>
          <p:nvPr/>
        </p:nvSpPr>
        <p:spPr>
          <a:xfrm>
            <a:off x="914400" y="2423160"/>
            <a:ext cx="10332720" cy="1097280"/>
          </a:xfrm>
          <a:prstGeom prst="rect">
            <a:avLst/>
          </a:prstGeom>
          <a:noFill/>
        </p:spPr>
        <p:txBody>
          <a:bodyPr wrap="none">
            <a:spAutoFit/>
          </a:bodyPr>
          <a:lstStyle/>
          <a:p>
            <a:pPr algn="ctr">
              <a:defRPr sz="3400" b="1">
                <a:solidFill>
                  <a:srgbClr val="FFFFFF"/>
                </a:solidFill>
                <a:latin typeface="Aptos Display"/>
              </a:defRPr>
            </a:pPr>
            <a:r>
              <a:t>AI-Powered Job Scam Detection System</a:t>
            </a:r>
          </a:p>
        </p:txBody>
      </p:sp>
      <p:sp>
        <p:nvSpPr>
          <p:cNvPr id="3" name="TextBox 2"/>
          <p:cNvSpPr txBox="1"/>
          <p:nvPr/>
        </p:nvSpPr>
        <p:spPr>
          <a:xfrm>
            <a:off x="4690796" y="3657600"/>
            <a:ext cx="2779927" cy="646331"/>
          </a:xfrm>
          <a:prstGeom prst="rect">
            <a:avLst/>
          </a:prstGeom>
          <a:noFill/>
        </p:spPr>
        <p:txBody>
          <a:bodyPr wrap="none">
            <a:spAutoFit/>
          </a:bodyPr>
          <a:lstStyle/>
          <a:p>
            <a:pPr algn="ctr">
              <a:defRPr sz="2400" b="1">
                <a:solidFill>
                  <a:srgbClr val="FFFFFF"/>
                </a:solidFill>
                <a:latin typeface="Aptos"/>
              </a:defRPr>
            </a:pPr>
            <a:r>
              <a:rPr sz="3600" dirty="0"/>
              <a:t>HAKIKI HIRE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1B2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0972800" cy="548640"/>
          </a:xfrm>
          <a:prstGeom prst="rect">
            <a:avLst/>
          </a:prstGeom>
          <a:noFill/>
        </p:spPr>
        <p:txBody>
          <a:bodyPr wrap="none">
            <a:spAutoFit/>
          </a:bodyPr>
          <a:lstStyle/>
          <a:p>
            <a:pPr>
              <a:defRPr sz="2500" b="1">
                <a:solidFill>
                  <a:srgbClr val="1B2B41"/>
                </a:solidFill>
                <a:latin typeface="Aptos Display"/>
              </a:defRPr>
            </a:pPr>
            <a:r>
              <a:t>Project Participants &amp; Roles</a:t>
            </a:r>
          </a:p>
        </p:txBody>
      </p:sp>
      <p:sp>
        <p:nvSpPr>
          <p:cNvPr id="4" name="Rounded Rectangle 3"/>
          <p:cNvSpPr/>
          <p:nvPr/>
        </p:nvSpPr>
        <p:spPr>
          <a:xfrm>
            <a:off x="594360" y="1143000"/>
            <a:ext cx="3246120" cy="1965960"/>
          </a:xfrm>
          <a:prstGeom prst="roundRect">
            <a:avLst/>
          </a:prstGeom>
          <a:solidFill>
            <a:srgbClr val="F8F9FB"/>
          </a:solidFill>
          <a:ln w="15240">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783080" y="1417320"/>
            <a:ext cx="1874519" cy="411480"/>
          </a:xfrm>
          <a:prstGeom prst="rect">
            <a:avLst/>
          </a:prstGeom>
          <a:noFill/>
        </p:spPr>
        <p:txBody>
          <a:bodyPr wrap="square">
            <a:spAutoFit/>
          </a:bodyPr>
          <a:lstStyle/>
          <a:p>
            <a:pPr algn="ctr">
              <a:defRPr sz="1600" b="1">
                <a:solidFill>
                  <a:srgbClr val="1B2B41"/>
                </a:solidFill>
                <a:latin typeface="Aptos"/>
              </a:defRPr>
            </a:pPr>
            <a:r>
              <a:rPr dirty="0"/>
              <a:t>Melisa Achieng</a:t>
            </a:r>
          </a:p>
        </p:txBody>
      </p:sp>
      <p:sp>
        <p:nvSpPr>
          <p:cNvPr id="6" name="TextBox 5"/>
          <p:cNvSpPr txBox="1"/>
          <p:nvPr/>
        </p:nvSpPr>
        <p:spPr>
          <a:xfrm>
            <a:off x="777240" y="2331720"/>
            <a:ext cx="2880360" cy="461665"/>
          </a:xfrm>
          <a:prstGeom prst="rect">
            <a:avLst/>
          </a:prstGeom>
          <a:noFill/>
        </p:spPr>
        <p:txBody>
          <a:bodyPr wrap="square">
            <a:spAutoFit/>
          </a:bodyPr>
          <a:lstStyle/>
          <a:p>
            <a:pPr algn="ctr">
              <a:defRPr sz="1200">
                <a:solidFill>
                  <a:srgbClr val="46505C"/>
                </a:solidFill>
                <a:latin typeface="Aptos"/>
              </a:defRPr>
            </a:pPr>
            <a:endParaRPr dirty="0"/>
          </a:p>
          <a:p>
            <a:pPr algn="ctr">
              <a:defRPr sz="1200">
                <a:solidFill>
                  <a:srgbClr val="46505C"/>
                </a:solidFill>
                <a:latin typeface="Aptos"/>
              </a:defRPr>
            </a:pPr>
            <a:r>
              <a:rPr dirty="0"/>
              <a:t>Data Cleaning</a:t>
            </a:r>
            <a:r>
              <a:rPr lang="en-US" dirty="0"/>
              <a:t> &amp; Data Collection.</a:t>
            </a:r>
            <a:endParaRPr dirty="0"/>
          </a:p>
        </p:txBody>
      </p:sp>
      <p:sp>
        <p:nvSpPr>
          <p:cNvPr id="7" name="Rounded Rectangle 6"/>
          <p:cNvSpPr/>
          <p:nvPr/>
        </p:nvSpPr>
        <p:spPr>
          <a:xfrm>
            <a:off x="4160520" y="1143000"/>
            <a:ext cx="3246120" cy="1965960"/>
          </a:xfrm>
          <a:prstGeom prst="roundRect">
            <a:avLst/>
          </a:prstGeom>
          <a:solidFill>
            <a:srgbClr val="F8F9FB"/>
          </a:solidFill>
          <a:ln w="15240">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5349240" y="1417320"/>
            <a:ext cx="1874519" cy="338554"/>
          </a:xfrm>
          <a:prstGeom prst="rect">
            <a:avLst/>
          </a:prstGeom>
          <a:noFill/>
        </p:spPr>
        <p:txBody>
          <a:bodyPr wrap="square">
            <a:spAutoFit/>
          </a:bodyPr>
          <a:lstStyle/>
          <a:p>
            <a:pPr algn="ctr">
              <a:defRPr sz="1600" b="1">
                <a:solidFill>
                  <a:srgbClr val="1B2B41"/>
                </a:solidFill>
                <a:latin typeface="Aptos"/>
              </a:defRPr>
            </a:pPr>
            <a:r>
              <a:rPr dirty="0" err="1"/>
              <a:t>Briannah</a:t>
            </a:r>
            <a:r>
              <a:rPr dirty="0"/>
              <a:t> </a:t>
            </a:r>
            <a:r>
              <a:rPr dirty="0" err="1"/>
              <a:t>Chelangat</a:t>
            </a:r>
            <a:endParaRPr dirty="0"/>
          </a:p>
        </p:txBody>
      </p:sp>
      <p:sp>
        <p:nvSpPr>
          <p:cNvPr id="9" name="TextBox 8"/>
          <p:cNvSpPr txBox="1"/>
          <p:nvPr/>
        </p:nvSpPr>
        <p:spPr>
          <a:xfrm>
            <a:off x="4343400" y="2331720"/>
            <a:ext cx="2880360" cy="461665"/>
          </a:xfrm>
          <a:prstGeom prst="rect">
            <a:avLst/>
          </a:prstGeom>
          <a:noFill/>
        </p:spPr>
        <p:txBody>
          <a:bodyPr wrap="square">
            <a:spAutoFit/>
          </a:bodyPr>
          <a:lstStyle/>
          <a:p>
            <a:pPr algn="ctr">
              <a:defRPr sz="1200">
                <a:solidFill>
                  <a:srgbClr val="46505C"/>
                </a:solidFill>
                <a:latin typeface="Aptos"/>
              </a:defRPr>
            </a:pPr>
            <a:r>
              <a:rPr lang="en-US" dirty="0"/>
              <a:t>Backend, Government Dashboard UI, Deployment &amp; Data collection.</a:t>
            </a:r>
            <a:endParaRPr dirty="0"/>
          </a:p>
        </p:txBody>
      </p:sp>
      <p:sp>
        <p:nvSpPr>
          <p:cNvPr id="10" name="Rounded Rectangle 9"/>
          <p:cNvSpPr/>
          <p:nvPr/>
        </p:nvSpPr>
        <p:spPr>
          <a:xfrm>
            <a:off x="7726679" y="1143000"/>
            <a:ext cx="3246120" cy="1965960"/>
          </a:xfrm>
          <a:prstGeom prst="roundRect">
            <a:avLst/>
          </a:prstGeom>
          <a:solidFill>
            <a:srgbClr val="F8F9FB"/>
          </a:solidFill>
          <a:ln w="15240">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15400" y="1417320"/>
            <a:ext cx="1874519" cy="411480"/>
          </a:xfrm>
          <a:prstGeom prst="rect">
            <a:avLst/>
          </a:prstGeom>
          <a:noFill/>
        </p:spPr>
        <p:txBody>
          <a:bodyPr wrap="square">
            <a:spAutoFit/>
          </a:bodyPr>
          <a:lstStyle/>
          <a:p>
            <a:pPr algn="ctr">
              <a:defRPr sz="1600" b="1">
                <a:solidFill>
                  <a:srgbClr val="1B2B41"/>
                </a:solidFill>
                <a:latin typeface="Aptos"/>
              </a:defRPr>
            </a:pPr>
            <a:r>
              <a:rPr dirty="0"/>
              <a:t>Christopher Kariuki</a:t>
            </a:r>
          </a:p>
        </p:txBody>
      </p:sp>
      <p:sp>
        <p:nvSpPr>
          <p:cNvPr id="12" name="TextBox 11"/>
          <p:cNvSpPr txBox="1"/>
          <p:nvPr/>
        </p:nvSpPr>
        <p:spPr>
          <a:xfrm>
            <a:off x="7909559" y="2331720"/>
            <a:ext cx="2880360" cy="646331"/>
          </a:xfrm>
          <a:prstGeom prst="rect">
            <a:avLst/>
          </a:prstGeom>
          <a:noFill/>
        </p:spPr>
        <p:txBody>
          <a:bodyPr wrap="square">
            <a:spAutoFit/>
          </a:bodyPr>
          <a:lstStyle/>
          <a:p>
            <a:pPr algn="ctr">
              <a:defRPr sz="1200">
                <a:solidFill>
                  <a:srgbClr val="46505C"/>
                </a:solidFill>
                <a:latin typeface="Aptos"/>
              </a:defRPr>
            </a:pPr>
            <a:r>
              <a:rPr dirty="0"/>
              <a:t>EDA</a:t>
            </a:r>
            <a:r>
              <a:rPr lang="en-US" dirty="0"/>
              <a:t>, Data </a:t>
            </a:r>
            <a:r>
              <a:rPr dirty="0"/>
              <a:t>&amp; PowerPoint </a:t>
            </a:r>
            <a:r>
              <a:rPr lang="en-US" dirty="0"/>
              <a:t> Deck collection, Project Documentation </a:t>
            </a:r>
            <a:r>
              <a:rPr dirty="0"/>
              <a:t>creation</a:t>
            </a:r>
          </a:p>
        </p:txBody>
      </p:sp>
      <p:sp>
        <p:nvSpPr>
          <p:cNvPr id="13" name="Rounded Rectangle 12"/>
          <p:cNvSpPr/>
          <p:nvPr/>
        </p:nvSpPr>
        <p:spPr>
          <a:xfrm>
            <a:off x="2331720" y="3657600"/>
            <a:ext cx="3246120" cy="1965960"/>
          </a:xfrm>
          <a:prstGeom prst="roundRect">
            <a:avLst/>
          </a:prstGeom>
          <a:solidFill>
            <a:srgbClr val="F8F9FB"/>
          </a:solidFill>
          <a:ln w="15240">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20439" y="3931920"/>
            <a:ext cx="1874519" cy="411480"/>
          </a:xfrm>
          <a:prstGeom prst="rect">
            <a:avLst/>
          </a:prstGeom>
          <a:noFill/>
        </p:spPr>
        <p:txBody>
          <a:bodyPr wrap="square">
            <a:spAutoFit/>
          </a:bodyPr>
          <a:lstStyle/>
          <a:p>
            <a:pPr algn="ctr">
              <a:defRPr sz="1600" b="1">
                <a:solidFill>
                  <a:srgbClr val="1B2B41"/>
                </a:solidFill>
                <a:latin typeface="Aptos"/>
              </a:defRPr>
            </a:pPr>
            <a:r>
              <a:rPr dirty="0"/>
              <a:t>Cleopas Karanja</a:t>
            </a:r>
          </a:p>
        </p:txBody>
      </p:sp>
      <p:sp>
        <p:nvSpPr>
          <p:cNvPr id="15" name="TextBox 14"/>
          <p:cNvSpPr txBox="1"/>
          <p:nvPr/>
        </p:nvSpPr>
        <p:spPr>
          <a:xfrm>
            <a:off x="2514600" y="4846320"/>
            <a:ext cx="2880360" cy="276999"/>
          </a:xfrm>
          <a:prstGeom prst="rect">
            <a:avLst/>
          </a:prstGeom>
          <a:noFill/>
        </p:spPr>
        <p:txBody>
          <a:bodyPr wrap="square">
            <a:spAutoFit/>
          </a:bodyPr>
          <a:lstStyle/>
          <a:p>
            <a:pPr algn="ctr">
              <a:defRPr sz="1200">
                <a:solidFill>
                  <a:srgbClr val="46505C"/>
                </a:solidFill>
                <a:latin typeface="Aptos"/>
              </a:defRPr>
            </a:pPr>
            <a:r>
              <a:rPr dirty="0"/>
              <a:t>Modelling</a:t>
            </a:r>
            <a:r>
              <a:rPr lang="en-US" dirty="0"/>
              <a:t> &amp; Data collection.</a:t>
            </a:r>
            <a:endParaRPr dirty="0"/>
          </a:p>
        </p:txBody>
      </p:sp>
      <p:sp>
        <p:nvSpPr>
          <p:cNvPr id="16" name="Rounded Rectangle 15"/>
          <p:cNvSpPr/>
          <p:nvPr/>
        </p:nvSpPr>
        <p:spPr>
          <a:xfrm>
            <a:off x="5897880" y="3657600"/>
            <a:ext cx="3246120" cy="1965960"/>
          </a:xfrm>
          <a:prstGeom prst="roundRect">
            <a:avLst/>
          </a:prstGeom>
          <a:solidFill>
            <a:srgbClr val="F8F9FB"/>
          </a:solidFill>
          <a:ln w="15240">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86600" y="3931920"/>
            <a:ext cx="1874519" cy="411480"/>
          </a:xfrm>
          <a:prstGeom prst="rect">
            <a:avLst/>
          </a:prstGeom>
          <a:noFill/>
        </p:spPr>
        <p:txBody>
          <a:bodyPr wrap="square">
            <a:spAutoFit/>
          </a:bodyPr>
          <a:lstStyle/>
          <a:p>
            <a:pPr algn="ctr">
              <a:defRPr sz="1600" b="1">
                <a:solidFill>
                  <a:srgbClr val="1B2B41"/>
                </a:solidFill>
                <a:latin typeface="Aptos"/>
              </a:defRPr>
            </a:pPr>
            <a:r>
              <a:rPr dirty="0"/>
              <a:t>Alex Kinyua</a:t>
            </a:r>
          </a:p>
        </p:txBody>
      </p:sp>
      <p:sp>
        <p:nvSpPr>
          <p:cNvPr id="18" name="TextBox 17"/>
          <p:cNvSpPr txBox="1"/>
          <p:nvPr/>
        </p:nvSpPr>
        <p:spPr>
          <a:xfrm>
            <a:off x="6080760" y="4846320"/>
            <a:ext cx="2880360" cy="461665"/>
          </a:xfrm>
          <a:prstGeom prst="rect">
            <a:avLst/>
          </a:prstGeom>
          <a:noFill/>
        </p:spPr>
        <p:txBody>
          <a:bodyPr wrap="square">
            <a:spAutoFit/>
          </a:bodyPr>
          <a:lstStyle/>
          <a:p>
            <a:pPr algn="ctr">
              <a:defRPr sz="1200">
                <a:solidFill>
                  <a:srgbClr val="46505C"/>
                </a:solidFill>
                <a:latin typeface="Aptos"/>
              </a:defRPr>
            </a:pPr>
            <a:r>
              <a:rPr lang="en-US" dirty="0"/>
              <a:t>Data collection, </a:t>
            </a:r>
            <a:r>
              <a:rPr dirty="0"/>
              <a:t>Backend, Repository Admin &amp; Deployment, </a:t>
            </a:r>
            <a:r>
              <a:rPr lang="en-US" dirty="0"/>
              <a:t>Job seeker UI.</a:t>
            </a:r>
            <a:r>
              <a:rPr dirty="0"/>
              <a:t> </a:t>
            </a:r>
          </a:p>
        </p:txBody>
      </p:sp>
      <p:sp>
        <p:nvSpPr>
          <p:cNvPr id="19" name="TextBox 18"/>
          <p:cNvSpPr txBox="1"/>
          <p:nvPr/>
        </p:nvSpPr>
        <p:spPr>
          <a:xfrm>
            <a:off x="731520" y="6172200"/>
            <a:ext cx="10698480" cy="320040"/>
          </a:xfrm>
          <a:prstGeom prst="rect">
            <a:avLst/>
          </a:prstGeom>
          <a:noFill/>
        </p:spPr>
        <p:txBody>
          <a:bodyPr wrap="none">
            <a:spAutoFit/>
          </a:bodyPr>
          <a:lstStyle/>
          <a:p>
            <a:pPr algn="ctr">
              <a:defRPr sz="1000">
                <a:solidFill>
                  <a:srgbClr val="46505C"/>
                </a:solidFill>
                <a:latin typeface="Aptos"/>
              </a:defRPr>
            </a:pPr>
            <a:r>
              <a:t>AI-Powered Job Scam Detection System | HAKIKI HIRE</a:t>
            </a:r>
          </a:p>
        </p:txBody>
      </p:sp>
      <p:pic>
        <p:nvPicPr>
          <p:cNvPr id="20" name="Picture 19" descr="Melisa.jpeg"/>
          <p:cNvPicPr>
            <a:picLocks noChangeAspect="1"/>
          </p:cNvPicPr>
          <p:nvPr/>
        </p:nvPicPr>
        <p:blipFill>
          <a:blip r:embed="rId2"/>
          <a:stretch>
            <a:fillRect/>
          </a:stretch>
        </p:blipFill>
        <p:spPr>
          <a:xfrm>
            <a:off x="731520" y="1239773"/>
            <a:ext cx="803149" cy="886207"/>
          </a:xfrm>
          <a:prstGeom prst="rect">
            <a:avLst/>
          </a:prstGeom>
        </p:spPr>
      </p:pic>
      <p:pic>
        <p:nvPicPr>
          <p:cNvPr id="21" name="Picture 20" descr="Christopher.jpeg"/>
          <p:cNvPicPr>
            <a:picLocks noChangeAspect="1"/>
          </p:cNvPicPr>
          <p:nvPr/>
        </p:nvPicPr>
        <p:blipFill>
          <a:blip r:embed="rId3"/>
          <a:stretch>
            <a:fillRect/>
          </a:stretch>
        </p:blipFill>
        <p:spPr>
          <a:xfrm>
            <a:off x="7870442" y="1239774"/>
            <a:ext cx="816357" cy="792334"/>
          </a:xfrm>
          <a:prstGeom prst="rect">
            <a:avLst/>
          </a:prstGeom>
        </p:spPr>
      </p:pic>
      <p:pic>
        <p:nvPicPr>
          <p:cNvPr id="22" name="Picture 21" descr="Cleopas.jpeg"/>
          <p:cNvPicPr>
            <a:picLocks noChangeAspect="1"/>
          </p:cNvPicPr>
          <p:nvPr/>
        </p:nvPicPr>
        <p:blipFill>
          <a:blip r:embed="rId4"/>
          <a:stretch>
            <a:fillRect/>
          </a:stretch>
        </p:blipFill>
        <p:spPr>
          <a:xfrm>
            <a:off x="2479548" y="3788049"/>
            <a:ext cx="695452" cy="695452"/>
          </a:xfrm>
          <a:prstGeom prst="rect">
            <a:avLst/>
          </a:prstGeom>
        </p:spPr>
      </p:pic>
      <p:pic>
        <p:nvPicPr>
          <p:cNvPr id="23" name="Picture 22" descr="Alex.jpeg"/>
          <p:cNvPicPr>
            <a:picLocks noChangeAspect="1"/>
          </p:cNvPicPr>
          <p:nvPr/>
        </p:nvPicPr>
        <p:blipFill>
          <a:blip r:embed="rId5"/>
          <a:stretch>
            <a:fillRect/>
          </a:stretch>
        </p:blipFill>
        <p:spPr>
          <a:xfrm>
            <a:off x="6096000" y="3707784"/>
            <a:ext cx="889000" cy="934305"/>
          </a:xfrm>
          <a:prstGeom prst="rect">
            <a:avLst/>
          </a:prstGeom>
        </p:spPr>
      </p:pic>
      <p:pic>
        <p:nvPicPr>
          <p:cNvPr id="27" name="Picture 26">
            <a:extLst>
              <a:ext uri="{FF2B5EF4-FFF2-40B4-BE49-F238E27FC236}">
                <a16:creationId xmlns:a16="http://schemas.microsoft.com/office/drawing/2014/main" id="{BB711CE9-21A8-E90C-B398-D9873CA32FEA}"/>
              </a:ext>
            </a:extLst>
          </p:cNvPr>
          <p:cNvPicPr>
            <a:picLocks noChangeAspect="1"/>
          </p:cNvPicPr>
          <p:nvPr/>
        </p:nvPicPr>
        <p:blipFill>
          <a:blip r:embed="rId6"/>
          <a:stretch>
            <a:fillRect/>
          </a:stretch>
        </p:blipFill>
        <p:spPr>
          <a:xfrm>
            <a:off x="4343400" y="1248155"/>
            <a:ext cx="914399" cy="85583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996696" y="466344"/>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Problem Statement</a:t>
            </a:r>
            <a:endParaRPr lang="en-US" sz="3000" dirty="0">
              <a:latin typeface="Times New Roman" panose="02020603050405020304" pitchFamily="18" charset="0"/>
              <a:cs typeface="Times New Roman" panose="02020603050405020304" pitchFamily="18" charset="0"/>
            </a:endParaRPr>
          </a:p>
        </p:txBody>
      </p:sp>
      <p:sp>
        <p:nvSpPr>
          <p:cNvPr id="3" name="Text 1"/>
          <p:cNvSpPr txBox="1"/>
          <p:nvPr/>
        </p:nvSpPr>
        <p:spPr>
          <a:xfrm>
            <a:off x="381000" y="1463040"/>
            <a:ext cx="7025640" cy="4709160"/>
          </a:xfrm>
          <a:prstGeom prst="rect">
            <a:avLst/>
          </a:prstGeom>
          <a:noFill/>
          <a:ln/>
        </p:spPr>
        <p:txBody>
          <a:bodyPr wrap="square" lIns="0" tIns="0" rIns="0" bIns="0" rtlCol="0" anchor="t"/>
          <a:lstStyle/>
          <a:p>
            <a:pPr marL="342900" indent="-342900" algn="l">
              <a:lnSpc>
                <a:spcPct val="108000"/>
              </a:lnSpc>
              <a:spcAft>
                <a:spcPts val="1200"/>
              </a:spcAft>
              <a:buSzPct val="100000"/>
              <a:buChar char="●"/>
              <a:defRPr sz="1700">
                <a:solidFill>
                  <a:srgbClr val="46505C"/>
                </a:solidFill>
                <a:latin typeface="Aptos"/>
              </a:defRPr>
            </a:pPr>
            <a:r>
              <a:rPr sz="1600" dirty="0">
                <a:latin typeface="Times New Roman" panose="02020603050405020304" pitchFamily="18" charset="0"/>
                <a:cs typeface="Times New Roman" panose="02020603050405020304" pitchFamily="18" charset="0"/>
              </a:rPr>
              <a:t>Traditionally, job seekers often searched for opportunities through newspapers, notice boards, recruitment offices, and personal networks. As internet access became easier, job searching moved increasingly online, making it faster and easier for people to find and apply for jobs from anywhere. However, this wider and easier access has also created new opportunities for scammers to advertise fraudulent jobs and target job seekers online.</a:t>
            </a:r>
            <a:endParaRPr lang="en-US" sz="1600" dirty="0">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12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33414F"/>
                </a:solidFill>
                <a:effectLst/>
                <a:uLnTx/>
                <a:uFillTx/>
                <a:latin typeface="Times New Roman" panose="02020603050405020304" pitchFamily="18" charset="0"/>
                <a:ea typeface="Calibri" pitchFamily="34" charset="-122"/>
                <a:cs typeface="Times New Roman" panose="02020603050405020304" pitchFamily="18" charset="0"/>
              </a:rPr>
              <a:t>Job seekers may encounter upfront-fee requests, vague job descriptions, urgency language, impersonated employers, or suspicious contact channels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12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33414F"/>
                </a:solidFill>
                <a:effectLst/>
                <a:uLnTx/>
                <a:uFillTx/>
                <a:latin typeface="Times New Roman" panose="02020603050405020304" pitchFamily="18" charset="0"/>
                <a:ea typeface="Calibri" pitchFamily="34" charset="-122"/>
                <a:cs typeface="Times New Roman" panose="02020603050405020304" pitchFamily="18" charset="0"/>
              </a:rPr>
              <a:t>External evidence: FTC-reported US job-scam losses rose from ~$90M (2020) to ~$501M (2024)</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12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33414F"/>
                </a:solidFill>
                <a:effectLst/>
                <a:uLnTx/>
                <a:uFillTx/>
                <a:latin typeface="Times New Roman" panose="02020603050405020304" pitchFamily="18" charset="0"/>
                <a:ea typeface="Calibri" pitchFamily="34" charset="-122"/>
                <a:cs typeface="Times New Roman" panose="02020603050405020304" pitchFamily="18" charset="0"/>
              </a:rPr>
              <a:t>External evidence: a 2024 Kenyan DCI case reportedly affected ~1,000 job seekers</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12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33414F"/>
                </a:solidFill>
                <a:effectLst/>
                <a:uLnTx/>
                <a:uFillTx/>
                <a:latin typeface="Times New Roman" panose="02020603050405020304" pitchFamily="18" charset="0"/>
                <a:ea typeface="Calibri" pitchFamily="34" charset="-122"/>
                <a:cs typeface="Times New Roman" panose="02020603050405020304" pitchFamily="18" charset="0"/>
              </a:rPr>
              <a:t>The practical gap: job seekers need a way to prioritize verification before engaging with a posting</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indent="-342900" algn="l">
              <a:lnSpc>
                <a:spcPct val="108000"/>
              </a:lnSpc>
              <a:spcAft>
                <a:spcPts val="1200"/>
              </a:spcAft>
              <a:buSzPct val="100000"/>
              <a:buChar char="●"/>
              <a:defRPr sz="1700">
                <a:solidFill>
                  <a:srgbClr val="46505C"/>
                </a:solidFill>
                <a:latin typeface="Aptos"/>
              </a:defRPr>
            </a:pPr>
            <a:endParaRPr lang="en-US" dirty="0">
              <a:latin typeface="Times New Roman" panose="02020603050405020304" pitchFamily="18" charset="0"/>
              <a:cs typeface="Times New Roman" panose="02020603050405020304" pitchFamily="18" charset="0"/>
            </a:endParaRPr>
          </a:p>
          <a:p>
            <a:pPr algn="l">
              <a:lnSpc>
                <a:spcPct val="108000"/>
              </a:lnSpc>
              <a:spcAft>
                <a:spcPts val="1200"/>
              </a:spcAft>
              <a:buSzPct val="100000"/>
              <a:defRPr sz="1700">
                <a:solidFill>
                  <a:srgbClr val="46505C"/>
                </a:solidFill>
                <a:latin typeface="Aptos"/>
              </a:defRPr>
            </a:pPr>
            <a:endParaRPr lang="en-US" sz="1500" dirty="0">
              <a:latin typeface="Times New Roman" panose="02020603050405020304" pitchFamily="18" charset="0"/>
              <a:cs typeface="Times New Roman" panose="02020603050405020304" pitchFamily="18" charset="0"/>
            </a:endParaRPr>
          </a:p>
        </p:txBody>
      </p:sp>
      <p:sp>
        <p:nvSpPr>
          <p:cNvPr id="4" name="Shape 2"/>
          <p:cNvSpPr/>
          <p:nvPr/>
        </p:nvSpPr>
        <p:spPr>
          <a:xfrm>
            <a:off x="7772400" y="1463040"/>
            <a:ext cx="3840480" cy="4206240"/>
          </a:xfrm>
          <a:prstGeom prst="roundRect">
            <a:avLst>
              <a:gd name="adj" fmla="val 2857"/>
            </a:avLst>
          </a:prstGeom>
          <a:solidFill>
            <a:srgbClr val="FFFFFF"/>
          </a:solidFill>
          <a:ln w="12700">
            <a:solidFill>
              <a:srgbClr val="E1E6ED"/>
            </a:solidFill>
            <a:prstDash val="solid"/>
          </a:ln>
          <a:effectLst>
            <a:outerShdw blurRad="101600" dist="38100" dir="5400000" algn="bl" rotWithShape="0">
              <a:srgbClr val="000000">
                <a:alpha val="12000"/>
              </a:srgbClr>
            </a:outerShdw>
          </a:effectLst>
        </p:spPr>
        <p:txBody>
          <a:bodyPr/>
          <a:lstStyle/>
          <a:p>
            <a:endParaRPr>
              <a:latin typeface="Times New Roman" panose="02020603050405020304" pitchFamily="18" charset="0"/>
              <a:cs typeface="Times New Roman" panose="02020603050405020304" pitchFamily="18" charset="0"/>
            </a:endParaRPr>
          </a:p>
        </p:txBody>
      </p:sp>
      <p:sp>
        <p:nvSpPr>
          <p:cNvPr id="5" name="Shape 3"/>
          <p:cNvSpPr/>
          <p:nvPr/>
        </p:nvSpPr>
        <p:spPr>
          <a:xfrm>
            <a:off x="9189720" y="2286000"/>
            <a:ext cx="1005840" cy="1005840"/>
          </a:xfrm>
          <a:prstGeom prst="ellipse">
            <a:avLst/>
          </a:prstGeom>
          <a:solidFill>
            <a:srgbClr val="C0392B"/>
          </a:solidFill>
          <a:ln/>
        </p:spPr>
        <p:txBody>
          <a:bodyPr/>
          <a:lstStyle/>
          <a:p>
            <a:endParaRPr>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stretch>
            <a:fillRect/>
          </a:stretch>
        </p:blipFill>
        <p:spPr>
          <a:xfrm>
            <a:off x="9427464" y="2523744"/>
            <a:ext cx="530352" cy="530352"/>
          </a:xfrm>
          <a:prstGeom prst="rect">
            <a:avLst/>
          </a:prstGeom>
        </p:spPr>
      </p:pic>
      <p:sp>
        <p:nvSpPr>
          <p:cNvPr id="7" name="Text 4"/>
          <p:cNvSpPr txBox="1"/>
          <p:nvPr/>
        </p:nvSpPr>
        <p:spPr>
          <a:xfrm>
            <a:off x="7955280" y="3520440"/>
            <a:ext cx="3474720" cy="365760"/>
          </a:xfrm>
          <a:prstGeom prst="rect">
            <a:avLst/>
          </a:prstGeom>
          <a:noFill/>
          <a:ln/>
        </p:spPr>
        <p:txBody>
          <a:bodyPr wrap="square" lIns="0" tIns="0" rIns="0" bIns="0" rtlCol="0" anchor="ctr"/>
          <a:lstStyle/>
          <a:p>
            <a:pPr marL="0" indent="0" algn="ctr">
              <a:buNone/>
            </a:pPr>
            <a:r>
              <a:rPr lang="en-US" sz="1400" b="1" dirty="0">
                <a:solidFill>
                  <a:srgbClr val="1B2A4A"/>
                </a:solidFill>
                <a:latin typeface="Times New Roman" panose="02020603050405020304" pitchFamily="18" charset="0"/>
                <a:ea typeface="Calibri" pitchFamily="34" charset="-122"/>
                <a:cs typeface="Times New Roman" panose="02020603050405020304" pitchFamily="18" charset="0"/>
              </a:rPr>
              <a:t>A prioritization tool</a:t>
            </a:r>
            <a:endParaRPr lang="en-US" sz="1400" dirty="0">
              <a:latin typeface="Times New Roman" panose="02020603050405020304" pitchFamily="18" charset="0"/>
              <a:cs typeface="Times New Roman" panose="02020603050405020304" pitchFamily="18" charset="0"/>
            </a:endParaRPr>
          </a:p>
        </p:txBody>
      </p:sp>
      <p:sp>
        <p:nvSpPr>
          <p:cNvPr id="8" name="Text 5"/>
          <p:cNvSpPr txBox="1"/>
          <p:nvPr/>
        </p:nvSpPr>
        <p:spPr>
          <a:xfrm>
            <a:off x="7955280" y="3931920"/>
            <a:ext cx="3474720" cy="1005840"/>
          </a:xfrm>
          <a:prstGeom prst="rect">
            <a:avLst/>
          </a:prstGeom>
          <a:noFill/>
          <a:ln/>
        </p:spPr>
        <p:txBody>
          <a:bodyPr wrap="square" lIns="0" tIns="0" rIns="0" bIns="0" rtlCol="0" anchor="ctr"/>
          <a:lstStyle/>
          <a:p>
            <a:pPr marL="0" indent="0" algn="ctr">
              <a:buNone/>
            </a:pPr>
            <a:r>
              <a:rPr lang="en-US" sz="1150" dirty="0">
                <a:solidFill>
                  <a:srgbClr val="6B7A8D"/>
                </a:solidFill>
                <a:latin typeface="Times New Roman" panose="02020603050405020304" pitchFamily="18" charset="0"/>
                <a:ea typeface="Calibri" pitchFamily="34" charset="-122"/>
                <a:cs typeface="Times New Roman" panose="02020603050405020304" pitchFamily="18" charset="0"/>
              </a:rPr>
              <a:t>Helping job seekers know what to verify first — not a substitute for official investigation or human judgment</a:t>
            </a:r>
            <a:endParaRPr lang="en-US" sz="1150" dirty="0">
              <a:latin typeface="Times New Roman" panose="02020603050405020304" pitchFamily="18" charset="0"/>
              <a:cs typeface="Times New Roman" panose="02020603050405020304" pitchFamily="18" charset="0"/>
            </a:endParaRPr>
          </a:p>
        </p:txBody>
      </p:sp>
      <p:sp>
        <p:nvSpPr>
          <p:cNvPr id="9" name="Text 6"/>
          <p:cNvSpPr txBox="1"/>
          <p:nvPr/>
        </p:nvSpPr>
        <p:spPr>
          <a:xfrm>
            <a:off x="548640" y="6217920"/>
            <a:ext cx="11064240" cy="566928"/>
          </a:xfrm>
          <a:prstGeom prst="rect">
            <a:avLst/>
          </a:prstGeom>
          <a:noFill/>
          <a:ln/>
        </p:spPr>
        <p:txBody>
          <a:bodyPr wrap="square" lIns="0" tIns="0" rIns="0" bIns="0" rtlCol="0" anchor="ctr"/>
          <a:lstStyle/>
          <a:p>
            <a:r>
              <a:rPr dirty="0">
                <a:latin typeface="Times New Roman" panose="02020603050405020304" pitchFamily="18" charset="0"/>
                <a:cs typeface="Times New Roman" panose="02020603050405020304" pitchFamily="18" charset="0"/>
              </a:rPr>
              <a:t>External statistics: Commission, F.T. (2024), Federal Trade Commission; DCI (202</a:t>
            </a:r>
            <a:r>
              <a:rPr lang="en-US" dirty="0">
                <a:latin typeface="Times New Roman" panose="02020603050405020304" pitchFamily="18" charset="0"/>
                <a:cs typeface="Times New Roman" panose="02020603050405020304" pitchFamily="18" charset="0"/>
              </a:rPr>
              <a:t>5</a:t>
            </a:r>
            <a:r>
              <a:rPr dirty="0">
                <a:latin typeface="Times New Roman" panose="02020603050405020304" pitchFamily="18" charset="0"/>
                <a:cs typeface="Times New Roman" panose="02020603050405020304" pitchFamily="18" charset="0"/>
              </a:rPr>
              <a:t>), Ministry of Interior and National Administration.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Proposed Solution</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548640" y="1920240"/>
            <a:ext cx="2388870" cy="1737360"/>
          </a:xfrm>
          <a:prstGeom prst="roundRect">
            <a:avLst>
              <a:gd name="adj" fmla="val 4211"/>
            </a:avLst>
          </a:prstGeom>
          <a:solidFill>
            <a:srgbClr val="FFFFFF"/>
          </a:solidFill>
          <a:ln w="12700">
            <a:solidFill>
              <a:srgbClr val="E1E6ED"/>
            </a:solidFill>
            <a:prstDash val="solid"/>
          </a:ln>
        </p:spPr>
        <p:txBody>
          <a:bodyPr/>
          <a:p/>
        </p:txBody>
      </p:sp>
      <p:sp>
        <p:nvSpPr>
          <p:cNvPr id="4" name="Shape 2"/>
          <p:cNvSpPr/>
          <p:nvPr/>
        </p:nvSpPr>
        <p:spPr>
          <a:xfrm>
            <a:off x="1468755" y="2057400"/>
            <a:ext cx="548640" cy="548640"/>
          </a:xfrm>
          <a:prstGeom prst="ellipse">
            <a:avLst/>
          </a:prstGeom>
          <a:solidFill>
            <a:srgbClr val="4A6FA5"/>
          </a:solidFill>
          <a:ln/>
        </p:spPr>
        <p:txBody>
          <a:bodyPr/>
          <a:p/>
        </p:txBody>
      </p:sp>
      <p:pic>
        <p:nvPicPr>
          <p:cNvPr id="5" name="Image 0" descr="preencoded.png"/>
          <p:cNvPicPr>
            <a:picLocks noChangeAspect="1"/>
          </p:cNvPicPr>
          <p:nvPr/>
        </p:nvPicPr>
        <p:blipFill>
          <a:blip r:embed="rId3"/>
          <a:stretch>
            <a:fillRect/>
          </a:stretch>
        </p:blipFill>
        <p:spPr>
          <a:xfrm>
            <a:off x="1596771" y="2185416"/>
            <a:ext cx="292608" cy="292608"/>
          </a:xfrm>
          <a:prstGeom prst="rect">
            <a:avLst/>
          </a:prstGeom>
        </p:spPr>
      </p:pic>
      <p:sp>
        <p:nvSpPr>
          <p:cNvPr id="6" name="Text 3"/>
          <p:cNvSpPr txBox="1"/>
          <p:nvPr/>
        </p:nvSpPr>
        <p:spPr>
          <a:xfrm>
            <a:off x="658368" y="267004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Posting Text</a:t>
            </a:r>
            <a:endParaRPr lang="en-US" sz="1150" dirty="0">
              <a:latin typeface="Times New Roman" panose="02020603050405020304" pitchFamily="18" charset="0"/>
              <a:cs typeface="Times New Roman" panose="02020603050405020304" pitchFamily="18" charset="0"/>
            </a:endParaRPr>
          </a:p>
        </p:txBody>
      </p:sp>
      <p:sp>
        <p:nvSpPr>
          <p:cNvPr id="7" name="Text 4"/>
          <p:cNvSpPr txBox="1"/>
          <p:nvPr/>
        </p:nvSpPr>
        <p:spPr>
          <a:xfrm>
            <a:off x="658368" y="299923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Title, description and requirements</a:t>
            </a:r>
            <a:endParaRPr lang="en-US" sz="950" dirty="0">
              <a:latin typeface="Times New Roman" panose="02020603050405020304" pitchFamily="18" charset="0"/>
              <a:cs typeface="Times New Roman" panose="02020603050405020304" pitchFamily="18" charset="0"/>
            </a:endParaRPr>
          </a:p>
        </p:txBody>
      </p:sp>
      <p:sp>
        <p:nvSpPr>
          <p:cNvPr id="8" name="Text 5"/>
          <p:cNvSpPr txBox="1"/>
          <p:nvPr/>
        </p:nvSpPr>
        <p:spPr>
          <a:xfrm>
            <a:off x="2937510" y="1920240"/>
            <a:ext cx="502920" cy="1737360"/>
          </a:xfrm>
          <a:prstGeom prst="rect">
            <a:avLst/>
          </a:prstGeom>
          <a:noFill/>
          <a:ln/>
        </p:spPr>
        <p:txBody>
          <a:bodyPr wrap="square" lIns="0" tIns="0" rIns="0" bIns="0" rtlCol="0" anchor="ctr"/>
          <a:lstStyle/>
          <a:p>
            <a:pPr marL="0" indent="0" algn="ctr">
              <a:buNone/>
            </a:pPr>
            <a:r>
              <a:rPr lang="en-US" sz="2200" b="1" dirty="0">
                <a:solidFill>
                  <a:srgbClr val="4A6FA5"/>
                </a:solidFill>
                <a:latin typeface="Times New Roman" panose="02020603050405020304" pitchFamily="18" charset="0"/>
                <a:ea typeface="Calibri" pitchFamily="34" charset="-122"/>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9" name="Shape 6"/>
          <p:cNvSpPr/>
          <p:nvPr/>
        </p:nvSpPr>
        <p:spPr>
          <a:xfrm>
            <a:off x="3440430" y="1920240"/>
            <a:ext cx="2388870" cy="1737360"/>
          </a:xfrm>
          <a:prstGeom prst="roundRect">
            <a:avLst>
              <a:gd name="adj" fmla="val 4211"/>
            </a:avLst>
          </a:prstGeom>
          <a:solidFill>
            <a:srgbClr val="FFFFFF"/>
          </a:solidFill>
          <a:ln w="12700">
            <a:solidFill>
              <a:srgbClr val="E1E6ED"/>
            </a:solidFill>
            <a:prstDash val="solid"/>
          </a:ln>
        </p:spPr>
        <p:txBody>
          <a:bodyPr/>
          <a:p/>
        </p:txBody>
      </p:sp>
      <p:sp>
        <p:nvSpPr>
          <p:cNvPr id="10" name="Shape 7"/>
          <p:cNvSpPr/>
          <p:nvPr/>
        </p:nvSpPr>
        <p:spPr>
          <a:xfrm>
            <a:off x="4360545" y="2057400"/>
            <a:ext cx="548640" cy="548640"/>
          </a:xfrm>
          <a:prstGeom prst="ellipse">
            <a:avLst/>
          </a:prstGeom>
          <a:solidFill>
            <a:srgbClr val="4A6FA5"/>
          </a:solidFill>
          <a:ln/>
        </p:spPr>
        <p:txBody>
          <a:bodyPr/>
          <a:p/>
        </p:txBody>
      </p:sp>
      <p:pic>
        <p:nvPicPr>
          <p:cNvPr id="11" name="Image 1" descr="preencoded.png"/>
          <p:cNvPicPr>
            <a:picLocks noChangeAspect="1"/>
          </p:cNvPicPr>
          <p:nvPr/>
        </p:nvPicPr>
        <p:blipFill>
          <a:blip r:embed="rId4"/>
          <a:stretch>
            <a:fillRect/>
          </a:stretch>
        </p:blipFill>
        <p:spPr>
          <a:xfrm>
            <a:off x="4488561" y="2185416"/>
            <a:ext cx="292608" cy="292608"/>
          </a:xfrm>
          <a:prstGeom prst="rect">
            <a:avLst/>
          </a:prstGeom>
        </p:spPr>
      </p:pic>
      <p:sp>
        <p:nvSpPr>
          <p:cNvPr id="12" name="Text 8"/>
          <p:cNvSpPr txBox="1"/>
          <p:nvPr/>
        </p:nvSpPr>
        <p:spPr>
          <a:xfrm>
            <a:off x="3550158" y="267004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Fraud-Risk Score</a:t>
            </a:r>
            <a:endParaRPr lang="en-US" sz="1150" dirty="0">
              <a:latin typeface="Times New Roman" panose="02020603050405020304" pitchFamily="18" charset="0"/>
              <a:cs typeface="Times New Roman" panose="02020603050405020304" pitchFamily="18" charset="0"/>
            </a:endParaRPr>
          </a:p>
        </p:txBody>
      </p:sp>
      <p:sp>
        <p:nvSpPr>
          <p:cNvPr id="13" name="Text 9"/>
          <p:cNvSpPr txBox="1"/>
          <p:nvPr/>
        </p:nvSpPr>
        <p:spPr>
          <a:xfrm>
            <a:off x="3550158" y="299923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A score from 0 to 1 from the model</a:t>
            </a:r>
            <a:endParaRPr lang="en-US" sz="950" dirty="0">
              <a:latin typeface="Times New Roman" panose="02020603050405020304" pitchFamily="18" charset="0"/>
              <a:cs typeface="Times New Roman" panose="02020603050405020304" pitchFamily="18" charset="0"/>
            </a:endParaRPr>
          </a:p>
        </p:txBody>
      </p:sp>
      <p:sp>
        <p:nvSpPr>
          <p:cNvPr id="14" name="Text 10"/>
          <p:cNvSpPr txBox="1"/>
          <p:nvPr/>
        </p:nvSpPr>
        <p:spPr>
          <a:xfrm>
            <a:off x="5829300" y="1920240"/>
            <a:ext cx="502920" cy="1737360"/>
          </a:xfrm>
          <a:prstGeom prst="rect">
            <a:avLst/>
          </a:prstGeom>
          <a:noFill/>
          <a:ln/>
        </p:spPr>
        <p:txBody>
          <a:bodyPr wrap="square" lIns="0" tIns="0" rIns="0" bIns="0" rtlCol="0" anchor="ctr"/>
          <a:lstStyle/>
          <a:p>
            <a:pPr marL="0" indent="0" algn="ctr">
              <a:buNone/>
            </a:pPr>
            <a:r>
              <a:rPr lang="en-US" sz="2200" b="1" dirty="0">
                <a:solidFill>
                  <a:srgbClr val="4A6FA5"/>
                </a:solidFill>
                <a:latin typeface="Times New Roman" panose="02020603050405020304" pitchFamily="18" charset="0"/>
                <a:ea typeface="Calibri" pitchFamily="34" charset="-122"/>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15" name="Shape 11"/>
          <p:cNvSpPr/>
          <p:nvPr/>
        </p:nvSpPr>
        <p:spPr>
          <a:xfrm>
            <a:off x="6332220" y="1920240"/>
            <a:ext cx="2388870" cy="1737360"/>
          </a:xfrm>
          <a:prstGeom prst="roundRect">
            <a:avLst>
              <a:gd name="adj" fmla="val 4211"/>
            </a:avLst>
          </a:prstGeom>
          <a:solidFill>
            <a:srgbClr val="FFFFFF"/>
          </a:solidFill>
          <a:ln w="12700">
            <a:solidFill>
              <a:srgbClr val="E1E6ED"/>
            </a:solidFill>
            <a:prstDash val="solid"/>
          </a:ln>
        </p:spPr>
        <p:txBody>
          <a:bodyPr/>
          <a:p/>
        </p:txBody>
      </p:sp>
      <p:sp>
        <p:nvSpPr>
          <p:cNvPr id="16" name="Shape 12"/>
          <p:cNvSpPr/>
          <p:nvPr/>
        </p:nvSpPr>
        <p:spPr>
          <a:xfrm>
            <a:off x="7252335" y="2057400"/>
            <a:ext cx="548640" cy="548640"/>
          </a:xfrm>
          <a:prstGeom prst="ellipse">
            <a:avLst/>
          </a:prstGeom>
          <a:solidFill>
            <a:srgbClr val="4A6FA5"/>
          </a:solidFill>
          <a:ln/>
        </p:spPr>
        <p:txBody>
          <a:bodyPr/>
          <a:p/>
        </p:txBody>
      </p:sp>
      <p:pic>
        <p:nvPicPr>
          <p:cNvPr id="17" name="Image 2" descr="preencoded.png"/>
          <p:cNvPicPr>
            <a:picLocks noChangeAspect="1"/>
          </p:cNvPicPr>
          <p:nvPr/>
        </p:nvPicPr>
        <p:blipFill>
          <a:blip r:embed="rId5"/>
          <a:stretch>
            <a:fillRect/>
          </a:stretch>
        </p:blipFill>
        <p:spPr>
          <a:xfrm>
            <a:off x="7380351" y="2185416"/>
            <a:ext cx="292608" cy="292608"/>
          </a:xfrm>
          <a:prstGeom prst="rect">
            <a:avLst/>
          </a:prstGeom>
        </p:spPr>
      </p:pic>
      <p:sp>
        <p:nvSpPr>
          <p:cNvPr id="18" name="Text 13"/>
          <p:cNvSpPr txBox="1"/>
          <p:nvPr/>
        </p:nvSpPr>
        <p:spPr>
          <a:xfrm>
            <a:off x="6441948" y="267004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Explanation</a:t>
            </a:r>
            <a:endParaRPr lang="en-US" sz="1150" dirty="0">
              <a:latin typeface="Times New Roman" panose="02020603050405020304" pitchFamily="18" charset="0"/>
              <a:cs typeface="Times New Roman" panose="02020603050405020304" pitchFamily="18" charset="0"/>
            </a:endParaRPr>
          </a:p>
        </p:txBody>
      </p:sp>
      <p:sp>
        <p:nvSpPr>
          <p:cNvPr id="19" name="Text 14"/>
          <p:cNvSpPr txBox="1"/>
          <p:nvPr/>
        </p:nvSpPr>
        <p:spPr>
          <a:xfrm>
            <a:off x="6441948" y="299923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Key words and rule signals behind the score</a:t>
            </a:r>
            <a:endParaRPr lang="en-US" sz="950" dirty="0">
              <a:latin typeface="Times New Roman" panose="02020603050405020304" pitchFamily="18" charset="0"/>
              <a:cs typeface="Times New Roman" panose="02020603050405020304" pitchFamily="18" charset="0"/>
            </a:endParaRPr>
          </a:p>
        </p:txBody>
      </p:sp>
      <p:sp>
        <p:nvSpPr>
          <p:cNvPr id="20" name="Text 15"/>
          <p:cNvSpPr txBox="1"/>
          <p:nvPr/>
        </p:nvSpPr>
        <p:spPr>
          <a:xfrm>
            <a:off x="8721090" y="1920240"/>
            <a:ext cx="502920" cy="1737360"/>
          </a:xfrm>
          <a:prstGeom prst="rect">
            <a:avLst/>
          </a:prstGeom>
          <a:noFill/>
          <a:ln/>
        </p:spPr>
        <p:txBody>
          <a:bodyPr wrap="square" lIns="0" tIns="0" rIns="0" bIns="0" rtlCol="0" anchor="ctr"/>
          <a:lstStyle/>
          <a:p>
            <a:pPr marL="0" indent="0" algn="ctr">
              <a:buNone/>
            </a:pPr>
            <a:r>
              <a:rPr lang="en-US" sz="2200" b="1" dirty="0">
                <a:solidFill>
                  <a:srgbClr val="4A6FA5"/>
                </a:solidFill>
                <a:latin typeface="Times New Roman" panose="02020603050405020304" pitchFamily="18" charset="0"/>
                <a:ea typeface="Calibri" pitchFamily="34" charset="-122"/>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21" name="Shape 16"/>
          <p:cNvSpPr/>
          <p:nvPr/>
        </p:nvSpPr>
        <p:spPr>
          <a:xfrm>
            <a:off x="9224010" y="1920240"/>
            <a:ext cx="2388870" cy="1737360"/>
          </a:xfrm>
          <a:prstGeom prst="roundRect">
            <a:avLst>
              <a:gd name="adj" fmla="val 4211"/>
            </a:avLst>
          </a:prstGeom>
          <a:solidFill>
            <a:srgbClr val="FFFFFF"/>
          </a:solidFill>
          <a:ln w="12700">
            <a:solidFill>
              <a:srgbClr val="E1E6ED"/>
            </a:solidFill>
            <a:prstDash val="solid"/>
          </a:ln>
        </p:spPr>
        <p:txBody>
          <a:bodyPr/>
          <a:p/>
        </p:txBody>
      </p:sp>
      <p:sp>
        <p:nvSpPr>
          <p:cNvPr id="22" name="Shape 17"/>
          <p:cNvSpPr/>
          <p:nvPr/>
        </p:nvSpPr>
        <p:spPr>
          <a:xfrm>
            <a:off x="10144125" y="2057400"/>
            <a:ext cx="548640" cy="548640"/>
          </a:xfrm>
          <a:prstGeom prst="ellipse">
            <a:avLst/>
          </a:prstGeom>
          <a:solidFill>
            <a:srgbClr val="4A6FA5"/>
          </a:solidFill>
          <a:ln/>
        </p:spPr>
        <p:txBody>
          <a:bodyPr/>
          <a:p/>
        </p:txBody>
      </p:sp>
      <p:pic>
        <p:nvPicPr>
          <p:cNvPr id="23" name="Image 3" descr="preencoded.png"/>
          <p:cNvPicPr>
            <a:picLocks noChangeAspect="1"/>
          </p:cNvPicPr>
          <p:nvPr/>
        </p:nvPicPr>
        <p:blipFill>
          <a:blip r:embed="rId6"/>
          <a:stretch>
            <a:fillRect/>
          </a:stretch>
        </p:blipFill>
        <p:spPr>
          <a:xfrm>
            <a:off x="10272141" y="2185416"/>
            <a:ext cx="292608" cy="292608"/>
          </a:xfrm>
          <a:prstGeom prst="rect">
            <a:avLst/>
          </a:prstGeom>
        </p:spPr>
      </p:pic>
      <p:sp>
        <p:nvSpPr>
          <p:cNvPr id="24" name="Text 18"/>
          <p:cNvSpPr txBox="1"/>
          <p:nvPr/>
        </p:nvSpPr>
        <p:spPr>
          <a:xfrm>
            <a:off x="9333738" y="267004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Human Verification</a:t>
            </a:r>
            <a:endParaRPr lang="en-US" sz="1150" dirty="0">
              <a:latin typeface="Times New Roman" panose="02020603050405020304" pitchFamily="18" charset="0"/>
              <a:cs typeface="Times New Roman" panose="02020603050405020304" pitchFamily="18" charset="0"/>
            </a:endParaRPr>
          </a:p>
        </p:txBody>
      </p:sp>
      <p:sp>
        <p:nvSpPr>
          <p:cNvPr id="25" name="Text 19"/>
          <p:cNvSpPr txBox="1"/>
          <p:nvPr/>
        </p:nvSpPr>
        <p:spPr>
          <a:xfrm>
            <a:off x="9333738" y="299923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Job seeker / reviewer decides next step</a:t>
            </a:r>
            <a:endParaRPr lang="en-US" sz="950" dirty="0">
              <a:latin typeface="Times New Roman" panose="02020603050405020304" pitchFamily="18" charset="0"/>
              <a:cs typeface="Times New Roman" panose="02020603050405020304" pitchFamily="18" charset="0"/>
            </a:endParaRPr>
          </a:p>
        </p:txBody>
      </p:sp>
      <p:sp>
        <p:nvSpPr>
          <p:cNvPr id="26" name="Text 20"/>
          <p:cNvSpPr txBox="1"/>
          <p:nvPr/>
        </p:nvSpPr>
        <p:spPr>
          <a:xfrm>
            <a:off x="548640" y="4206240"/>
            <a:ext cx="10515600" cy="1463040"/>
          </a:xfrm>
          <a:prstGeom prst="rect">
            <a:avLst/>
          </a:prstGeom>
          <a:noFill/>
          <a:ln/>
        </p:spPr>
        <p:txBody>
          <a:bodyPr wrap="square" lIns="0" tIns="0" rIns="0" bIns="0" rtlCol="0" anchor="t"/>
          <a:lstStyle/>
          <a:p>
            <a:pPr marL="342900" indent="-342900" algn="l">
              <a:lnSpc>
                <a:spcPct val="112000"/>
              </a:lnSpc>
              <a:spcAft>
                <a:spcPts val="1200"/>
              </a:spcAft>
              <a:buSzPct val="100000"/>
              <a:buChar char="●"/>
            </a:pPr>
            <a:r>
              <a:rPr lang="en-US" sz="1450" dirty="0">
                <a:solidFill>
                  <a:srgbClr val="33414F"/>
                </a:solidFill>
                <a:latin typeface="Times New Roman" panose="02020603050405020304" pitchFamily="18" charset="0"/>
                <a:ea typeface="Calibri" pitchFamily="34" charset="-122"/>
                <a:cs typeface="Times New Roman" panose="02020603050405020304" pitchFamily="18" charset="0"/>
              </a:rPr>
              <a:t>The system supports human verification and official reporting channels. It does not replace them.</a:t>
            </a:r>
            <a:endParaRPr lang="en-US" sz="1450" dirty="0">
              <a:latin typeface="Times New Roman" panose="02020603050405020304" pitchFamily="18" charset="0"/>
              <a:cs typeface="Times New Roman" panose="02020603050405020304" pitchFamily="18" charset="0"/>
            </a:endParaRPr>
          </a:p>
          <a:p>
            <a:pPr marL="342900" indent="-342900" algn="l">
              <a:lnSpc>
                <a:spcPct val="112000"/>
              </a:lnSpc>
              <a:spcAft>
                <a:spcPts val="1200"/>
              </a:spcAft>
              <a:buSzPct val="100000"/>
              <a:buChar char="●"/>
            </a:pPr>
            <a:r>
              <a:rPr lang="en-US" sz="1450" dirty="0">
                <a:solidFill>
                  <a:srgbClr val="33414F"/>
                </a:solidFill>
                <a:latin typeface="Times New Roman" panose="02020603050405020304" pitchFamily="18" charset="0"/>
                <a:ea typeface="Calibri" pitchFamily="34" charset="-122"/>
                <a:cs typeface="Times New Roman" panose="02020603050405020304" pitchFamily="18" charset="0"/>
              </a:rPr>
              <a:t>The result is a score and a risk level: low, suspicious (0.25 or higher) or high-risk (0.70 or higher). It is a warning, not a certainty.</a:t>
            </a:r>
            <a:endParaRPr lang="en-US" sz="14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1B2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15620" y="256032"/>
            <a:ext cx="1705980" cy="477054"/>
          </a:xfrm>
          <a:prstGeom prst="rect">
            <a:avLst/>
          </a:prstGeom>
          <a:noFill/>
        </p:spPr>
        <p:txBody>
          <a:bodyPr wrap="none">
            <a:spAutoFit/>
          </a:bodyPr>
          <a:lstStyle/>
          <a:p>
            <a:pPr>
              <a:defRPr sz="2500" b="1">
                <a:solidFill>
                  <a:srgbClr val="1B2B41"/>
                </a:solidFill>
                <a:latin typeface="Aptos Display"/>
              </a:defRPr>
            </a:pPr>
            <a:r>
              <a:rPr dirty="0"/>
              <a:t>Objectives </a:t>
            </a:r>
          </a:p>
        </p:txBody>
      </p:sp>
      <p:sp>
        <p:nvSpPr>
          <p:cNvPr id="4" name="Rounded Rectangle 3"/>
          <p:cNvSpPr/>
          <p:nvPr/>
        </p:nvSpPr>
        <p:spPr>
          <a:xfrm>
            <a:off x="502920" y="960120"/>
            <a:ext cx="5623560" cy="2240280"/>
          </a:xfrm>
          <a:prstGeom prst="roundRect">
            <a:avLst/>
          </a:prstGeom>
          <a:solidFill>
            <a:srgbClr val="F8F9FB"/>
          </a:solidFill>
          <a:ln w="15875">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67512" y="1115568"/>
            <a:ext cx="438912" cy="347472"/>
          </a:xfrm>
          <a:prstGeom prst="roundRect">
            <a:avLst/>
          </a:prstGeom>
          <a:solidFill>
            <a:srgbClr val="1B2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1</a:t>
            </a:r>
          </a:p>
        </p:txBody>
      </p:sp>
      <p:sp>
        <p:nvSpPr>
          <p:cNvPr id="6" name="TextBox 5"/>
          <p:cNvSpPr txBox="1"/>
          <p:nvPr/>
        </p:nvSpPr>
        <p:spPr>
          <a:xfrm>
            <a:off x="1216152" y="1088136"/>
            <a:ext cx="4709160" cy="530352"/>
          </a:xfrm>
          <a:prstGeom prst="rect">
            <a:avLst/>
          </a:prstGeom>
          <a:noFill/>
        </p:spPr>
        <p:txBody>
          <a:bodyPr wrap="none">
            <a:spAutoFit/>
          </a:bodyPr>
          <a:lstStyle/>
          <a:p>
            <a:pPr>
              <a:defRPr sz="1500" b="1">
                <a:solidFill>
                  <a:srgbClr val="1B2B41"/>
                </a:solidFill>
                <a:latin typeface="Aptos"/>
              </a:defRPr>
            </a:pPr>
            <a:r>
              <a:t>Objective 1: Detect Fraudulent Job Advertisements</a:t>
            </a:r>
          </a:p>
        </p:txBody>
      </p:sp>
      <p:sp>
        <p:nvSpPr>
          <p:cNvPr id="7" name="TextBox 6"/>
          <p:cNvSpPr txBox="1"/>
          <p:nvPr/>
        </p:nvSpPr>
        <p:spPr>
          <a:xfrm>
            <a:off x="731520" y="1673352"/>
            <a:ext cx="5166360" cy="1298448"/>
          </a:xfrm>
          <a:prstGeom prst="rect">
            <a:avLst/>
          </a:prstGeom>
          <a:noFill/>
        </p:spPr>
        <p:txBody>
          <a:bodyPr wrap="square">
            <a:spAutoFit/>
          </a:bodyPr>
          <a:lstStyle/>
          <a:p>
            <a:pPr>
              <a:lnSpc>
                <a:spcPct val="105000"/>
              </a:lnSpc>
              <a:defRPr sz="1250">
                <a:solidFill>
                  <a:srgbClr val="46505C"/>
                </a:solidFill>
                <a:latin typeface="Aptos"/>
              </a:defRPr>
            </a:pPr>
            <a:r>
              <a:t>Build a machine learning model that tells genuine job ads (0) from fraud-risk ads (1) using the text of the posting.</a:t>
            </a:r>
          </a:p>
        </p:txBody>
      </p:sp>
      <p:sp>
        <p:nvSpPr>
          <p:cNvPr id="8" name="Rounded Rectangle 7"/>
          <p:cNvSpPr/>
          <p:nvPr/>
        </p:nvSpPr>
        <p:spPr>
          <a:xfrm>
            <a:off x="6355080" y="960120"/>
            <a:ext cx="5623560" cy="2240280"/>
          </a:xfrm>
          <a:prstGeom prst="roundRect">
            <a:avLst/>
          </a:prstGeom>
          <a:solidFill>
            <a:srgbClr val="F8F9FB"/>
          </a:solidFill>
          <a:ln w="15875">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19672" y="1115568"/>
            <a:ext cx="438912" cy="347472"/>
          </a:xfrm>
          <a:prstGeom prst="roundRect">
            <a:avLst/>
          </a:prstGeom>
          <a:solidFill>
            <a:srgbClr val="1B2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2</a:t>
            </a:r>
          </a:p>
        </p:txBody>
      </p:sp>
      <p:sp>
        <p:nvSpPr>
          <p:cNvPr id="10" name="TextBox 9"/>
          <p:cNvSpPr txBox="1"/>
          <p:nvPr/>
        </p:nvSpPr>
        <p:spPr>
          <a:xfrm>
            <a:off x="7068312" y="1088136"/>
            <a:ext cx="4709160" cy="530352"/>
          </a:xfrm>
          <a:prstGeom prst="rect">
            <a:avLst/>
          </a:prstGeom>
          <a:noFill/>
        </p:spPr>
        <p:txBody>
          <a:bodyPr wrap="none">
            <a:spAutoFit/>
          </a:bodyPr>
          <a:lstStyle/>
          <a:p>
            <a:pPr>
              <a:defRPr sz="1500" b="1">
                <a:solidFill>
                  <a:srgbClr val="1B2B41"/>
                </a:solidFill>
                <a:latin typeface="Aptos"/>
              </a:defRPr>
            </a:pPr>
            <a:r>
              <a:t>Objective 2: Identify Scam Patterns</a:t>
            </a:r>
          </a:p>
        </p:txBody>
      </p:sp>
      <p:sp>
        <p:nvSpPr>
          <p:cNvPr id="11" name="TextBox 10"/>
          <p:cNvSpPr txBox="1"/>
          <p:nvPr/>
        </p:nvSpPr>
        <p:spPr>
          <a:xfrm>
            <a:off x="6583680" y="1673352"/>
            <a:ext cx="5166360" cy="1298448"/>
          </a:xfrm>
          <a:prstGeom prst="rect">
            <a:avLst/>
          </a:prstGeom>
          <a:noFill/>
        </p:spPr>
        <p:txBody>
          <a:bodyPr wrap="square">
            <a:spAutoFit/>
          </a:bodyPr>
          <a:lstStyle/>
          <a:p>
            <a:pPr>
              <a:lnSpc>
                <a:spcPct val="105000"/>
              </a:lnSpc>
              <a:defRPr sz="1250">
                <a:solidFill>
                  <a:srgbClr val="46505C"/>
                </a:solidFill>
                <a:latin typeface="Aptos"/>
              </a:defRPr>
            </a:pPr>
            <a:r>
              <a:t>Use NLP techniques to identify common scam indicators such as urgent hiring language, upfront payment requests, poorly written descriptions, unrealistic salaries, and suspicious contact information.</a:t>
            </a:r>
          </a:p>
        </p:txBody>
      </p:sp>
      <p:sp>
        <p:nvSpPr>
          <p:cNvPr id="12" name="Rounded Rectangle 11"/>
          <p:cNvSpPr/>
          <p:nvPr/>
        </p:nvSpPr>
        <p:spPr>
          <a:xfrm>
            <a:off x="502920" y="3383280"/>
            <a:ext cx="5623560" cy="2240280"/>
          </a:xfrm>
          <a:prstGeom prst="roundRect">
            <a:avLst/>
          </a:prstGeom>
          <a:solidFill>
            <a:srgbClr val="F8F9FB"/>
          </a:solidFill>
          <a:ln w="15875">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67512" y="3538728"/>
            <a:ext cx="438912" cy="347472"/>
          </a:xfrm>
          <a:prstGeom prst="roundRect">
            <a:avLst/>
          </a:prstGeom>
          <a:solidFill>
            <a:srgbClr val="1B2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3</a:t>
            </a:r>
          </a:p>
        </p:txBody>
      </p:sp>
      <p:sp>
        <p:nvSpPr>
          <p:cNvPr id="14" name="TextBox 13"/>
          <p:cNvSpPr txBox="1"/>
          <p:nvPr/>
        </p:nvSpPr>
        <p:spPr>
          <a:xfrm>
            <a:off x="1216152" y="3511296"/>
            <a:ext cx="4709160" cy="530352"/>
          </a:xfrm>
          <a:prstGeom prst="rect">
            <a:avLst/>
          </a:prstGeom>
          <a:noFill/>
        </p:spPr>
        <p:txBody>
          <a:bodyPr wrap="none">
            <a:spAutoFit/>
          </a:bodyPr>
          <a:lstStyle/>
          <a:p>
            <a:pPr>
              <a:defRPr sz="1500" b="1">
                <a:solidFill>
                  <a:srgbClr val="1B2B41"/>
                </a:solidFill>
                <a:latin typeface="Aptos"/>
              </a:defRPr>
            </a:pPr>
            <a:r>
              <a:t>Objective 3: Integrate Kenyan Government Verification</a:t>
            </a:r>
          </a:p>
        </p:txBody>
      </p:sp>
      <p:sp>
        <p:nvSpPr>
          <p:cNvPr id="15" name="TextBox 14"/>
          <p:cNvSpPr txBox="1"/>
          <p:nvPr/>
        </p:nvSpPr>
        <p:spPr>
          <a:xfrm>
            <a:off x="731520" y="4096512"/>
            <a:ext cx="5166360" cy="1298448"/>
          </a:xfrm>
          <a:prstGeom prst="rect">
            <a:avLst/>
          </a:prstGeom>
          <a:noFill/>
        </p:spPr>
        <p:txBody>
          <a:bodyPr wrap="square">
            <a:spAutoFit/>
          </a:bodyPr>
          <a:lstStyle/>
          <a:p>
            <a:pPr>
              <a:lnSpc>
                <a:spcPct val="105000"/>
              </a:lnSpc>
              <a:defRPr sz="1250">
                <a:solidFill>
                  <a:srgbClr val="46505C"/>
                </a:solidFill>
                <a:latin typeface="Aptos"/>
              </a:defRPr>
            </a:pPr>
            <a:r>
              <a:t>Verify whether a recruitment agency is licensed, whether the agency appears on government blacklists, and whether the company exists in government records.</a:t>
            </a:r>
          </a:p>
        </p:txBody>
      </p:sp>
      <p:sp>
        <p:nvSpPr>
          <p:cNvPr id="16" name="Rounded Rectangle 15"/>
          <p:cNvSpPr/>
          <p:nvPr/>
        </p:nvSpPr>
        <p:spPr>
          <a:xfrm>
            <a:off x="6355080" y="3383280"/>
            <a:ext cx="5623560" cy="2240280"/>
          </a:xfrm>
          <a:prstGeom prst="roundRect">
            <a:avLst/>
          </a:prstGeom>
          <a:solidFill>
            <a:srgbClr val="F8F9FB"/>
          </a:solidFill>
          <a:ln w="15875">
            <a:solidFill>
              <a:srgbClr val="1B2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3538728"/>
            <a:ext cx="438912" cy="347472"/>
          </a:xfrm>
          <a:prstGeom prst="roundRect">
            <a:avLst/>
          </a:prstGeom>
          <a:solidFill>
            <a:srgbClr val="1B2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4</a:t>
            </a:r>
          </a:p>
        </p:txBody>
      </p:sp>
      <p:sp>
        <p:nvSpPr>
          <p:cNvPr id="18" name="TextBox 17"/>
          <p:cNvSpPr txBox="1"/>
          <p:nvPr/>
        </p:nvSpPr>
        <p:spPr>
          <a:xfrm>
            <a:off x="7068312" y="3511296"/>
            <a:ext cx="4709160" cy="530352"/>
          </a:xfrm>
          <a:prstGeom prst="rect">
            <a:avLst/>
          </a:prstGeom>
          <a:noFill/>
        </p:spPr>
        <p:txBody>
          <a:bodyPr wrap="none">
            <a:spAutoFit/>
          </a:bodyPr>
          <a:lstStyle/>
          <a:p>
            <a:pPr>
              <a:defRPr sz="1500" b="1">
                <a:solidFill>
                  <a:srgbClr val="1B2B41"/>
                </a:solidFill>
                <a:latin typeface="Aptos"/>
              </a:defRPr>
            </a:pPr>
            <a:r>
              <a:t>Objective 4: Explain Predictions</a:t>
            </a:r>
          </a:p>
        </p:txBody>
      </p:sp>
      <p:sp>
        <p:nvSpPr>
          <p:cNvPr id="19" name="TextBox 18"/>
          <p:cNvSpPr txBox="1"/>
          <p:nvPr/>
        </p:nvSpPr>
        <p:spPr>
          <a:xfrm>
            <a:off x="6583680" y="4096512"/>
            <a:ext cx="5166360" cy="1298448"/>
          </a:xfrm>
          <a:prstGeom prst="rect">
            <a:avLst/>
          </a:prstGeom>
          <a:noFill/>
        </p:spPr>
        <p:txBody>
          <a:bodyPr wrap="square">
            <a:spAutoFit/>
          </a:bodyPr>
          <a:lstStyle/>
          <a:p>
            <a:pPr>
              <a:lnSpc>
                <a:spcPct val="105000"/>
              </a:lnSpc>
              <a:defRPr sz="1250">
                <a:solidFill>
                  <a:srgbClr val="46505C"/>
                </a:solidFill>
                <a:latin typeface="Aptos"/>
              </a:defRPr>
            </a:pPr>
            <a:r>
              <a:t>Explain why a posting was flagged with reasons such as an agency not found in the NEA registry, visa-processing fee requests, unrealistic overseas salaries, or urgency phrases such as “Apply Immediately.”</a:t>
            </a:r>
          </a:p>
        </p:txBody>
      </p:sp>
      <p:sp>
        <p:nvSpPr>
          <p:cNvPr id="20" name="TextBox 19"/>
          <p:cNvSpPr txBox="1"/>
          <p:nvPr/>
        </p:nvSpPr>
        <p:spPr>
          <a:xfrm>
            <a:off x="548640" y="6272784"/>
            <a:ext cx="11064240" cy="320040"/>
          </a:xfrm>
          <a:prstGeom prst="rect">
            <a:avLst/>
          </a:prstGeom>
          <a:noFill/>
        </p:spPr>
        <p:txBody>
          <a:bodyPr wrap="none">
            <a:spAutoFit/>
          </a:bodyPr>
          <a:lstStyle/>
          <a:p>
            <a:pPr algn="ctr">
              <a:defRPr sz="950" i="1">
                <a:solidFill>
                  <a:srgbClr val="46505C"/>
                </a:solidFill>
                <a:latin typeface="Aptos"/>
              </a:defRPr>
            </a:pPr>
            <a:r>
              <a:t>The system supports verification and human review; the model output is a decision-support signal, not a final determination.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Stakeholders &amp; Intended Workflow</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10424160" y="411480"/>
            <a:ext cx="594360" cy="594360"/>
          </a:xfrm>
          <a:prstGeom prst="ellipse">
            <a:avLst/>
          </a:prstGeom>
          <a:solidFill>
            <a:srgbClr val="4A6FA5"/>
          </a:solidFill>
          <a:ln/>
        </p:spPr>
      </p:sp>
      <p:pic>
        <p:nvPicPr>
          <p:cNvPr id="4" name="Image 0" descr="preencoded.png"/>
          <p:cNvPicPr>
            <a:picLocks noChangeAspect="1"/>
          </p:cNvPicPr>
          <p:nvPr/>
        </p:nvPicPr>
        <p:blipFill>
          <a:blip r:embed="rId3"/>
          <a:stretch>
            <a:fillRect/>
          </a:stretch>
        </p:blipFill>
        <p:spPr>
          <a:xfrm>
            <a:off x="10588752" y="576072"/>
            <a:ext cx="265176" cy="265176"/>
          </a:xfrm>
          <a:prstGeom prst="rect">
            <a:avLst/>
          </a:prstGeom>
        </p:spPr>
      </p:pic>
      <p:sp>
        <p:nvSpPr>
          <p:cNvPr id="5" name="Shape 2"/>
          <p:cNvSpPr/>
          <p:nvPr/>
        </p:nvSpPr>
        <p:spPr>
          <a:xfrm>
            <a:off x="6080760" y="1485900"/>
            <a:ext cx="9144" cy="1988820"/>
          </a:xfrm>
          <a:prstGeom prst="line">
            <a:avLst/>
          </a:prstGeom>
          <a:noFill/>
          <a:ln w="19050">
            <a:solidFill>
              <a:srgbClr val="E1E6ED"/>
            </a:solidFill>
            <a:prstDash val="solid"/>
          </a:ln>
        </p:spPr>
      </p:sp>
      <p:sp>
        <p:nvSpPr>
          <p:cNvPr id="6" name="Shape 3"/>
          <p:cNvSpPr/>
          <p:nvPr/>
        </p:nvSpPr>
        <p:spPr>
          <a:xfrm flipV="1">
            <a:off x="6080760" y="2766060"/>
            <a:ext cx="3840480" cy="708660"/>
          </a:xfrm>
          <a:prstGeom prst="line">
            <a:avLst/>
          </a:prstGeom>
          <a:noFill/>
          <a:ln w="19050">
            <a:solidFill>
              <a:srgbClr val="E1E6ED"/>
            </a:solidFill>
            <a:prstDash val="solid"/>
          </a:ln>
        </p:spPr>
      </p:sp>
      <p:sp>
        <p:nvSpPr>
          <p:cNvPr id="7" name="Shape 4"/>
          <p:cNvSpPr/>
          <p:nvPr/>
        </p:nvSpPr>
        <p:spPr>
          <a:xfrm>
            <a:off x="6080760" y="3474720"/>
            <a:ext cx="2560320" cy="1851660"/>
          </a:xfrm>
          <a:prstGeom prst="line">
            <a:avLst/>
          </a:prstGeom>
          <a:noFill/>
          <a:ln w="19050">
            <a:solidFill>
              <a:srgbClr val="E1E6ED"/>
            </a:solidFill>
            <a:prstDash val="solid"/>
          </a:ln>
        </p:spPr>
      </p:sp>
      <p:sp>
        <p:nvSpPr>
          <p:cNvPr id="8" name="Shape 5"/>
          <p:cNvSpPr/>
          <p:nvPr/>
        </p:nvSpPr>
        <p:spPr>
          <a:xfrm flipV="1">
            <a:off x="3154680" y="3474720"/>
            <a:ext cx="2926080" cy="1851660"/>
          </a:xfrm>
          <a:prstGeom prst="line">
            <a:avLst/>
          </a:prstGeom>
          <a:noFill/>
          <a:ln w="19050">
            <a:solidFill>
              <a:srgbClr val="E1E6ED"/>
            </a:solidFill>
            <a:prstDash val="solid"/>
          </a:ln>
        </p:spPr>
      </p:sp>
      <p:sp>
        <p:nvSpPr>
          <p:cNvPr id="9" name="Shape 6"/>
          <p:cNvSpPr/>
          <p:nvPr/>
        </p:nvSpPr>
        <p:spPr>
          <a:xfrm>
            <a:off x="1874520" y="2766060"/>
            <a:ext cx="4206240" cy="708660"/>
          </a:xfrm>
          <a:prstGeom prst="line">
            <a:avLst/>
          </a:prstGeom>
          <a:noFill/>
          <a:ln w="19050">
            <a:solidFill>
              <a:srgbClr val="E1E6ED"/>
            </a:solidFill>
            <a:prstDash val="solid"/>
          </a:ln>
        </p:spPr>
      </p:sp>
      <p:sp>
        <p:nvSpPr>
          <p:cNvPr id="10" name="Shape 7"/>
          <p:cNvSpPr/>
          <p:nvPr/>
        </p:nvSpPr>
        <p:spPr>
          <a:xfrm>
            <a:off x="4709160" y="2880360"/>
            <a:ext cx="2743200" cy="1188720"/>
          </a:xfrm>
          <a:prstGeom prst="roundRect">
            <a:avLst>
              <a:gd name="adj" fmla="val 7692"/>
            </a:avLst>
          </a:prstGeom>
          <a:solidFill>
            <a:srgbClr val="1B2A4A"/>
          </a:solidFill>
          <a:ln/>
        </p:spPr>
      </p:sp>
      <p:sp>
        <p:nvSpPr>
          <p:cNvPr id="11" name="Text 8"/>
          <p:cNvSpPr txBox="1"/>
          <p:nvPr/>
        </p:nvSpPr>
        <p:spPr>
          <a:xfrm>
            <a:off x="4800600" y="2880360"/>
            <a:ext cx="256032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Fraud-Risk</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Screening System</a:t>
            </a:r>
            <a:endParaRPr lang="en-US" sz="1300" dirty="0">
              <a:latin typeface="Times New Roman" panose="02020603050405020304" pitchFamily="18" charset="0"/>
              <a:cs typeface="Times New Roman" panose="02020603050405020304" pitchFamily="18" charset="0"/>
            </a:endParaRPr>
          </a:p>
        </p:txBody>
      </p:sp>
      <p:sp>
        <p:nvSpPr>
          <p:cNvPr id="12" name="Shape 9"/>
          <p:cNvSpPr/>
          <p:nvPr/>
        </p:nvSpPr>
        <p:spPr>
          <a:xfrm>
            <a:off x="4343400" y="868680"/>
            <a:ext cx="3474720" cy="1234440"/>
          </a:xfrm>
          <a:prstGeom prst="roundRect">
            <a:avLst>
              <a:gd name="adj" fmla="val 5926"/>
            </a:avLst>
          </a:prstGeom>
          <a:solidFill>
            <a:srgbClr val="FFFFFF"/>
          </a:solidFill>
          <a:ln w="12700">
            <a:solidFill>
              <a:srgbClr val="E1E6ED"/>
            </a:solidFill>
            <a:prstDash val="solid"/>
          </a:ln>
        </p:spPr>
      </p:sp>
      <p:sp>
        <p:nvSpPr>
          <p:cNvPr id="13" name="Text 10"/>
          <p:cNvSpPr txBox="1"/>
          <p:nvPr/>
        </p:nvSpPr>
        <p:spPr>
          <a:xfrm>
            <a:off x="4480560" y="960120"/>
            <a:ext cx="3200400" cy="365760"/>
          </a:xfrm>
          <a:prstGeom prst="rect">
            <a:avLst/>
          </a:prstGeom>
          <a:noFill/>
          <a:ln/>
        </p:spPr>
        <p:txBody>
          <a:bodyPr wrap="square" lIns="0" tIns="0" rIns="0" bIns="0" rtlCol="0" anchor="t"/>
          <a:lstStyle/>
          <a:p>
            <a:pPr marL="0" indent="0">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Primary Users</a:t>
            </a:r>
            <a:endParaRPr lang="en-US" sz="1250" dirty="0">
              <a:latin typeface="Times New Roman" panose="02020603050405020304" pitchFamily="18" charset="0"/>
              <a:cs typeface="Times New Roman" panose="02020603050405020304" pitchFamily="18" charset="0"/>
            </a:endParaRPr>
          </a:p>
        </p:txBody>
      </p:sp>
      <p:sp>
        <p:nvSpPr>
          <p:cNvPr id="14" name="Text 11"/>
          <p:cNvSpPr txBox="1"/>
          <p:nvPr/>
        </p:nvSpPr>
        <p:spPr>
          <a:xfrm>
            <a:off x="4480560" y="1344168"/>
            <a:ext cx="3200400" cy="685800"/>
          </a:xfrm>
          <a:prstGeom prst="rect">
            <a:avLst/>
          </a:prstGeom>
          <a:noFill/>
          <a:ln/>
        </p:spPr>
        <p:txBody>
          <a:bodyPr wrap="square" lIns="0" tIns="0" rIns="0" bIns="0" rtlCol="0" anchor="t"/>
          <a:lstStyle/>
          <a:p>
            <a:pPr marL="0" indent="0">
              <a:buNone/>
            </a:pPr>
            <a:r>
              <a:rPr lang="en-US" sz="1050" dirty="0">
                <a:solidFill>
                  <a:srgbClr val="6B7A8D"/>
                </a:solidFill>
                <a:latin typeface="Times New Roman" panose="02020603050405020304" pitchFamily="18" charset="0"/>
                <a:ea typeface="Calibri" pitchFamily="34" charset="-122"/>
                <a:cs typeface="Times New Roman" panose="02020603050405020304" pitchFamily="18" charset="0"/>
              </a:rPr>
              <a:t>Kenyan job seekers, especially young adults</a:t>
            </a:r>
            <a:endParaRPr lang="en-US" sz="1050" dirty="0">
              <a:latin typeface="Times New Roman" panose="02020603050405020304" pitchFamily="18" charset="0"/>
              <a:cs typeface="Times New Roman" panose="02020603050405020304" pitchFamily="18" charset="0"/>
            </a:endParaRPr>
          </a:p>
        </p:txBody>
      </p:sp>
      <p:sp>
        <p:nvSpPr>
          <p:cNvPr id="15" name="Shape 12"/>
          <p:cNvSpPr/>
          <p:nvPr/>
        </p:nvSpPr>
        <p:spPr>
          <a:xfrm>
            <a:off x="8183880" y="2148840"/>
            <a:ext cx="3474720" cy="1234440"/>
          </a:xfrm>
          <a:prstGeom prst="roundRect">
            <a:avLst>
              <a:gd name="adj" fmla="val 5926"/>
            </a:avLst>
          </a:prstGeom>
          <a:solidFill>
            <a:srgbClr val="FFFFFF"/>
          </a:solidFill>
          <a:ln w="12700">
            <a:solidFill>
              <a:srgbClr val="E1E6ED"/>
            </a:solidFill>
            <a:prstDash val="solid"/>
          </a:ln>
        </p:spPr>
      </p:sp>
      <p:sp>
        <p:nvSpPr>
          <p:cNvPr id="16" name="Text 13"/>
          <p:cNvSpPr txBox="1"/>
          <p:nvPr/>
        </p:nvSpPr>
        <p:spPr>
          <a:xfrm>
            <a:off x="8321040" y="2240280"/>
            <a:ext cx="3200400" cy="365760"/>
          </a:xfrm>
          <a:prstGeom prst="rect">
            <a:avLst/>
          </a:prstGeom>
          <a:noFill/>
          <a:ln/>
        </p:spPr>
        <p:txBody>
          <a:bodyPr wrap="square" lIns="0" tIns="0" rIns="0" bIns="0" rtlCol="0" anchor="t"/>
          <a:lstStyle/>
          <a:p>
            <a:pPr marL="0" indent="0">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Distribution &amp; Data Partners</a:t>
            </a:r>
            <a:endParaRPr lang="en-US" sz="1250" dirty="0">
              <a:latin typeface="Times New Roman" panose="02020603050405020304" pitchFamily="18" charset="0"/>
              <a:cs typeface="Times New Roman" panose="02020603050405020304" pitchFamily="18" charset="0"/>
            </a:endParaRPr>
          </a:p>
        </p:txBody>
      </p:sp>
      <p:sp>
        <p:nvSpPr>
          <p:cNvPr id="17" name="Text 14"/>
          <p:cNvSpPr txBox="1"/>
          <p:nvPr/>
        </p:nvSpPr>
        <p:spPr>
          <a:xfrm>
            <a:off x="8321040" y="2624328"/>
            <a:ext cx="3200400" cy="685800"/>
          </a:xfrm>
          <a:prstGeom prst="rect">
            <a:avLst/>
          </a:prstGeom>
          <a:noFill/>
          <a:ln/>
        </p:spPr>
        <p:txBody>
          <a:bodyPr wrap="square" lIns="0" tIns="0" rIns="0" bIns="0" rtlCol="0" anchor="t"/>
          <a:lstStyle/>
          <a:p>
            <a:pPr marL="0" indent="0">
              <a:buNone/>
            </a:pPr>
            <a:r>
              <a:rPr lang="en-US" sz="1050" dirty="0">
                <a:solidFill>
                  <a:srgbClr val="6B7A8D"/>
                </a:solidFill>
                <a:latin typeface="Times New Roman" panose="02020603050405020304" pitchFamily="18" charset="0"/>
                <a:ea typeface="Calibri" pitchFamily="34" charset="-122"/>
                <a:cs typeface="Times New Roman" panose="02020603050405020304" pitchFamily="18" charset="0"/>
              </a:rPr>
              <a:t>Job boards and recruiters</a:t>
            </a:r>
            <a:endParaRPr lang="en-US" sz="1050" dirty="0">
              <a:latin typeface="Times New Roman" panose="02020603050405020304" pitchFamily="18" charset="0"/>
              <a:cs typeface="Times New Roman" panose="02020603050405020304" pitchFamily="18" charset="0"/>
            </a:endParaRPr>
          </a:p>
        </p:txBody>
      </p:sp>
      <p:sp>
        <p:nvSpPr>
          <p:cNvPr id="18" name="Shape 15"/>
          <p:cNvSpPr/>
          <p:nvPr/>
        </p:nvSpPr>
        <p:spPr>
          <a:xfrm>
            <a:off x="6903720" y="4709160"/>
            <a:ext cx="3474720" cy="1234440"/>
          </a:xfrm>
          <a:prstGeom prst="roundRect">
            <a:avLst>
              <a:gd name="adj" fmla="val 5926"/>
            </a:avLst>
          </a:prstGeom>
          <a:solidFill>
            <a:srgbClr val="FFFFFF"/>
          </a:solidFill>
          <a:ln w="12700">
            <a:solidFill>
              <a:srgbClr val="E1E6ED"/>
            </a:solidFill>
            <a:prstDash val="solid"/>
          </a:ln>
        </p:spPr>
      </p:sp>
      <p:sp>
        <p:nvSpPr>
          <p:cNvPr id="19" name="Text 16"/>
          <p:cNvSpPr txBox="1"/>
          <p:nvPr/>
        </p:nvSpPr>
        <p:spPr>
          <a:xfrm>
            <a:off x="7040880" y="4800600"/>
            <a:ext cx="3200400" cy="365760"/>
          </a:xfrm>
          <a:prstGeom prst="rect">
            <a:avLst/>
          </a:prstGeom>
          <a:noFill/>
          <a:ln/>
        </p:spPr>
        <p:txBody>
          <a:bodyPr wrap="square" lIns="0" tIns="0" rIns="0" bIns="0" rtlCol="0" anchor="t"/>
          <a:lstStyle/>
          <a:p>
            <a:pPr marL="0" indent="0">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Public-Sector Partners</a:t>
            </a:r>
            <a:endParaRPr lang="en-US" sz="1250" dirty="0">
              <a:latin typeface="Times New Roman" panose="02020603050405020304" pitchFamily="18" charset="0"/>
              <a:cs typeface="Times New Roman" panose="02020603050405020304" pitchFamily="18" charset="0"/>
            </a:endParaRPr>
          </a:p>
        </p:txBody>
      </p:sp>
      <p:sp>
        <p:nvSpPr>
          <p:cNvPr id="20" name="Text 17"/>
          <p:cNvSpPr txBox="1"/>
          <p:nvPr/>
        </p:nvSpPr>
        <p:spPr>
          <a:xfrm>
            <a:off x="7040880" y="5184648"/>
            <a:ext cx="3200400" cy="685800"/>
          </a:xfrm>
          <a:prstGeom prst="rect">
            <a:avLst/>
          </a:prstGeom>
          <a:noFill/>
          <a:ln/>
        </p:spPr>
        <p:txBody>
          <a:bodyPr wrap="square" lIns="0" tIns="0" rIns="0" bIns="0" rtlCol="0" anchor="t"/>
          <a:lstStyle/>
          <a:p>
            <a:pPr marL="0" indent="0">
              <a:buNone/>
            </a:pPr>
            <a:r>
              <a:rPr lang="en-US" sz="1050" dirty="0">
                <a:solidFill>
                  <a:srgbClr val="6B7A8D"/>
                </a:solidFill>
                <a:latin typeface="Times New Roman" panose="02020603050405020304" pitchFamily="18" charset="0"/>
                <a:ea typeface="Calibri" pitchFamily="34" charset="-122"/>
                <a:cs typeface="Times New Roman" panose="02020603050405020304" pitchFamily="18" charset="0"/>
              </a:rPr>
              <a:t>NEA, Ministry of Labour, DCI, and related agencies</a:t>
            </a:r>
            <a:endParaRPr lang="en-US" sz="1050" dirty="0">
              <a:latin typeface="Times New Roman" panose="02020603050405020304" pitchFamily="18" charset="0"/>
              <a:cs typeface="Times New Roman" panose="02020603050405020304" pitchFamily="18" charset="0"/>
            </a:endParaRPr>
          </a:p>
        </p:txBody>
      </p:sp>
      <p:sp>
        <p:nvSpPr>
          <p:cNvPr id="21" name="Shape 18"/>
          <p:cNvSpPr/>
          <p:nvPr/>
        </p:nvSpPr>
        <p:spPr>
          <a:xfrm>
            <a:off x="1417320" y="4709160"/>
            <a:ext cx="3474720" cy="1234440"/>
          </a:xfrm>
          <a:prstGeom prst="roundRect">
            <a:avLst>
              <a:gd name="adj" fmla="val 5926"/>
            </a:avLst>
          </a:prstGeom>
          <a:solidFill>
            <a:srgbClr val="FFFFFF"/>
          </a:solidFill>
          <a:ln w="12700">
            <a:solidFill>
              <a:srgbClr val="E1E6ED"/>
            </a:solidFill>
            <a:prstDash val="solid"/>
          </a:ln>
        </p:spPr>
      </p:sp>
      <p:sp>
        <p:nvSpPr>
          <p:cNvPr id="22" name="Text 19"/>
          <p:cNvSpPr txBox="1"/>
          <p:nvPr/>
        </p:nvSpPr>
        <p:spPr>
          <a:xfrm>
            <a:off x="1554480" y="4800600"/>
            <a:ext cx="3200400" cy="365760"/>
          </a:xfrm>
          <a:prstGeom prst="rect">
            <a:avLst/>
          </a:prstGeom>
          <a:noFill/>
          <a:ln/>
        </p:spPr>
        <p:txBody>
          <a:bodyPr wrap="square" lIns="0" tIns="0" rIns="0" bIns="0" rtlCol="0" anchor="t"/>
          <a:lstStyle/>
          <a:p>
            <a:pPr marL="0" indent="0">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Community Channels</a:t>
            </a:r>
            <a:endParaRPr lang="en-US" sz="1250" dirty="0">
              <a:latin typeface="Times New Roman" panose="02020603050405020304" pitchFamily="18" charset="0"/>
              <a:cs typeface="Times New Roman" panose="02020603050405020304" pitchFamily="18" charset="0"/>
            </a:endParaRPr>
          </a:p>
        </p:txBody>
      </p:sp>
      <p:sp>
        <p:nvSpPr>
          <p:cNvPr id="23" name="Text 20"/>
          <p:cNvSpPr txBox="1"/>
          <p:nvPr/>
        </p:nvSpPr>
        <p:spPr>
          <a:xfrm>
            <a:off x="1554480" y="5184648"/>
            <a:ext cx="3200400" cy="685800"/>
          </a:xfrm>
          <a:prstGeom prst="rect">
            <a:avLst/>
          </a:prstGeom>
          <a:noFill/>
          <a:ln/>
        </p:spPr>
        <p:txBody>
          <a:bodyPr wrap="square" lIns="0" tIns="0" rIns="0" bIns="0" rtlCol="0" anchor="t"/>
          <a:lstStyle/>
          <a:p>
            <a:pPr marL="0" indent="0">
              <a:buNone/>
            </a:pPr>
            <a:r>
              <a:rPr lang="en-US" sz="1050" dirty="0">
                <a:solidFill>
                  <a:srgbClr val="6B7A8D"/>
                </a:solidFill>
                <a:latin typeface="Times New Roman" panose="02020603050405020304" pitchFamily="18" charset="0"/>
                <a:ea typeface="Calibri" pitchFamily="34" charset="-122"/>
                <a:cs typeface="Times New Roman" panose="02020603050405020304" pitchFamily="18" charset="0"/>
              </a:rPr>
              <a:t>County governments and TVET career services</a:t>
            </a:r>
            <a:endParaRPr lang="en-US" sz="1050" dirty="0">
              <a:latin typeface="Times New Roman" panose="02020603050405020304" pitchFamily="18" charset="0"/>
              <a:cs typeface="Times New Roman" panose="02020603050405020304" pitchFamily="18" charset="0"/>
            </a:endParaRPr>
          </a:p>
        </p:txBody>
      </p:sp>
      <p:sp>
        <p:nvSpPr>
          <p:cNvPr id="24" name="Shape 21"/>
          <p:cNvSpPr/>
          <p:nvPr/>
        </p:nvSpPr>
        <p:spPr>
          <a:xfrm>
            <a:off x="137160" y="2148840"/>
            <a:ext cx="3474720" cy="1234440"/>
          </a:xfrm>
          <a:prstGeom prst="roundRect">
            <a:avLst>
              <a:gd name="adj" fmla="val 5926"/>
            </a:avLst>
          </a:prstGeom>
          <a:solidFill>
            <a:srgbClr val="FFFFFF"/>
          </a:solidFill>
          <a:ln w="12700">
            <a:solidFill>
              <a:srgbClr val="E1E6ED"/>
            </a:solidFill>
            <a:prstDash val="solid"/>
          </a:ln>
        </p:spPr>
      </p:sp>
      <p:sp>
        <p:nvSpPr>
          <p:cNvPr id="25" name="Text 22"/>
          <p:cNvSpPr txBox="1"/>
          <p:nvPr/>
        </p:nvSpPr>
        <p:spPr>
          <a:xfrm>
            <a:off x="274320" y="2240280"/>
            <a:ext cx="3200400" cy="365760"/>
          </a:xfrm>
          <a:prstGeom prst="rect">
            <a:avLst/>
          </a:prstGeom>
          <a:noFill/>
          <a:ln/>
        </p:spPr>
        <p:txBody>
          <a:bodyPr wrap="square" lIns="0" tIns="0" rIns="0" bIns="0" rtlCol="0" anchor="t"/>
          <a:lstStyle/>
          <a:p>
            <a:pPr marL="0" indent="0">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Beneficiaries</a:t>
            </a:r>
            <a:endParaRPr lang="en-US" sz="1250" dirty="0">
              <a:latin typeface="Times New Roman" panose="02020603050405020304" pitchFamily="18" charset="0"/>
              <a:cs typeface="Times New Roman" panose="02020603050405020304" pitchFamily="18" charset="0"/>
            </a:endParaRPr>
          </a:p>
        </p:txBody>
      </p:sp>
      <p:sp>
        <p:nvSpPr>
          <p:cNvPr id="26" name="Text 23"/>
          <p:cNvSpPr txBox="1"/>
          <p:nvPr/>
        </p:nvSpPr>
        <p:spPr>
          <a:xfrm>
            <a:off x="274320" y="2624328"/>
            <a:ext cx="3200400" cy="685800"/>
          </a:xfrm>
          <a:prstGeom prst="rect">
            <a:avLst/>
          </a:prstGeom>
          <a:noFill/>
          <a:ln/>
        </p:spPr>
        <p:txBody>
          <a:bodyPr wrap="square" lIns="0" tIns="0" rIns="0" bIns="0" rtlCol="0" anchor="t"/>
          <a:lstStyle/>
          <a:p>
            <a:pPr marL="0" indent="0">
              <a:buNone/>
            </a:pPr>
            <a:r>
              <a:rPr lang="en-US" sz="1050" dirty="0">
                <a:solidFill>
                  <a:srgbClr val="6B7A8D"/>
                </a:solidFill>
                <a:latin typeface="Times New Roman" panose="02020603050405020304" pitchFamily="18" charset="0"/>
                <a:ea typeface="Calibri" pitchFamily="34" charset="-122"/>
                <a:cs typeface="Times New Roman" panose="02020603050405020304" pitchFamily="18" charset="0"/>
              </a:rPr>
              <a:t>Legitimate employers and agencies</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Data Sources &amp; Labeling Strategy</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10424160" y="411480"/>
            <a:ext cx="594360" cy="594360"/>
          </a:xfrm>
          <a:prstGeom prst="ellipse">
            <a:avLst/>
          </a:prstGeom>
          <a:solidFill>
            <a:srgbClr val="4A6FA5"/>
          </a:solidFill>
          <a:ln/>
        </p:spPr>
        <p:txBody>
          <a:bodyPr/>
          <a:p/>
        </p:txBody>
      </p:sp>
      <p:pic>
        <p:nvPicPr>
          <p:cNvPr id="4" name="Image 0" descr="preencoded.png"/>
          <p:cNvPicPr>
            <a:picLocks noChangeAspect="1"/>
          </p:cNvPicPr>
          <p:nvPr/>
        </p:nvPicPr>
        <p:blipFill>
          <a:blip r:embed="rId3"/>
          <a:stretch>
            <a:fillRect/>
          </a:stretch>
        </p:blipFill>
        <p:spPr>
          <a:xfrm>
            <a:off x="10588752" y="576072"/>
            <a:ext cx="265176" cy="265176"/>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291840"/>
        </p:xfrm>
        <a:graphic>
          <a:graphicData uri="http://schemas.openxmlformats.org/drawingml/2006/table">
            <a:tbl>
              <a:tblPr/>
              <a:tblGrid>
                <a:gridCol w="48463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 group</a:t>
                      </a:r>
                      <a:endParaRPr lang="en-US" sz="12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Approx. original size</a:t>
                      </a:r>
                      <a:endParaRPr lang="en-US" sz="12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Label status</a:t>
                      </a:r>
                      <a:endParaRPr lang="en-US" sz="12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Fake Job Postings / EMSCAD</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17,880</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Real fraud labels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Fuzu Kenya</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666</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Unlabeled scraped postings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PigiaMe Kenya</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1,500</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Unlabeled scraped postings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Corporate Staffing Kenya</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3,988</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Unlabeled scraped postings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BrighterMonday Kenya</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1,964</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Unlabeled scraped postings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JobWeb Kenya</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5,323</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Unlabeled scraped postings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6"/>
                  </a:ext>
                </a:extLst>
              </a:tr>
              <a:tr h="411480">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Synthetic Kenya-market data (two files)</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44,990 (40,000 + 4,990)</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50" dirty="0">
                          <a:solidFill>
                            <a:srgbClr val="33414F"/>
                          </a:solidFill>
                          <a:latin typeface="Calibri" pitchFamily="34" charset="0"/>
                          <a:ea typeface="Calibri" pitchFamily="34" charset="-122"/>
                          <a:cs typeface="Calibri" pitchFamily="34" charset="-120"/>
                        </a:rPr>
                        <a:t>Generated labels (0/1/2)</a:t>
                      </a:r>
                      <a:endParaRPr lang="en-US" sz="115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2"/>
          <p:cNvSpPr/>
          <p:nvPr/>
        </p:nvSpPr>
        <p:spPr>
          <a:xfrm>
            <a:off x="548640" y="4892040"/>
            <a:ext cx="2606040" cy="1051560"/>
          </a:xfrm>
          <a:prstGeom prst="roundRect">
            <a:avLst>
              <a:gd name="adj" fmla="val 6957"/>
            </a:avLst>
          </a:prstGeom>
          <a:solidFill>
            <a:srgbClr val="1B2A4A"/>
          </a:solidFill>
          <a:ln/>
        </p:spPr>
        <p:txBody>
          <a:bodyPr/>
          <a:p/>
        </p:txBody>
      </p:sp>
      <p:sp>
        <p:nvSpPr>
          <p:cNvPr id="5" name="Text 3"/>
          <p:cNvSpPr txBox="1"/>
          <p:nvPr/>
        </p:nvSpPr>
        <p:spPr>
          <a:xfrm>
            <a:off x="548640" y="4983480"/>
            <a:ext cx="26060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76,311</a:t>
            </a:r>
            <a:endParaRPr lang="en-US" sz="2200" dirty="0">
              <a:latin typeface="Times New Roman" panose="02020603050405020304" pitchFamily="18" charset="0"/>
              <a:cs typeface="Times New Roman" panose="02020603050405020304" pitchFamily="18" charset="0"/>
            </a:endParaRPr>
          </a:p>
        </p:txBody>
      </p:sp>
      <p:sp>
        <p:nvSpPr>
          <p:cNvPr id="8" name="Text 4"/>
          <p:cNvSpPr txBox="1"/>
          <p:nvPr/>
        </p:nvSpPr>
        <p:spPr>
          <a:xfrm>
            <a:off x="640080" y="5468112"/>
            <a:ext cx="2423160" cy="411480"/>
          </a:xfrm>
          <a:prstGeom prst="rect">
            <a:avLst/>
          </a:prstGeom>
          <a:noFill/>
          <a:ln/>
        </p:spPr>
        <p:txBody>
          <a:bodyPr wrap="square" lIns="0" tIns="0" rIns="0" bIns="0" rtlCol="0" anchor="ctr"/>
          <a:lstStyle/>
          <a:p>
            <a:pPr marL="0" indent="0" algn="ctr">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Records after merging</a:t>
            </a:r>
            <a:endParaRPr lang="en-US" sz="950" dirty="0">
              <a:latin typeface="Times New Roman" panose="02020603050405020304" pitchFamily="18" charset="0"/>
              <a:cs typeface="Times New Roman" panose="02020603050405020304" pitchFamily="18" charset="0"/>
            </a:endParaRPr>
          </a:p>
        </p:txBody>
      </p:sp>
      <p:sp>
        <p:nvSpPr>
          <p:cNvPr id="9" name="Shape 5"/>
          <p:cNvSpPr/>
          <p:nvPr/>
        </p:nvSpPr>
        <p:spPr>
          <a:xfrm>
            <a:off x="3291840" y="4892040"/>
            <a:ext cx="2606040" cy="1051560"/>
          </a:xfrm>
          <a:prstGeom prst="roundRect">
            <a:avLst>
              <a:gd name="adj" fmla="val 6957"/>
            </a:avLst>
          </a:prstGeom>
          <a:solidFill>
            <a:srgbClr val="1B2A4A"/>
          </a:solidFill>
          <a:ln/>
        </p:spPr>
        <p:txBody>
          <a:bodyPr/>
          <a:p/>
        </p:txBody>
      </p:sp>
      <p:sp>
        <p:nvSpPr>
          <p:cNvPr id="10" name="Text 6"/>
          <p:cNvSpPr txBox="1"/>
          <p:nvPr/>
        </p:nvSpPr>
        <p:spPr>
          <a:xfrm>
            <a:off x="3291840" y="4983480"/>
            <a:ext cx="2606040" cy="502920"/>
          </a:xfrm>
          <a:prstGeom prst="rect">
            <a:avLst/>
          </a:prstGeom>
          <a:noFill/>
          <a:ln/>
        </p:spPr>
        <p:txBody>
          <a:bodyPr wrap="square" lIns="0" tIns="0" rIns="0" bIns="0" rtlCol="0" anchor="ctr"/>
          <a:lstStyle/>
          <a:p>
            <a:pPr marL="0" indent="0" algn="ctr">
              <a:buNone/>
            </a:pPr>
            <a:r>
              <a:rPr lang="en-US" sz="2200" b="1" dirty="0">
                <a:solidFill>
                  <a:srgbClr val="FF8A75"/>
                </a:solidFill>
                <a:latin typeface="Times New Roman" panose="02020603050405020304" pitchFamily="18" charset="0"/>
                <a:ea typeface="Cambria" pitchFamily="34" charset="-122"/>
                <a:cs typeface="Times New Roman" panose="02020603050405020304" pitchFamily="18" charset="0"/>
              </a:rPr>
              <a:t>−5,031</a:t>
            </a:r>
            <a:endParaRPr lang="en-US" sz="2200" dirty="0">
              <a:latin typeface="Times New Roman" panose="02020603050405020304" pitchFamily="18" charset="0"/>
              <a:cs typeface="Times New Roman" panose="02020603050405020304" pitchFamily="18" charset="0"/>
            </a:endParaRPr>
          </a:p>
        </p:txBody>
      </p:sp>
      <p:sp>
        <p:nvSpPr>
          <p:cNvPr id="11" name="Text 7"/>
          <p:cNvSpPr txBox="1"/>
          <p:nvPr/>
        </p:nvSpPr>
        <p:spPr>
          <a:xfrm>
            <a:off x="3383280" y="5468112"/>
            <a:ext cx="2423160" cy="411480"/>
          </a:xfrm>
          <a:prstGeom prst="rect">
            <a:avLst/>
          </a:prstGeom>
          <a:noFill/>
          <a:ln/>
        </p:spPr>
        <p:txBody>
          <a:bodyPr wrap="square" lIns="0" tIns="0" rIns="0" bIns="0" rtlCol="0" anchor="ctr"/>
          <a:lstStyle/>
          <a:p>
            <a:pPr marL="0" indent="0" algn="ctr">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Duplicate rows removed</a:t>
            </a:r>
            <a:endParaRPr lang="en-US" sz="950" dirty="0">
              <a:latin typeface="Times New Roman" panose="02020603050405020304" pitchFamily="18" charset="0"/>
              <a:cs typeface="Times New Roman" panose="02020603050405020304" pitchFamily="18" charset="0"/>
            </a:endParaRPr>
          </a:p>
        </p:txBody>
      </p:sp>
      <p:sp>
        <p:nvSpPr>
          <p:cNvPr id="12" name="Shape 8"/>
          <p:cNvSpPr/>
          <p:nvPr/>
        </p:nvSpPr>
        <p:spPr>
          <a:xfrm>
            <a:off x="6035040" y="4892040"/>
            <a:ext cx="2606040" cy="1051560"/>
          </a:xfrm>
          <a:prstGeom prst="roundRect">
            <a:avLst>
              <a:gd name="adj" fmla="val 6957"/>
            </a:avLst>
          </a:prstGeom>
          <a:solidFill>
            <a:srgbClr val="1B2A4A"/>
          </a:solidFill>
          <a:ln/>
        </p:spPr>
        <p:txBody>
          <a:bodyPr/>
          <a:p/>
        </p:txBody>
      </p:sp>
      <p:sp>
        <p:nvSpPr>
          <p:cNvPr id="13" name="Text 9"/>
          <p:cNvSpPr txBox="1"/>
          <p:nvPr/>
        </p:nvSpPr>
        <p:spPr>
          <a:xfrm>
            <a:off x="6035040" y="4983480"/>
            <a:ext cx="26060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71,280</a:t>
            </a:r>
            <a:endParaRPr lang="en-US" sz="2200" dirty="0">
              <a:latin typeface="Times New Roman" panose="02020603050405020304" pitchFamily="18" charset="0"/>
              <a:cs typeface="Times New Roman" panose="02020603050405020304" pitchFamily="18" charset="0"/>
            </a:endParaRPr>
          </a:p>
        </p:txBody>
      </p:sp>
      <p:sp>
        <p:nvSpPr>
          <p:cNvPr id="14" name="Text 10"/>
          <p:cNvSpPr txBox="1"/>
          <p:nvPr/>
        </p:nvSpPr>
        <p:spPr>
          <a:xfrm>
            <a:off x="6126480" y="5468112"/>
            <a:ext cx="2423160" cy="411480"/>
          </a:xfrm>
          <a:prstGeom prst="rect">
            <a:avLst/>
          </a:prstGeom>
          <a:noFill/>
          <a:ln/>
        </p:spPr>
        <p:txBody>
          <a:bodyPr wrap="square" lIns="0" tIns="0" rIns="0" bIns="0" rtlCol="0" anchor="ctr"/>
          <a:lstStyle/>
          <a:p>
            <a:pPr marL="0" indent="0" algn="ctr">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Final records</a:t>
            </a:r>
            <a:endParaRPr lang="en-US" sz="950" dirty="0">
              <a:latin typeface="Times New Roman" panose="02020603050405020304" pitchFamily="18" charset="0"/>
              <a:cs typeface="Times New Roman" panose="02020603050405020304" pitchFamily="18" charset="0"/>
            </a:endParaRPr>
          </a:p>
        </p:txBody>
      </p:sp>
      <p:sp>
        <p:nvSpPr>
          <p:cNvPr id="15" name="Shape 11"/>
          <p:cNvSpPr/>
          <p:nvPr/>
        </p:nvSpPr>
        <p:spPr>
          <a:xfrm>
            <a:off x="8778240" y="4892040"/>
            <a:ext cx="2606040" cy="1051560"/>
          </a:xfrm>
          <a:prstGeom prst="roundRect">
            <a:avLst>
              <a:gd name="adj" fmla="val 6957"/>
            </a:avLst>
          </a:prstGeom>
          <a:solidFill>
            <a:srgbClr val="1B2A4A"/>
          </a:solidFill>
          <a:ln/>
        </p:spPr>
        <p:txBody>
          <a:bodyPr/>
          <a:p/>
        </p:txBody>
      </p:sp>
      <p:sp>
        <p:nvSpPr>
          <p:cNvPr id="16" name="Text 12"/>
          <p:cNvSpPr txBox="1"/>
          <p:nvPr/>
        </p:nvSpPr>
        <p:spPr>
          <a:xfrm>
            <a:off x="8778240" y="4983480"/>
            <a:ext cx="26060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58,225 / 13,055</a:t>
            </a:r>
            <a:endParaRPr lang="en-US" sz="2200" dirty="0">
              <a:latin typeface="Times New Roman" panose="02020603050405020304" pitchFamily="18" charset="0"/>
              <a:cs typeface="Times New Roman" panose="02020603050405020304" pitchFamily="18" charset="0"/>
            </a:endParaRPr>
          </a:p>
        </p:txBody>
      </p:sp>
      <p:sp>
        <p:nvSpPr>
          <p:cNvPr id="17" name="Text 13"/>
          <p:cNvSpPr txBox="1"/>
          <p:nvPr/>
        </p:nvSpPr>
        <p:spPr>
          <a:xfrm>
            <a:off x="8869680" y="5468112"/>
            <a:ext cx="2423160" cy="411480"/>
          </a:xfrm>
          <a:prstGeom prst="rect">
            <a:avLst/>
          </a:prstGeom>
          <a:noFill/>
          <a:ln/>
        </p:spPr>
        <p:txBody>
          <a:bodyPr wrap="square" lIns="0" tIns="0" rIns="0" bIns="0" rtlCol="0" anchor="ctr"/>
          <a:lstStyle/>
          <a:p>
            <a:pPr marL="0" indent="0" algn="ctr">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Labelled / Unlabelled</a:t>
            </a:r>
            <a:endParaRPr lang="en-US" sz="950" dirty="0">
              <a:latin typeface="Times New Roman" panose="02020603050405020304" pitchFamily="18" charset="0"/>
              <a:cs typeface="Times New Roman" panose="02020603050405020304" pitchFamily="18" charset="0"/>
            </a:endParaRPr>
          </a:p>
        </p:txBody>
      </p:sp>
      <p:sp>
        <p:nvSpPr>
          <p:cNvPr id="18" name="Text 14"/>
          <p:cNvSpPr txBox="1"/>
          <p:nvPr/>
        </p:nvSpPr>
        <p:spPr>
          <a:xfrm>
            <a:off x="548640" y="6080760"/>
            <a:ext cx="11064240" cy="548640"/>
          </a:xfrm>
          <a:prstGeom prst="rect">
            <a:avLst/>
          </a:prstGeom>
          <a:noFill/>
          <a:ln/>
        </p:spPr>
        <p:txBody>
          <a:bodyPr wrap="square" lIns="0" tIns="0" rIns="0" bIns="0" rtlCol="0" anchor="ctr"/>
          <a:lstStyle/>
          <a:p>
            <a:pPr marL="0" indent="0">
              <a:buNone/>
            </a:pPr>
            <a:r>
              <a:rPr lang="en-US" sz="1100" i="1" dirty="0">
                <a:solidFill>
                  <a:srgbClr val="6B7A8D"/>
                </a:solidFill>
                <a:latin typeface="Times New Roman" panose="02020603050405020304" pitchFamily="18" charset="0"/>
                <a:ea typeface="Calibri" pitchFamily="34" charset="-122"/>
                <a:cs typeface="Times New Roman" panose="02020603050405020304" pitchFamily="18" charset="0"/>
              </a:rPr>
              <a:t>Scraped Kenyan posts were not treated as legitimate. They stay unlabelled. Of the 58,225 labelled rows, 15,537 are real (EMSCAD) and 42,688 are synthetic.</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640080" y="1234440"/>
            <a:ext cx="3840480" cy="1143000"/>
          </a:xfrm>
          <a:prstGeom prst="rect">
            <a:avLst/>
          </a:prstGeom>
          <a:noFill/>
        </p:spPr>
        <p:txBody>
          <a:bodyPr wrap="square">
            <a:spAutoFit/>
          </a:bodyPr>
          <a:lstStyle/>
          <a:p>
            <a:pPr>
              <a:defRPr sz="1700" b="0"/>
            </a:pPr>
            <a:r>
              <a:t>What it shows</a:t>
            </a:r>
            <a:br/>
            <a:r>
              <a:t>• Legitimate: 40,097</a:t>
            </a:r>
            <a:br/>
            <a:r>
              <a:t>• Fraud-risk: 18,128 (Suspicious + Fraudulent)</a:t>
            </a:r>
            <a:br/>
            <a:r>
              <a:t>• Real data (EMSCAD): only 4% is fraud-risk</a:t>
            </a:r>
            <a:br/>
            <a:r>
              <a:t>• Synthetic data: 41% is fraud-risk</a:t>
            </a:r>
            <a:br/>
            <a:r>
              <a:t>• The two sources are very different, so the model learns from real data only</a:t>
            </a:r>
          </a:p>
        </p:txBody>
      </p:sp>
      <p:pic>
        <p:nvPicPr>
          <p:cNvPr id="3" name="Picture 2" descr="binary_class_distribution.png"/>
          <p:cNvPicPr>
            <a:picLocks noChangeAspect="1"/>
          </p:cNvPicPr>
          <p:nvPr/>
        </p:nvPicPr>
        <p:blipFill>
          <a:blip r:embed="rId3"/>
          <a:stretch>
            <a:fillRect/>
          </a:stretch>
        </p:blipFill>
        <p:spPr>
          <a:xfrm>
            <a:off x="4572000" y="292100"/>
            <a:ext cx="6949440" cy="4721474"/>
          </a:xfrm>
          <a:prstGeom prst="rect">
            <a:avLst/>
          </a:prstGeom>
        </p:spPr>
      </p:pic>
      <p:sp>
        <p:nvSpPr>
          <p:cNvPr id="40" name="Title Text"/>
          <p:cNvSpPr txBox="1"/>
          <p:nvPr/>
        </p:nvSpPr>
        <p:spPr>
          <a:xfrm>
            <a:off x="548640" y="411480"/>
            <a:ext cx="3931920" cy="685800"/>
          </a:xfrm>
          <a:prstGeom prst="rect">
            <a:avLst/>
          </a:prstGeom>
          <a:noFill/>
          <a:ln/>
        </p:spPr>
        <p:txBody>
          <a:bodyPr wrap="square" lIns="0" tIns="0" rIns="0" bIns="0" rtlCol="0" anchor="t"/>
          <a:lstStyle/>
          <a:p>
            <a:pPr marL="0" indent="0">
              <a:buNone/>
            </a:pPr>
            <a:r>
              <a:rPr lang="en-US" sz="2200" b="1" dirty="0">
                <a:solidFill>
                  <a:srgbClr val="1B2A4A"/>
                </a:solidFill>
                <a:latin typeface="Times New Roman" panose="02020603050405020304" pitchFamily="18" charset="0"/>
                <a:ea typeface="Cambria" pitchFamily="34" charset="-122"/>
                <a:cs typeface="Times New Roman" panose="02020603050405020304" pitchFamily="18" charset="0"/>
              </a:rPr>
              <a:t>Class Balance by Source</a:t>
            </a:r>
            <a:endParaRPr lang="en-US" sz="3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640080" y="1143000"/>
            <a:ext cx="3794760" cy="5074920"/>
          </a:xfrm>
          <a:prstGeom prst="rect">
            <a:avLst/>
          </a:prstGeom>
          <a:noFill/>
        </p:spPr>
        <p:txBody>
          <a:bodyPr wrap="square" lIns="0" rIns="0" tIns="0" bIns="0">
            <a:spAutoFit/>
          </a:bodyPr>
          <a:lstStyle/>
          <a:p>
            <a:pPr>
              <a:spcAft>
                <a:spcPts val="700"/>
              </a:spcAft>
              <a:defRPr sz="1900" b="1">
                <a:solidFill>
                  <a:srgbClr val="1E3455"/>
                </a:solidFill>
                <a:latin typeface="Aptos"/>
              </a:defRPr>
            </a:pPr>
            <a:r>
              <a:t>What the EDA found</a:t>
            </a:r>
          </a:p>
          <a:p>
            <a:pPr>
              <a:lnSpc>
                <a:spcPct val="100000"/>
              </a:lnSpc>
              <a:spcAft>
                <a:spcPts val="500"/>
              </a:spcAft>
              <a:defRPr sz="1450">
                <a:solidFill>
                  <a:srgbClr val="1E1E1E"/>
                </a:solidFill>
                <a:latin typeface="Aptos"/>
              </a:defRPr>
            </a:pPr>
            <a:r>
              <a:t>• company_profile: 69.32% Legitimate • 100% Suspicious • 96.61% Fraudulent missing. This field is specific to EMSCAD.</a:t>
            </a:r>
          </a:p>
          <a:p>
            <a:pPr>
              <a:lnSpc>
                <a:spcPct val="100000"/>
              </a:lnSpc>
              <a:spcAft>
                <a:spcPts val="500"/>
              </a:spcAft>
              <a:defRPr sz="1450">
                <a:solidFill>
                  <a:srgbClr val="1E1E1E"/>
                </a:solidFill>
                <a:latin typeface="Aptos"/>
              </a:defRPr>
            </a:pPr>
            <a:r>
              <a:t>• salary_range: 37.34% Legitimate • 4.00% Suspicious • 11.02% Fraudulent missing.</a:t>
            </a:r>
          </a:p>
          <a:p>
            <a:pPr>
              <a:lnSpc>
                <a:spcPct val="100000"/>
              </a:lnSpc>
              <a:spcAft>
                <a:spcPts val="500"/>
              </a:spcAft>
              <a:defRPr sz="1450">
                <a:solidFill>
                  <a:srgbClr val="1E1E1E"/>
                </a:solidFill>
                <a:latin typeface="Aptos"/>
              </a:defRPr>
            </a:pPr>
            <a:r>
              <a:t>• requirements: 11.51% Legitimate • 4.00% Suspicious • 5.32% Fraudulent missing.</a:t>
            </a:r>
          </a:p>
          <a:p>
            <a:pPr>
              <a:lnSpc>
                <a:spcPct val="100000"/>
              </a:lnSpc>
              <a:spcAft>
                <a:spcPts val="500"/>
              </a:spcAft>
              <a:defRPr sz="1450">
                <a:solidFill>
                  <a:srgbClr val="1E1E1E"/>
                </a:solidFill>
                <a:latin typeface="Aptos"/>
              </a:defRPr>
            </a:pPr>
            <a:r>
              <a:t>• description length: Average: 631 chars Legitimate, 259 Suspicious, 284 Fraudulent — mainly a source difference.</a:t>
            </a:r>
          </a:p>
          <a:p>
            <a:pPr>
              <a:lnSpc>
                <a:spcPct val="100000"/>
              </a:lnSpc>
              <a:spcAft>
                <a:spcPts val="500"/>
              </a:spcAft>
              <a:defRPr sz="1450">
                <a:solidFill>
                  <a:srgbClr val="1E1E1E"/>
                </a:solidFill>
                <a:latin typeface="Aptos"/>
              </a:defRPr>
            </a:pPr>
            <a:r>
              <a:t>• other source clues: Company, work type, experience level, location and industry also vary by source.</a:t>
            </a:r>
          </a:p>
          <a:p>
            <a:pPr>
              <a:spcBef>
                <a:spcPts val="200"/>
              </a:spcBef>
              <a:defRPr sz="1500" b="1">
                <a:solidFill>
                  <a:srgbClr val="B83C32"/>
                </a:solidFill>
                <a:latin typeface="Aptos"/>
              </a:defRPr>
            </a:pPr>
            <a:r>
              <a:t>Decision: exclude these provenance signals from predictive modelling.</a:t>
            </a:r>
          </a:p>
        </p:txBody>
      </p:sp>
      <p:pic>
        <p:nvPicPr>
          <p:cNvPr id="3" name="Picture 2" descr="binary_description_length.png"/>
          <p:cNvPicPr>
            <a:picLocks noChangeAspect="1"/>
          </p:cNvPicPr>
          <p:nvPr/>
        </p:nvPicPr>
        <p:blipFill>
          <a:blip r:embed="rId3"/>
          <a:stretch>
            <a:fillRect/>
          </a:stretch>
        </p:blipFill>
        <p:spPr>
          <a:xfrm>
            <a:off x="4545333" y="1132840"/>
            <a:ext cx="7124700" cy="4772660"/>
          </a:xfrm>
          <a:prstGeom prst="rect">
            <a:avLst/>
          </a:prstGeom>
        </p:spPr>
      </p:pic>
      <p:sp>
        <p:nvSpPr>
          <p:cNvPr id="40" name="Title Text"/>
          <p:cNvSpPr txBox="1"/>
          <p:nvPr/>
        </p:nvSpPr>
        <p:spPr>
          <a:xfrm>
            <a:off x="548640" y="411480"/>
            <a:ext cx="3931920" cy="685800"/>
          </a:xfrm>
          <a:prstGeom prst="rect">
            <a:avLst/>
          </a:prstGeom>
          <a:noFill/>
          <a:ln/>
        </p:spPr>
        <p:txBody>
          <a:bodyPr wrap="square" lIns="0" tIns="0" rIns="0" bIns="0" rtlCol="0" anchor="t"/>
          <a:lstStyle/>
          <a:p>
            <a:pPr marL="0" indent="0">
              <a:buNone/>
            </a:pPr>
            <a:r>
              <a:rPr lang="en-US" sz="2200" b="1" dirty="0">
                <a:solidFill>
                  <a:srgbClr val="1B2A4A"/>
                </a:solidFill>
                <a:latin typeface="Times New Roman" panose="02020603050405020304" pitchFamily="18" charset="0"/>
                <a:ea typeface="Cambria" pitchFamily="34" charset="-122"/>
                <a:cs typeface="Times New Roman" panose="02020603050405020304" pitchFamily="18" charset="0"/>
              </a:rPr>
              <a:t>Source Leakage Check</a:t>
            </a:r>
            <a:endParaRPr lang="en-US" sz="3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Dataset Structure &amp; Target Definition</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548640" y="1417320"/>
            <a:ext cx="3017520" cy="594360"/>
          </a:xfrm>
          <a:prstGeom prst="roundRect">
            <a:avLst>
              <a:gd name="adj" fmla="val 9231"/>
            </a:avLst>
          </a:prstGeom>
          <a:solidFill>
            <a:srgbClr val="FFFFFF"/>
          </a:solidFill>
          <a:ln w="19050">
            <a:solidFill>
              <a:srgbClr val="4A6FA5"/>
            </a:solidFill>
            <a:prstDash val="solid"/>
          </a:ln>
        </p:spPr>
        <p:txBody>
          <a:bodyPr/>
          <a:p/>
        </p:txBody>
      </p:sp>
      <p:sp>
        <p:nvSpPr>
          <p:cNvPr id="4" name="Text 2"/>
          <p:cNvSpPr txBox="1"/>
          <p:nvPr/>
        </p:nvSpPr>
        <p:spPr>
          <a:xfrm>
            <a:off x="548640" y="1417320"/>
            <a:ext cx="3017520" cy="594360"/>
          </a:xfrm>
          <a:prstGeom prst="rect">
            <a:avLst/>
          </a:prstGeom>
          <a:noFill/>
          <a:ln/>
        </p:spPr>
        <p:txBody>
          <a:bodyPr wrap="square" lIns="0" tIns="0" rIns="0" bIns="0" rtlCol="0" anchor="ctr"/>
          <a:lstStyle/>
          <a:p>
            <a:pPr marL="0" indent="0" algn="ctr">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0 — Legitimate</a:t>
            </a:r>
            <a:endParaRPr lang="en-US" sz="1250" dirty="0">
              <a:latin typeface="Times New Roman" panose="02020603050405020304" pitchFamily="18" charset="0"/>
              <a:cs typeface="Times New Roman" panose="02020603050405020304" pitchFamily="18" charset="0"/>
            </a:endParaRPr>
          </a:p>
        </p:txBody>
      </p:sp>
      <p:sp>
        <p:nvSpPr>
          <p:cNvPr id="5" name="Shape 3"/>
          <p:cNvSpPr/>
          <p:nvPr/>
        </p:nvSpPr>
        <p:spPr>
          <a:xfrm>
            <a:off x="548640" y="2148840"/>
            <a:ext cx="3017520" cy="594360"/>
          </a:xfrm>
          <a:prstGeom prst="roundRect">
            <a:avLst>
              <a:gd name="adj" fmla="val 9231"/>
            </a:avLst>
          </a:prstGeom>
          <a:solidFill>
            <a:srgbClr val="FFFFFF"/>
          </a:solidFill>
          <a:ln w="19050">
            <a:solidFill>
              <a:srgbClr val="C0392B"/>
            </a:solidFill>
            <a:prstDash val="solid"/>
          </a:ln>
        </p:spPr>
        <p:txBody>
          <a:bodyPr/>
          <a:p/>
        </p:txBody>
      </p:sp>
      <p:sp>
        <p:nvSpPr>
          <p:cNvPr id="6" name="Text 4"/>
          <p:cNvSpPr txBox="1"/>
          <p:nvPr/>
        </p:nvSpPr>
        <p:spPr>
          <a:xfrm>
            <a:off x="548640" y="2148840"/>
            <a:ext cx="3017520" cy="594360"/>
          </a:xfrm>
          <a:prstGeom prst="rect">
            <a:avLst/>
          </a:prstGeom>
          <a:noFill/>
          <a:ln/>
        </p:spPr>
        <p:txBody>
          <a:bodyPr wrap="square" lIns="0" tIns="0" rIns="0" bIns="0" rtlCol="0" anchor="ctr"/>
          <a:lstStyle/>
          <a:p>
            <a:pPr marL="0" indent="0" algn="ctr">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1 — Suspicious</a:t>
            </a:r>
            <a:endParaRPr lang="en-US" sz="1250" dirty="0">
              <a:latin typeface="Times New Roman" panose="02020603050405020304" pitchFamily="18" charset="0"/>
              <a:cs typeface="Times New Roman" panose="02020603050405020304" pitchFamily="18" charset="0"/>
            </a:endParaRPr>
          </a:p>
        </p:txBody>
      </p:sp>
      <p:sp>
        <p:nvSpPr>
          <p:cNvPr id="7" name="Shape 5"/>
          <p:cNvSpPr/>
          <p:nvPr/>
        </p:nvSpPr>
        <p:spPr>
          <a:xfrm>
            <a:off x="548640" y="2880360"/>
            <a:ext cx="3017520" cy="594360"/>
          </a:xfrm>
          <a:prstGeom prst="roundRect">
            <a:avLst>
              <a:gd name="adj" fmla="val 9231"/>
            </a:avLst>
          </a:prstGeom>
          <a:solidFill>
            <a:srgbClr val="FFFFFF"/>
          </a:solidFill>
          <a:ln w="19050">
            <a:solidFill>
              <a:srgbClr val="C0392B"/>
            </a:solidFill>
            <a:prstDash val="solid"/>
          </a:ln>
        </p:spPr>
        <p:txBody>
          <a:bodyPr/>
          <a:p/>
        </p:txBody>
      </p:sp>
      <p:sp>
        <p:nvSpPr>
          <p:cNvPr id="8" name="Text 6"/>
          <p:cNvSpPr txBox="1"/>
          <p:nvPr/>
        </p:nvSpPr>
        <p:spPr>
          <a:xfrm>
            <a:off x="548640" y="2880360"/>
            <a:ext cx="3017520" cy="594360"/>
          </a:xfrm>
          <a:prstGeom prst="rect">
            <a:avLst/>
          </a:prstGeom>
          <a:noFill/>
          <a:ln/>
        </p:spPr>
        <p:txBody>
          <a:bodyPr wrap="square" lIns="0" tIns="0" rIns="0" bIns="0" rtlCol="0" anchor="ctr"/>
          <a:lstStyle/>
          <a:p>
            <a:pPr marL="0" indent="0" algn="ctr">
              <a:buNone/>
            </a:pPr>
            <a:r>
              <a:rPr lang="en-US" sz="1250" b="1" dirty="0">
                <a:solidFill>
                  <a:srgbClr val="1B2A4A"/>
                </a:solidFill>
                <a:latin typeface="Times New Roman" panose="02020603050405020304" pitchFamily="18" charset="0"/>
                <a:ea typeface="Calibri" pitchFamily="34" charset="-122"/>
                <a:cs typeface="Times New Roman" panose="02020603050405020304" pitchFamily="18" charset="0"/>
              </a:rPr>
              <a:t>2 — Fraudulent / Scam</a:t>
            </a:r>
            <a:endParaRPr lang="en-US" sz="1250" dirty="0">
              <a:latin typeface="Times New Roman" panose="02020603050405020304" pitchFamily="18" charset="0"/>
              <a:cs typeface="Times New Roman" panose="02020603050405020304" pitchFamily="18" charset="0"/>
            </a:endParaRPr>
          </a:p>
        </p:txBody>
      </p:sp>
      <p:sp>
        <p:nvSpPr>
          <p:cNvPr id="9" name="Shape 7"/>
          <p:cNvSpPr/>
          <p:nvPr/>
        </p:nvSpPr>
        <p:spPr>
          <a:xfrm>
            <a:off x="8138160" y="1417320"/>
            <a:ext cx="3017520" cy="594360"/>
          </a:xfrm>
          <a:prstGeom prst="roundRect">
            <a:avLst>
              <a:gd name="adj" fmla="val 9231"/>
            </a:avLst>
          </a:prstGeom>
          <a:solidFill>
            <a:srgbClr val="4A6FA5"/>
          </a:solidFill>
          <a:ln/>
        </p:spPr>
        <p:txBody>
          <a:bodyPr/>
          <a:p/>
        </p:txBody>
      </p:sp>
      <p:sp>
        <p:nvSpPr>
          <p:cNvPr id="10" name="Text 8"/>
          <p:cNvSpPr txBox="1"/>
          <p:nvPr/>
        </p:nvSpPr>
        <p:spPr>
          <a:xfrm>
            <a:off x="8138160" y="1417320"/>
            <a:ext cx="3017520"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anose="02020603050405020304" pitchFamily="18" charset="0"/>
                <a:ea typeface="Calibri" pitchFamily="34" charset="-122"/>
                <a:cs typeface="Times New Roman" panose="02020603050405020304" pitchFamily="18" charset="0"/>
              </a:rPr>
              <a:t>0 = Legitimate</a:t>
            </a:r>
            <a:endParaRPr lang="en-US" sz="1250" dirty="0">
              <a:latin typeface="Times New Roman" panose="02020603050405020304" pitchFamily="18" charset="0"/>
              <a:cs typeface="Times New Roman" panose="02020603050405020304" pitchFamily="18" charset="0"/>
            </a:endParaRPr>
          </a:p>
        </p:txBody>
      </p:sp>
      <p:sp>
        <p:nvSpPr>
          <p:cNvPr id="11" name="Shape 9"/>
          <p:cNvSpPr/>
          <p:nvPr/>
        </p:nvSpPr>
        <p:spPr>
          <a:xfrm>
            <a:off x="8138160" y="2240280"/>
            <a:ext cx="3017520" cy="1234440"/>
          </a:xfrm>
          <a:prstGeom prst="roundRect">
            <a:avLst>
              <a:gd name="adj" fmla="val 4444"/>
            </a:avLst>
          </a:prstGeom>
          <a:solidFill>
            <a:srgbClr val="C0392B"/>
          </a:solidFill>
          <a:ln/>
        </p:spPr>
        <p:txBody>
          <a:bodyPr/>
          <a:p/>
        </p:txBody>
      </p:sp>
      <p:sp>
        <p:nvSpPr>
          <p:cNvPr id="12" name="Text 10"/>
          <p:cNvSpPr txBox="1"/>
          <p:nvPr/>
        </p:nvSpPr>
        <p:spPr>
          <a:xfrm>
            <a:off x="8138160" y="2240280"/>
            <a:ext cx="3017520" cy="123444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anose="02020603050405020304" pitchFamily="18" charset="0"/>
                <a:ea typeface="Calibri" pitchFamily="34" charset="-122"/>
                <a:cs typeface="Times New Roman" panose="02020603050405020304" pitchFamily="18" charset="0"/>
              </a:rPr>
              <a:t>1 = Fraud-risk</a:t>
            </a:r>
            <a:endParaRPr lang="en-US" sz="1250" dirty="0">
              <a:latin typeface="Times New Roman" panose="02020603050405020304" pitchFamily="18" charset="0"/>
              <a:cs typeface="Times New Roman" panose="02020603050405020304" pitchFamily="18" charset="0"/>
            </a:endParaRPr>
          </a:p>
          <a:p>
            <a:pPr marL="0" indent="0" algn="ctr">
              <a:buNone/>
            </a:pPr>
            <a:r>
              <a:rPr lang="en-US" sz="1250" b="1" dirty="0">
                <a:solidFill>
                  <a:srgbClr val="FFFFFF"/>
                </a:solidFill>
                <a:latin typeface="Times New Roman" panose="02020603050405020304" pitchFamily="18" charset="0"/>
                <a:ea typeface="Calibri" pitchFamily="34" charset="-122"/>
                <a:cs typeface="Times New Roman" panose="02020603050405020304" pitchFamily="18" charset="0"/>
              </a:rPr>
              <a:t>(Suspicious + Fraudulent)</a:t>
            </a:r>
            <a:endParaRPr lang="en-US" sz="1250" dirty="0">
              <a:latin typeface="Times New Roman" panose="02020603050405020304" pitchFamily="18" charset="0"/>
              <a:cs typeface="Times New Roman" panose="02020603050405020304" pitchFamily="18" charset="0"/>
            </a:endParaRPr>
          </a:p>
        </p:txBody>
      </p:sp>
      <p:sp>
        <p:nvSpPr>
          <p:cNvPr id="13" name="Shape 11"/>
          <p:cNvSpPr/>
          <p:nvPr/>
        </p:nvSpPr>
        <p:spPr>
          <a:xfrm flipV="1">
            <a:off x="3566160" y="1714500"/>
            <a:ext cx="4572000" cy="9144"/>
          </a:xfrm>
          <a:prstGeom prst="line">
            <a:avLst/>
          </a:prstGeom>
          <a:noFill/>
          <a:ln w="25400">
            <a:solidFill>
              <a:srgbClr val="4A6FA5"/>
            </a:solidFill>
            <a:prstDash val="solid"/>
          </a:ln>
        </p:spPr>
        <p:txBody>
          <a:bodyPr/>
          <a:p/>
        </p:txBody>
      </p:sp>
      <p:sp>
        <p:nvSpPr>
          <p:cNvPr id="14" name="Shape 12"/>
          <p:cNvSpPr/>
          <p:nvPr/>
        </p:nvSpPr>
        <p:spPr>
          <a:xfrm>
            <a:off x="3566160" y="2446020"/>
            <a:ext cx="4572000" cy="205740"/>
          </a:xfrm>
          <a:prstGeom prst="line">
            <a:avLst/>
          </a:prstGeom>
          <a:noFill/>
          <a:ln w="25400">
            <a:solidFill>
              <a:srgbClr val="C0392B"/>
            </a:solidFill>
            <a:prstDash val="solid"/>
          </a:ln>
        </p:spPr>
        <p:txBody>
          <a:bodyPr/>
          <a:p/>
        </p:txBody>
      </p:sp>
      <p:sp>
        <p:nvSpPr>
          <p:cNvPr id="15" name="Shape 13"/>
          <p:cNvSpPr/>
          <p:nvPr/>
        </p:nvSpPr>
        <p:spPr>
          <a:xfrm flipV="1">
            <a:off x="3566160" y="3017520"/>
            <a:ext cx="4572000" cy="160020"/>
          </a:xfrm>
          <a:prstGeom prst="line">
            <a:avLst/>
          </a:prstGeom>
          <a:noFill/>
          <a:ln w="25400">
            <a:solidFill>
              <a:srgbClr val="C0392B"/>
            </a:solidFill>
            <a:prstDash val="solid"/>
          </a:ln>
        </p:spPr>
        <p:txBody>
          <a:bodyPr/>
          <a:p/>
        </p:txBody>
      </p:sp>
      <p:sp>
        <p:nvSpPr>
          <p:cNvPr id="16" name="Text 14"/>
          <p:cNvSpPr txBox="1"/>
          <p:nvPr/>
        </p:nvSpPr>
        <p:spPr>
          <a:xfrm>
            <a:off x="548640" y="3657600"/>
            <a:ext cx="10607040" cy="365760"/>
          </a:xfrm>
          <a:prstGeom prst="rect">
            <a:avLst/>
          </a:prstGeom>
          <a:noFill/>
          <a:ln/>
        </p:spPr>
        <p:txBody>
          <a:bodyPr wrap="square" lIns="0" tIns="0" rIns="0" bIns="0" rtlCol="0" anchor="ctr"/>
          <a:lstStyle/>
          <a:p>
            <a:pPr marL="0" indent="0">
              <a:buNone/>
            </a:pPr>
            <a:r>
              <a:rPr lang="en-US" sz="1150" i="1" dirty="0">
                <a:solidFill>
                  <a:srgbClr val="6B7A8D"/>
                </a:solidFill>
                <a:latin typeface="Times New Roman" panose="02020603050405020304" pitchFamily="18" charset="0"/>
                <a:ea typeface="Calibri" pitchFamily="34" charset="-122"/>
                <a:cs typeface="Times New Roman" panose="02020603050405020304" pitchFamily="18" charset="0"/>
              </a:rPr>
              <a:t>Binary target: Suspicious and Fraudulent are joined into one Fraud-risk class. The Suspicious class exists only in synthetic data.</a:t>
            </a:r>
            <a:endParaRPr lang="en-US" sz="1150" dirty="0">
              <a:latin typeface="Times New Roman" panose="02020603050405020304" pitchFamily="18" charset="0"/>
              <a:cs typeface="Times New Roman" panose="02020603050405020304" pitchFamily="18" charset="0"/>
            </a:endParaR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10607040" cy="2286000"/>
        </p:xfrm>
        <a:graphic>
          <a:graphicData uri="http://schemas.openxmlformats.org/drawingml/2006/table">
            <a:tbl>
              <a:tblPr/>
              <a:tblGrid>
                <a:gridCol w="210312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Feature group</a:t>
                      </a:r>
                      <a:endParaRPr lang="en-US" sz="12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Examples</a:t>
                      </a:r>
                      <a:endParaRPr lang="en-US" sz="12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Text</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title + description + requirements → TF-IDF word counts (1–2 word phrases, full vocabulary)</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Engineered</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6 numbers from the text: links, emails and phone numbers per 100 words; share of capital letters; share of digits; average word length</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Left out</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company, location, industry, work type, salary, experience, qualification, post length and missing-field flags (they show the data source, not fraud)</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Label</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tc>
                  <a:txBody>
                    <a:bodyPr/>
                    <a:lstStyle/>
                    <a:p>
                      <a:pPr marL="0" indent="0">
                        <a:buNone/>
                      </a:pPr>
                      <a:r>
                        <a:rPr lang="en-US" sz="1100" dirty="0">
                          <a:solidFill>
                            <a:srgbClr val="33414F"/>
                          </a:solidFill>
                          <a:latin typeface="Calibri" pitchFamily="34" charset="0"/>
                          <a:ea typeface="Calibri" pitchFamily="34" charset="-122"/>
                          <a:cs typeface="Calibri" pitchFamily="34" charset="-120"/>
                        </a:rPr>
                        <a:t>is_fraud (0/1/2) → Legitimate (0) or Fraud-risk (1)</a:t>
                      </a:r>
                      <a:endParaRPr lang="en-US" sz="1100" dirty="0">
                        <a:latin typeface="Calibri" charset="0"/>
                        <a:ea typeface="Calibri" charset="0"/>
                        <a:cs typeface="Calibri" charset="0"/>
                      </a:endParaRPr>
                    </a:p>
                  </a:txBody>
                  <a:tcPr anchor="ctr">
                    <a:lnL w="12700" cap="flat" cmpd="sng" algn="ctr">
                      <a:solidFill>
                        <a:srgbClr val="E1E6ED"/>
                      </a:solidFill>
                      <a:prstDash val="solid"/>
                      <a:round/>
                      <a:headEnd type="none" w="med" len="med"/>
                      <a:tailEnd type="none" w="med" len="med"/>
                    </a:lnL>
                    <a:lnR w="12700" cap="flat" cmpd="sng" algn="ctr">
                      <a:solidFill>
                        <a:srgbClr val="E1E6ED"/>
                      </a:solidFill>
                      <a:prstDash val="solid"/>
                      <a:round/>
                      <a:headEnd type="none" w="med" len="med"/>
                      <a:tailEnd type="none" w="med" len="med"/>
                    </a:lnR>
                    <a:lnT w="12700" cap="flat" cmpd="sng" algn="ctr">
                      <a:solidFill>
                        <a:srgbClr val="E1E6ED"/>
                      </a:solidFill>
                      <a:prstDash val="solid"/>
                      <a:round/>
                      <a:headEnd type="none" w="med" len="med"/>
                      <a:tailEnd type="none" w="med" len="med"/>
                    </a:lnT>
                    <a:lnB w="12700" cap="flat" cmpd="sng" algn="ctr">
                      <a:solidFill>
                        <a:srgbClr val="E1E6E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987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Methodology &amp; Evaluation Design</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548640" y="1541780"/>
            <a:ext cx="2388870" cy="1737360"/>
          </a:xfrm>
          <a:prstGeom prst="roundRect">
            <a:avLst>
              <a:gd name="adj" fmla="val 4211"/>
            </a:avLst>
          </a:prstGeom>
          <a:solidFill>
            <a:srgbClr val="FFFFFF"/>
          </a:solidFill>
          <a:ln w="12700">
            <a:solidFill>
              <a:srgbClr val="E1E6ED"/>
            </a:solidFill>
            <a:prstDash val="solid"/>
          </a:ln>
        </p:spPr>
        <p:txBody>
          <a:bodyPr/>
          <a:p/>
        </p:txBody>
      </p:sp>
      <p:sp>
        <p:nvSpPr>
          <p:cNvPr id="4" name="Shape 2"/>
          <p:cNvSpPr/>
          <p:nvPr/>
        </p:nvSpPr>
        <p:spPr>
          <a:xfrm>
            <a:off x="1468755" y="1678940"/>
            <a:ext cx="548640" cy="548640"/>
          </a:xfrm>
          <a:prstGeom prst="ellipse">
            <a:avLst/>
          </a:prstGeom>
          <a:solidFill>
            <a:srgbClr val="4A6FA5"/>
          </a:solidFill>
          <a:ln/>
        </p:spPr>
        <p:txBody>
          <a:bodyPr/>
          <a:p/>
        </p:txBody>
      </p:sp>
      <p:pic>
        <p:nvPicPr>
          <p:cNvPr id="5" name="Image 0" descr="preencoded.png"/>
          <p:cNvPicPr>
            <a:picLocks noChangeAspect="1"/>
          </p:cNvPicPr>
          <p:nvPr/>
        </p:nvPicPr>
        <p:blipFill>
          <a:blip r:embed="rId3"/>
          <a:stretch>
            <a:fillRect/>
          </a:stretch>
        </p:blipFill>
        <p:spPr>
          <a:xfrm>
            <a:off x="1596771" y="1806956"/>
            <a:ext cx="292608" cy="292608"/>
          </a:xfrm>
          <a:prstGeom prst="rect">
            <a:avLst/>
          </a:prstGeom>
        </p:spPr>
      </p:pic>
      <p:sp>
        <p:nvSpPr>
          <p:cNvPr id="6" name="Text 3"/>
          <p:cNvSpPr txBox="1"/>
          <p:nvPr/>
        </p:nvSpPr>
        <p:spPr>
          <a:xfrm>
            <a:off x="658368" y="229158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Isolate Holdout</a:t>
            </a:r>
            <a:endParaRPr lang="en-US" sz="1150" dirty="0">
              <a:latin typeface="Times New Roman" panose="02020603050405020304" pitchFamily="18" charset="0"/>
              <a:cs typeface="Times New Roman" panose="02020603050405020304" pitchFamily="18" charset="0"/>
            </a:endParaRPr>
          </a:p>
        </p:txBody>
      </p:sp>
      <p:sp>
        <p:nvSpPr>
          <p:cNvPr id="7" name="Text 4"/>
          <p:cNvSpPr txBox="1"/>
          <p:nvPr/>
        </p:nvSpPr>
        <p:spPr>
          <a:xfrm>
            <a:off x="658368" y="262077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15% of real EMSCAD posts (2,331) locked away until the end</a:t>
            </a:r>
            <a:endParaRPr lang="en-US" sz="950" dirty="0">
              <a:latin typeface="Times New Roman" panose="02020603050405020304" pitchFamily="18" charset="0"/>
              <a:cs typeface="Times New Roman" panose="02020603050405020304" pitchFamily="18" charset="0"/>
            </a:endParaRPr>
          </a:p>
        </p:txBody>
      </p:sp>
      <p:sp>
        <p:nvSpPr>
          <p:cNvPr id="8" name="Text 5"/>
          <p:cNvSpPr txBox="1"/>
          <p:nvPr/>
        </p:nvSpPr>
        <p:spPr>
          <a:xfrm>
            <a:off x="2937510" y="1541780"/>
            <a:ext cx="502920" cy="1737360"/>
          </a:xfrm>
          <a:prstGeom prst="rect">
            <a:avLst/>
          </a:prstGeom>
          <a:noFill/>
          <a:ln/>
        </p:spPr>
        <p:txBody>
          <a:bodyPr wrap="square" lIns="0" tIns="0" rIns="0" bIns="0" rtlCol="0" anchor="ctr"/>
          <a:lstStyle/>
          <a:p>
            <a:pPr marL="0" indent="0" algn="ctr">
              <a:buNone/>
            </a:pPr>
            <a:r>
              <a:rPr lang="en-US" sz="2200" b="1" dirty="0">
                <a:solidFill>
                  <a:srgbClr val="4A6FA5"/>
                </a:solidFill>
                <a:latin typeface="Times New Roman" panose="02020603050405020304" pitchFamily="18" charset="0"/>
                <a:ea typeface="Calibri" pitchFamily="34" charset="-122"/>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9" name="Shape 6"/>
          <p:cNvSpPr/>
          <p:nvPr/>
        </p:nvSpPr>
        <p:spPr>
          <a:xfrm>
            <a:off x="3440430" y="1541780"/>
            <a:ext cx="2388870" cy="1737360"/>
          </a:xfrm>
          <a:prstGeom prst="roundRect">
            <a:avLst>
              <a:gd name="adj" fmla="val 4211"/>
            </a:avLst>
          </a:prstGeom>
          <a:solidFill>
            <a:srgbClr val="FFFFFF"/>
          </a:solidFill>
          <a:ln w="12700">
            <a:solidFill>
              <a:srgbClr val="E1E6ED"/>
            </a:solidFill>
            <a:prstDash val="solid"/>
          </a:ln>
        </p:spPr>
        <p:txBody>
          <a:bodyPr/>
          <a:p/>
        </p:txBody>
      </p:sp>
      <p:sp>
        <p:nvSpPr>
          <p:cNvPr id="10" name="Shape 7"/>
          <p:cNvSpPr/>
          <p:nvPr/>
        </p:nvSpPr>
        <p:spPr>
          <a:xfrm>
            <a:off x="4360545" y="1678940"/>
            <a:ext cx="548640" cy="548640"/>
          </a:xfrm>
          <a:prstGeom prst="ellipse">
            <a:avLst/>
          </a:prstGeom>
          <a:solidFill>
            <a:srgbClr val="4A6FA5"/>
          </a:solidFill>
          <a:ln/>
        </p:spPr>
        <p:txBody>
          <a:bodyPr/>
          <a:p/>
        </p:txBody>
      </p:sp>
      <p:pic>
        <p:nvPicPr>
          <p:cNvPr id="11" name="Image 1" descr="preencoded.png"/>
          <p:cNvPicPr>
            <a:picLocks noChangeAspect="1"/>
          </p:cNvPicPr>
          <p:nvPr/>
        </p:nvPicPr>
        <p:blipFill>
          <a:blip r:embed="rId4"/>
          <a:stretch>
            <a:fillRect/>
          </a:stretch>
        </p:blipFill>
        <p:spPr>
          <a:xfrm>
            <a:off x="4488561" y="1806956"/>
            <a:ext cx="292608" cy="292608"/>
          </a:xfrm>
          <a:prstGeom prst="rect">
            <a:avLst/>
          </a:prstGeom>
        </p:spPr>
      </p:pic>
      <p:sp>
        <p:nvSpPr>
          <p:cNvPr id="12" name="Text 8"/>
          <p:cNvSpPr txBox="1"/>
          <p:nvPr/>
        </p:nvSpPr>
        <p:spPr>
          <a:xfrm>
            <a:off x="3550158" y="229158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Train &amp; Validate</a:t>
            </a:r>
            <a:endParaRPr lang="en-US" sz="1150" dirty="0">
              <a:latin typeface="Times New Roman" panose="02020603050405020304" pitchFamily="18" charset="0"/>
              <a:cs typeface="Times New Roman" panose="02020603050405020304" pitchFamily="18" charset="0"/>
            </a:endParaRPr>
          </a:p>
        </p:txBody>
      </p:sp>
      <p:sp>
        <p:nvSpPr>
          <p:cNvPr id="13" name="Text 9"/>
          <p:cNvSpPr txBox="1"/>
          <p:nvPr/>
        </p:nvSpPr>
        <p:spPr>
          <a:xfrm>
            <a:off x="3550158" y="262077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Real EMSCAD only: 10,875 to train, 2,331 to validate</a:t>
            </a:r>
            <a:endParaRPr lang="en-US" sz="950" dirty="0">
              <a:latin typeface="Times New Roman" panose="02020603050405020304" pitchFamily="18" charset="0"/>
              <a:cs typeface="Times New Roman" panose="02020603050405020304" pitchFamily="18" charset="0"/>
            </a:endParaRPr>
          </a:p>
        </p:txBody>
      </p:sp>
      <p:sp>
        <p:nvSpPr>
          <p:cNvPr id="14" name="Text 10"/>
          <p:cNvSpPr txBox="1"/>
          <p:nvPr/>
        </p:nvSpPr>
        <p:spPr>
          <a:xfrm>
            <a:off x="5829300" y="1541780"/>
            <a:ext cx="502920" cy="1737360"/>
          </a:xfrm>
          <a:prstGeom prst="rect">
            <a:avLst/>
          </a:prstGeom>
          <a:noFill/>
          <a:ln/>
        </p:spPr>
        <p:txBody>
          <a:bodyPr wrap="square" lIns="0" tIns="0" rIns="0" bIns="0" rtlCol="0" anchor="ctr"/>
          <a:lstStyle/>
          <a:p>
            <a:pPr marL="0" indent="0" algn="ctr">
              <a:buNone/>
            </a:pPr>
            <a:r>
              <a:rPr lang="en-US" sz="2200" b="1" dirty="0">
                <a:solidFill>
                  <a:srgbClr val="4A6FA5"/>
                </a:solidFill>
                <a:latin typeface="Times New Roman" panose="02020603050405020304" pitchFamily="18" charset="0"/>
                <a:ea typeface="Calibri" pitchFamily="34" charset="-122"/>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15" name="Shape 11"/>
          <p:cNvSpPr/>
          <p:nvPr/>
        </p:nvSpPr>
        <p:spPr>
          <a:xfrm>
            <a:off x="6332220" y="1541780"/>
            <a:ext cx="2388870" cy="1737360"/>
          </a:xfrm>
          <a:prstGeom prst="roundRect">
            <a:avLst>
              <a:gd name="adj" fmla="val 4211"/>
            </a:avLst>
          </a:prstGeom>
          <a:solidFill>
            <a:srgbClr val="FFFFFF"/>
          </a:solidFill>
          <a:ln w="12700">
            <a:solidFill>
              <a:srgbClr val="E1E6ED"/>
            </a:solidFill>
            <a:prstDash val="solid"/>
          </a:ln>
        </p:spPr>
        <p:txBody>
          <a:bodyPr/>
          <a:p/>
        </p:txBody>
      </p:sp>
      <p:sp>
        <p:nvSpPr>
          <p:cNvPr id="16" name="Shape 12"/>
          <p:cNvSpPr/>
          <p:nvPr/>
        </p:nvSpPr>
        <p:spPr>
          <a:xfrm>
            <a:off x="7252335" y="1678940"/>
            <a:ext cx="548640" cy="548640"/>
          </a:xfrm>
          <a:prstGeom prst="ellipse">
            <a:avLst/>
          </a:prstGeom>
          <a:solidFill>
            <a:srgbClr val="4A6FA5"/>
          </a:solidFill>
          <a:ln/>
        </p:spPr>
        <p:txBody>
          <a:bodyPr/>
          <a:p/>
        </p:txBody>
      </p:sp>
      <p:pic>
        <p:nvPicPr>
          <p:cNvPr id="17" name="Image 2" descr="preencoded.png"/>
          <p:cNvPicPr>
            <a:picLocks noChangeAspect="1"/>
          </p:cNvPicPr>
          <p:nvPr/>
        </p:nvPicPr>
        <p:blipFill>
          <a:blip r:embed="rId5"/>
          <a:stretch>
            <a:fillRect/>
          </a:stretch>
        </p:blipFill>
        <p:spPr>
          <a:xfrm>
            <a:off x="7380351" y="1806956"/>
            <a:ext cx="292608" cy="292608"/>
          </a:xfrm>
          <a:prstGeom prst="rect">
            <a:avLst/>
          </a:prstGeom>
        </p:spPr>
      </p:pic>
      <p:sp>
        <p:nvSpPr>
          <p:cNvPr id="18" name="Text 13"/>
          <p:cNvSpPr txBox="1"/>
          <p:nvPr/>
        </p:nvSpPr>
        <p:spPr>
          <a:xfrm>
            <a:off x="6441948" y="229158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Tune Models</a:t>
            </a:r>
            <a:endParaRPr lang="en-US" sz="1150" dirty="0">
              <a:latin typeface="Times New Roman" panose="02020603050405020304" pitchFamily="18" charset="0"/>
              <a:cs typeface="Times New Roman" panose="02020603050405020304" pitchFamily="18" charset="0"/>
            </a:endParaRPr>
          </a:p>
        </p:txBody>
      </p:sp>
      <p:sp>
        <p:nvSpPr>
          <p:cNvPr id="19" name="Text 14"/>
          <p:cNvSpPr txBox="1"/>
          <p:nvPr/>
        </p:nvSpPr>
        <p:spPr>
          <a:xfrm>
            <a:off x="6441948" y="262077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Compare model types with 5-fold cross-validation (PR-AUC)</a:t>
            </a:r>
            <a:endParaRPr lang="en-US" sz="950" dirty="0">
              <a:latin typeface="Times New Roman" panose="02020603050405020304" pitchFamily="18" charset="0"/>
              <a:cs typeface="Times New Roman" panose="02020603050405020304" pitchFamily="18" charset="0"/>
            </a:endParaRPr>
          </a:p>
        </p:txBody>
      </p:sp>
      <p:sp>
        <p:nvSpPr>
          <p:cNvPr id="20" name="Text 15"/>
          <p:cNvSpPr txBox="1"/>
          <p:nvPr/>
        </p:nvSpPr>
        <p:spPr>
          <a:xfrm>
            <a:off x="8721090" y="1541780"/>
            <a:ext cx="502920" cy="1737360"/>
          </a:xfrm>
          <a:prstGeom prst="rect">
            <a:avLst/>
          </a:prstGeom>
          <a:noFill/>
          <a:ln/>
        </p:spPr>
        <p:txBody>
          <a:bodyPr wrap="square" lIns="0" tIns="0" rIns="0" bIns="0" rtlCol="0" anchor="ctr"/>
          <a:lstStyle/>
          <a:p>
            <a:pPr marL="0" indent="0" algn="ctr">
              <a:buNone/>
            </a:pPr>
            <a:r>
              <a:rPr lang="en-US" sz="2200" b="1" dirty="0">
                <a:solidFill>
                  <a:srgbClr val="4A6FA5"/>
                </a:solidFill>
                <a:latin typeface="Times New Roman" panose="02020603050405020304" pitchFamily="18" charset="0"/>
                <a:ea typeface="Calibri" pitchFamily="34" charset="-122"/>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
        <p:nvSpPr>
          <p:cNvPr id="21" name="Shape 16"/>
          <p:cNvSpPr/>
          <p:nvPr/>
        </p:nvSpPr>
        <p:spPr>
          <a:xfrm>
            <a:off x="9224010" y="1541780"/>
            <a:ext cx="2388870" cy="1737360"/>
          </a:xfrm>
          <a:prstGeom prst="roundRect">
            <a:avLst>
              <a:gd name="adj" fmla="val 4211"/>
            </a:avLst>
          </a:prstGeom>
          <a:solidFill>
            <a:srgbClr val="FFFFFF"/>
          </a:solidFill>
          <a:ln w="12700">
            <a:solidFill>
              <a:srgbClr val="E1E6ED"/>
            </a:solidFill>
            <a:prstDash val="solid"/>
          </a:ln>
        </p:spPr>
        <p:txBody>
          <a:bodyPr/>
          <a:p/>
        </p:txBody>
      </p:sp>
      <p:sp>
        <p:nvSpPr>
          <p:cNvPr id="22" name="Shape 17"/>
          <p:cNvSpPr/>
          <p:nvPr/>
        </p:nvSpPr>
        <p:spPr>
          <a:xfrm>
            <a:off x="10144125" y="1678940"/>
            <a:ext cx="548640" cy="548640"/>
          </a:xfrm>
          <a:prstGeom prst="ellipse">
            <a:avLst/>
          </a:prstGeom>
          <a:solidFill>
            <a:srgbClr val="4A6FA5"/>
          </a:solidFill>
          <a:ln/>
        </p:spPr>
        <p:txBody>
          <a:bodyPr/>
          <a:p/>
        </p:txBody>
      </p:sp>
      <p:pic>
        <p:nvPicPr>
          <p:cNvPr id="23" name="Image 3" descr="preencoded.png"/>
          <p:cNvPicPr>
            <a:picLocks noChangeAspect="1"/>
          </p:cNvPicPr>
          <p:nvPr/>
        </p:nvPicPr>
        <p:blipFill>
          <a:blip r:embed="rId6"/>
          <a:stretch>
            <a:fillRect/>
          </a:stretch>
        </p:blipFill>
        <p:spPr>
          <a:xfrm>
            <a:off x="10272141" y="1806956"/>
            <a:ext cx="292608" cy="292608"/>
          </a:xfrm>
          <a:prstGeom prst="rect">
            <a:avLst/>
          </a:prstGeom>
        </p:spPr>
      </p:pic>
      <p:sp>
        <p:nvSpPr>
          <p:cNvPr id="24" name="Text 18"/>
          <p:cNvSpPr txBox="1"/>
          <p:nvPr/>
        </p:nvSpPr>
        <p:spPr>
          <a:xfrm>
            <a:off x="9333738" y="229158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Threshold &amp; Holdout</a:t>
            </a:r>
            <a:endParaRPr lang="en-US" sz="1150" dirty="0">
              <a:latin typeface="Times New Roman" panose="02020603050405020304" pitchFamily="18" charset="0"/>
              <a:cs typeface="Times New Roman" panose="02020603050405020304" pitchFamily="18" charset="0"/>
            </a:endParaRPr>
          </a:p>
        </p:txBody>
      </p:sp>
      <p:sp>
        <p:nvSpPr>
          <p:cNvPr id="25" name="Text 19"/>
          <p:cNvSpPr txBox="1"/>
          <p:nvPr/>
        </p:nvSpPr>
        <p:spPr>
          <a:xfrm>
            <a:off x="9333738" y="262077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Pick the threshold on validation data, then score the holdout</a:t>
            </a:r>
            <a:endParaRPr lang="en-US" sz="950" dirty="0">
              <a:latin typeface="Times New Roman" panose="02020603050405020304" pitchFamily="18" charset="0"/>
              <a:cs typeface="Times New Roman" panose="02020603050405020304" pitchFamily="18" charset="0"/>
            </a:endParaRPr>
          </a:p>
        </p:txBody>
      </p:sp>
      <p:sp>
        <p:nvSpPr>
          <p:cNvPr id="26" name="Text 20"/>
          <p:cNvSpPr txBox="1"/>
          <p:nvPr/>
        </p:nvSpPr>
        <p:spPr>
          <a:xfrm>
            <a:off x="548640" y="3553460"/>
            <a:ext cx="10515600" cy="2011680"/>
          </a:xfrm>
          <a:prstGeom prst="rect">
            <a:avLst/>
          </a:prstGeom>
          <a:noFill/>
          <a:ln/>
        </p:spPr>
        <p:txBody>
          <a:bodyPr wrap="square" lIns="0" tIns="0" rIns="0" bIns="0" rtlCol="0" anchor="t"/>
          <a:lstStyle/>
          <a:p>
            <a:pPr marL="342900" indent="-342900" algn="l">
              <a:lnSpc>
                <a:spcPct val="112000"/>
              </a:lnSpc>
              <a:spcAft>
                <a:spcPts val="1200"/>
              </a:spcAft>
              <a:buSzPct val="100000"/>
              <a:buChar char="●"/>
            </a:pPr>
            <a:r>
              <a:rPr lang="en-US" sz="1300" dirty="0">
                <a:solidFill>
                  <a:srgbClr val="33414F"/>
                </a:solidFill>
                <a:latin typeface="Times New Roman" panose="02020603050405020304" pitchFamily="18" charset="0"/>
                <a:ea typeface="Calibri" pitchFamily="34" charset="-122"/>
                <a:cs typeface="Times New Roman" panose="02020603050405020304" pitchFamily="18" charset="0"/>
              </a:rPr>
              <a:t>Posts are split in groups of near-duplicate text, so copies of one post never sit in both training and test sets (70% / 15% / 15%). An earlier version scored 0.99 because copies were on both sides.</a:t>
            </a:r>
            <a:endParaRPr lang="en-US" sz="1300" dirty="0">
              <a:latin typeface="Times New Roman" panose="02020603050405020304" pitchFamily="18" charset="0"/>
              <a:cs typeface="Times New Roman" panose="02020603050405020304" pitchFamily="18" charset="0"/>
            </a:endParaRPr>
          </a:p>
          <a:p>
            <a:pPr marL="342900" indent="-342900" algn="l">
              <a:lnSpc>
                <a:spcPct val="112000"/>
              </a:lnSpc>
              <a:spcAft>
                <a:spcPts val="1200"/>
              </a:spcAft>
              <a:buSzPct val="100000"/>
              <a:buChar char="●"/>
            </a:pPr>
            <a:r>
              <a:rPr lang="en-US" sz="1300" dirty="0">
                <a:solidFill>
                  <a:srgbClr val="33414F"/>
                </a:solidFill>
                <a:latin typeface="Times New Roman" panose="02020603050405020304" pitchFamily="18" charset="0"/>
                <a:ea typeface="Calibri" pitchFamily="34" charset="-122"/>
                <a:cs typeface="Times New Roman" panose="02020603050405020304" pitchFamily="18" charset="0"/>
              </a:rPr>
              <a:t>Test: adding synthetic data lowered PR-AUC on real data by about 0.11 on all 5 splits, so training uses real data only.</a:t>
            </a:r>
            <a:endParaRPr lang="en-US" sz="1300" dirty="0">
              <a:latin typeface="Times New Roman" panose="02020603050405020304" pitchFamily="18" charset="0"/>
              <a:cs typeface="Times New Roman" panose="02020603050405020304" pitchFamily="18" charset="0"/>
            </a:endParaRPr>
          </a:p>
          <a:p>
            <a:pPr marL="342900" indent="-342900" algn="l">
              <a:lnSpc>
                <a:spcPct val="112000"/>
              </a:lnSpc>
              <a:spcAft>
                <a:spcPts val="1200"/>
              </a:spcAft>
              <a:buSzPct val="100000"/>
              <a:buChar char="●"/>
            </a:pPr>
            <a:r>
              <a:rPr lang="en-US" sz="1300" dirty="0">
                <a:solidFill>
                  <a:srgbClr val="33414F"/>
                </a:solidFill>
                <a:latin typeface="Times New Roman" panose="02020603050405020304" pitchFamily="18" charset="0"/>
                <a:ea typeface="Calibri" pitchFamily="34" charset="-122"/>
                <a:cs typeface="Times New Roman" panose="02020603050405020304" pitchFamily="18" charset="0"/>
              </a:rPr>
              <a:t>Validation PR-AUC: tuned logistic regression 0.79 (best), calibrated SVM 0.79, DistilBERT 0.69, gradient boosting 0.63, rules only 0.05.</a:t>
            </a:r>
            <a:endParaRPr lang="en-US" sz="1300" dirty="0">
              <a:latin typeface="Times New Roman" panose="02020603050405020304" pitchFamily="18" charset="0"/>
              <a:cs typeface="Times New Roman" panose="02020603050405020304" pitchFamily="18" charset="0"/>
            </a:endParaRPr>
          </a:p>
          <a:p>
            <a:pPr marL="342900" indent="-342900" algn="l">
              <a:lnSpc>
                <a:spcPct val="112000"/>
              </a:lnSpc>
              <a:spcAft>
                <a:spcPts val="1200"/>
              </a:spcAft>
              <a:buSzPct val="100000"/>
              <a:buChar char="●"/>
            </a:pPr>
            <a:r>
              <a:rPr lang="en-US" sz="1300" dirty="0">
                <a:solidFill>
                  <a:srgbClr val="33414F"/>
                </a:solidFill>
                <a:latin typeface="Times New Roman" panose="02020603050405020304" pitchFamily="18" charset="0"/>
                <a:ea typeface="Calibri" pitchFamily="34" charset="-122"/>
                <a:cs typeface="Times New Roman" panose="02020603050405020304" pitchFamily="18" charset="0"/>
              </a:rPr>
              <a:t>The holdout was scored twice: after the first model and again after a feature fix. No setting was chosen with it.</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94488"/>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Modeling Insight — Model Comparison</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411480" y="1109472"/>
            <a:ext cx="6400800" cy="3651120"/>
          </a:xfrm>
          <a:prstGeom prst="roundRect">
            <a:avLst>
              <a:gd name="adj" fmla="val 2004"/>
            </a:avLst>
          </a:prstGeom>
          <a:solidFill>
            <a:srgbClr val="FFFFFF"/>
          </a:solidFill>
          <a:ln w="12700">
            <a:solidFill>
              <a:srgbClr val="E1E6ED"/>
            </a:solidFill>
            <a:prstDash val="solid"/>
          </a:ln>
        </p:spPr>
        <p:txBody>
          <a:bodyPr/>
          <a:p/>
        </p:txBody>
      </p:sp>
      <p:pic>
        <p:nvPicPr>
          <p:cNvPr id="4" name="Image 0" descr="model1_threshold.png"/>
          <p:cNvPicPr>
            <a:picLocks noChangeAspect="1"/>
          </p:cNvPicPr>
          <p:nvPr/>
        </p:nvPicPr>
        <p:blipFill>
          <a:blip r:embed="rId2"/>
          <a:stretch>
            <a:fillRect/>
          </a:stretch>
        </p:blipFill>
        <p:spPr>
          <a:xfrm>
            <a:off x="548640" y="1292352"/>
            <a:ext cx="6126480" cy="3376800"/>
          </a:xfrm>
          <a:prstGeom prst="rect">
            <a:avLst/>
          </a:prstGeom>
        </p:spPr>
      </p:pic>
      <p:sp>
        <p:nvSpPr>
          <p:cNvPr id="5" name="Shape 2"/>
          <p:cNvSpPr/>
          <p:nvPr/>
        </p:nvSpPr>
        <p:spPr>
          <a:xfrm>
            <a:off x="7040880" y="1155192"/>
            <a:ext cx="4572000" cy="3651120"/>
          </a:xfrm>
          <a:prstGeom prst="roundRect">
            <a:avLst>
              <a:gd name="adj" fmla="val 2504"/>
            </a:avLst>
          </a:prstGeom>
          <a:solidFill>
            <a:srgbClr val="1B2A4A"/>
          </a:solidFill>
          <a:ln/>
        </p:spPr>
        <p:txBody>
          <a:bodyPr/>
          <a:p/>
        </p:txBody>
      </p:sp>
      <p:sp>
        <p:nvSpPr>
          <p:cNvPr id="6" name="Text 3"/>
          <p:cNvSpPr txBox="1"/>
          <p:nvPr/>
        </p:nvSpPr>
        <p:spPr>
          <a:xfrm>
            <a:off x="7269480" y="1109472"/>
            <a:ext cx="4114800" cy="365760"/>
          </a:xfrm>
          <a:prstGeom prst="rect">
            <a:avLst/>
          </a:prstGeom>
          <a:noFill/>
          <a:ln/>
        </p:spPr>
        <p:txBody>
          <a:bodyPr wrap="square" lIns="0" tIns="0" rIns="0" bIns="0" rtlCol="0" anchor="ctr"/>
          <a:lstStyle/>
          <a:p>
            <a:pPr marL="0" indent="0">
              <a:buNone/>
            </a:pPr>
            <a:r>
              <a:rPr lang="en-US" sz="1350" b="1" dirty="0">
                <a:solidFill>
                  <a:srgbClr val="CADCFC"/>
                </a:solidFill>
                <a:latin typeface="Times New Roman" panose="02020603050405020304" pitchFamily="18" charset="0"/>
                <a:ea typeface="Calibri" pitchFamily="34" charset="-122"/>
                <a:cs typeface="Times New Roman" panose="02020603050405020304" pitchFamily="18" charset="0"/>
              </a:rPr>
              <a:t>What it shows</a:t>
            </a:r>
            <a:endParaRPr lang="en-US" sz="1350" dirty="0">
              <a:latin typeface="Times New Roman" panose="02020603050405020304" pitchFamily="18" charset="0"/>
              <a:cs typeface="Times New Roman" panose="02020603050405020304" pitchFamily="18" charset="0"/>
            </a:endParaRPr>
          </a:p>
        </p:txBody>
      </p:sp>
      <p:sp>
        <p:nvSpPr>
          <p:cNvPr id="7" name="Text 4"/>
          <p:cNvSpPr txBox="1"/>
          <p:nvPr/>
        </p:nvSpPr>
        <p:spPr>
          <a:xfrm>
            <a:off x="7269480" y="1539240"/>
            <a:ext cx="4114800" cy="2691000"/>
          </a:xfrm>
          <a:prstGeom prst="rect">
            <a:avLst/>
          </a:prstGeom>
          <a:noFill/>
          <a:ln/>
        </p:spPr>
        <p:txBody>
          <a:bodyPr wrap="square" lIns="0" tIns="0" rIns="0" bIns="0" rtlCol="0" anchor="t"/>
          <a:lstStyle/>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All models were scored on the same real validation set (2,331 posts)</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A tuned logistic regression won (0.79). The calibrated SVM was almost the same</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Rules alone scored 0.05, about the same as guessing, because EMSCAD has few Kenyan scam words</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DistilBERT scored lower on EMSCAD (0.69) but did better on a few Kenyan test scams. It needs Kenyan training data first</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We kept the simple model behind the rule layer. Synthetic data and calibration were tried and dropped</a:t>
            </a:r>
            <a:endParaRPr lang="en-US" sz="1150" dirty="0">
              <a:latin typeface="Times New Roman" panose="02020603050405020304" pitchFamily="18" charset="0"/>
              <a:cs typeface="Times New Roman" panose="02020603050405020304" pitchFamily="18" charset="0"/>
            </a:endParaRPr>
          </a:p>
        </p:txBody>
      </p:sp>
      <p:sp>
        <p:nvSpPr>
          <p:cNvPr id="8" name="Text 5"/>
          <p:cNvSpPr txBox="1"/>
          <p:nvPr/>
        </p:nvSpPr>
        <p:spPr>
          <a:xfrm>
            <a:off x="548640" y="5900928"/>
            <a:ext cx="11064240" cy="274320"/>
          </a:xfrm>
          <a:prstGeom prst="rect">
            <a:avLst/>
          </a:prstGeom>
          <a:noFill/>
          <a:ln/>
        </p:spPr>
        <p:txBody>
          <a:bodyPr wrap="square" lIns="0" tIns="0" rIns="0" bIns="0" rtlCol="0" anchor="ctr"/>
          <a:lstStyle/>
          <a:p>
            <a:pPr marL="0" indent="0">
              <a:buNone/>
            </a:pPr>
            <a:r>
              <a:rPr lang="en-US" sz="950" i="1" dirty="0">
                <a:solidFill>
                  <a:srgbClr val="6B7A8D"/>
                </a:solidFill>
                <a:latin typeface="Times New Roman" panose="02020603050405020304" pitchFamily="18" charset="0"/>
                <a:ea typeface="Calibri" pitchFamily="34" charset="-122"/>
                <a:cs typeface="Times New Roman" panose="02020603050405020304" pitchFamily="18" charset="0"/>
              </a:rPr>
              <a:t>Source: notebook model comparison (validation set, PR-AUC).</a:t>
            </a:r>
            <a:endParaRPr lang="en-US" sz="9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94488"/>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Modeling Insight — Threshold Selection</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411480" y="1109472"/>
            <a:ext cx="6400800" cy="3651120"/>
          </a:xfrm>
          <a:prstGeom prst="roundRect">
            <a:avLst>
              <a:gd name="adj" fmla="val 2004"/>
            </a:avLst>
          </a:prstGeom>
          <a:solidFill>
            <a:srgbClr val="FFFFFF"/>
          </a:solidFill>
          <a:ln w="12700">
            <a:solidFill>
              <a:srgbClr val="E1E6ED"/>
            </a:solidFill>
            <a:prstDash val="solid"/>
          </a:ln>
        </p:spPr>
        <p:txBody>
          <a:bodyPr/>
          <a:p/>
        </p:txBody>
      </p:sp>
      <p:pic>
        <p:nvPicPr>
          <p:cNvPr id="4" name="Image 0" descr="model1_threshold.png"/>
          <p:cNvPicPr>
            <a:picLocks noChangeAspect="1"/>
          </p:cNvPicPr>
          <p:nvPr/>
        </p:nvPicPr>
        <p:blipFill>
          <a:blip r:embed="rId3"/>
          <a:stretch>
            <a:fillRect/>
          </a:stretch>
        </p:blipFill>
        <p:spPr>
          <a:xfrm>
            <a:off x="548640" y="1292352"/>
            <a:ext cx="6126480" cy="3376800"/>
          </a:xfrm>
          <a:prstGeom prst="rect">
            <a:avLst/>
          </a:prstGeom>
        </p:spPr>
      </p:pic>
      <p:sp>
        <p:nvSpPr>
          <p:cNvPr id="5" name="Shape 2"/>
          <p:cNvSpPr/>
          <p:nvPr/>
        </p:nvSpPr>
        <p:spPr>
          <a:xfrm>
            <a:off x="7040880" y="1155192"/>
            <a:ext cx="4572000" cy="3651120"/>
          </a:xfrm>
          <a:prstGeom prst="roundRect">
            <a:avLst>
              <a:gd name="adj" fmla="val 2504"/>
            </a:avLst>
          </a:prstGeom>
          <a:solidFill>
            <a:srgbClr val="1B2A4A"/>
          </a:solidFill>
          <a:ln/>
        </p:spPr>
        <p:txBody>
          <a:bodyPr/>
          <a:p/>
        </p:txBody>
      </p:sp>
      <p:sp>
        <p:nvSpPr>
          <p:cNvPr id="6" name="Text 3"/>
          <p:cNvSpPr txBox="1"/>
          <p:nvPr/>
        </p:nvSpPr>
        <p:spPr>
          <a:xfrm>
            <a:off x="7269480" y="1109472"/>
            <a:ext cx="4114800" cy="365760"/>
          </a:xfrm>
          <a:prstGeom prst="rect">
            <a:avLst/>
          </a:prstGeom>
          <a:noFill/>
          <a:ln/>
        </p:spPr>
        <p:txBody>
          <a:bodyPr wrap="square" lIns="0" tIns="0" rIns="0" bIns="0" rtlCol="0" anchor="ctr"/>
          <a:lstStyle/>
          <a:p>
            <a:pPr marL="0" indent="0">
              <a:buNone/>
            </a:pPr>
            <a:r>
              <a:rPr lang="en-US" sz="1350" b="1" dirty="0">
                <a:solidFill>
                  <a:srgbClr val="CADCFC"/>
                </a:solidFill>
                <a:latin typeface="Times New Roman" panose="02020603050405020304" pitchFamily="18" charset="0"/>
                <a:ea typeface="Calibri" pitchFamily="34" charset="-122"/>
                <a:cs typeface="Times New Roman" panose="02020603050405020304" pitchFamily="18" charset="0"/>
              </a:rPr>
              <a:t>What it shows</a:t>
            </a:r>
            <a:endParaRPr lang="en-US" sz="1350" dirty="0">
              <a:latin typeface="Times New Roman" panose="02020603050405020304" pitchFamily="18" charset="0"/>
              <a:cs typeface="Times New Roman" panose="02020603050405020304" pitchFamily="18" charset="0"/>
            </a:endParaRPr>
          </a:p>
        </p:txBody>
      </p:sp>
      <p:sp>
        <p:nvSpPr>
          <p:cNvPr id="7" name="Text 4"/>
          <p:cNvSpPr txBox="1"/>
          <p:nvPr/>
        </p:nvSpPr>
        <p:spPr>
          <a:xfrm>
            <a:off x="7269480" y="1539240"/>
            <a:ext cx="4114800" cy="2691000"/>
          </a:xfrm>
          <a:prstGeom prst="rect">
            <a:avLst/>
          </a:prstGeom>
          <a:noFill/>
          <a:ln/>
        </p:spPr>
        <p:txBody>
          <a:bodyPr wrap="square" lIns="0" tIns="0" rIns="0" bIns="0" rtlCol="0" anchor="t"/>
          <a:lstStyle/>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Thresholds were tested on validation data only</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Chosen threshold: 0.25 (it was 0.35)</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At 0.25 the model catches more scams (75% vs 71% on validation) but gives more false alarms (47 vs 17)</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A missed scam costs a job seeker far more than a false alarm, so recall was favoured</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The high-risk level stays at 0.70. This is not a permanent best threshold</a:t>
            </a:r>
            <a:endParaRPr lang="en-US" sz="1150" dirty="0">
              <a:latin typeface="Times New Roman" panose="02020603050405020304" pitchFamily="18" charset="0"/>
              <a:cs typeface="Times New Roman" panose="02020603050405020304" pitchFamily="18" charset="0"/>
            </a:endParaRPr>
          </a:p>
        </p:txBody>
      </p:sp>
      <p:sp>
        <p:nvSpPr>
          <p:cNvPr id="8" name="Text 5"/>
          <p:cNvSpPr txBox="1"/>
          <p:nvPr/>
        </p:nvSpPr>
        <p:spPr>
          <a:xfrm>
            <a:off x="548640" y="5900928"/>
            <a:ext cx="11064240" cy="274320"/>
          </a:xfrm>
          <a:prstGeom prst="rect">
            <a:avLst/>
          </a:prstGeom>
          <a:noFill/>
          <a:ln/>
        </p:spPr>
        <p:txBody>
          <a:bodyPr wrap="square" lIns="0" tIns="0" rIns="0" bIns="0" rtlCol="0" anchor="ctr"/>
          <a:lstStyle/>
          <a:p>
            <a:pPr marL="0" indent="0">
              <a:buNone/>
            </a:pPr>
            <a:r>
              <a:rPr lang="en-US" sz="950" i="1" dirty="0">
                <a:solidFill>
                  <a:srgbClr val="6B7A8D"/>
                </a:solidFill>
                <a:latin typeface="Times New Roman" panose="02020603050405020304" pitchFamily="18" charset="0"/>
                <a:ea typeface="Calibri" pitchFamily="34" charset="-122"/>
                <a:cs typeface="Times New Roman" panose="02020603050405020304" pitchFamily="18" charset="0"/>
              </a:rPr>
              <a:t>Source: notebook threshold sweep (validation set).</a:t>
            </a:r>
            <a:endParaRPr lang="en-US" sz="9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Modeling Insight — Explainable Fraud-Risk Signals</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411480" y="1371600"/>
            <a:ext cx="6400800" cy="4344842"/>
          </a:xfrm>
          <a:prstGeom prst="roundRect">
            <a:avLst>
              <a:gd name="adj" fmla="val 1684"/>
            </a:avLst>
          </a:prstGeom>
          <a:solidFill>
            <a:srgbClr val="FFFFFF"/>
          </a:solidFill>
          <a:ln w="12700">
            <a:solidFill>
              <a:srgbClr val="E1E6ED"/>
            </a:solidFill>
            <a:prstDash val="solid"/>
          </a:ln>
        </p:spPr>
        <p:txBody>
          <a:bodyPr/>
          <a:p/>
        </p:txBody>
      </p:sp>
      <p:pic>
        <p:nvPicPr>
          <p:cNvPr id="4" name="Image 0" descr="model2_features.png"/>
          <p:cNvPicPr>
            <a:picLocks noChangeAspect="1"/>
          </p:cNvPicPr>
          <p:nvPr/>
        </p:nvPicPr>
        <p:blipFill>
          <a:blip r:embed="rId3"/>
          <a:stretch>
            <a:fillRect/>
          </a:stretch>
        </p:blipFill>
        <p:spPr>
          <a:xfrm>
            <a:off x="548640" y="1508760"/>
            <a:ext cx="6126480" cy="4070522"/>
          </a:xfrm>
          <a:prstGeom prst="rect">
            <a:avLst/>
          </a:prstGeom>
        </p:spPr>
      </p:pic>
      <p:sp>
        <p:nvSpPr>
          <p:cNvPr id="5" name="Shape 2"/>
          <p:cNvSpPr/>
          <p:nvPr/>
        </p:nvSpPr>
        <p:spPr>
          <a:xfrm>
            <a:off x="7040880" y="1508760"/>
            <a:ext cx="4572000" cy="4344842"/>
          </a:xfrm>
          <a:prstGeom prst="roundRect">
            <a:avLst>
              <a:gd name="adj" fmla="val 2105"/>
            </a:avLst>
          </a:prstGeom>
          <a:solidFill>
            <a:srgbClr val="1B2A4A"/>
          </a:solidFill>
          <a:ln/>
        </p:spPr>
        <p:txBody>
          <a:bodyPr/>
          <a:p/>
        </p:txBody>
      </p:sp>
      <p:sp>
        <p:nvSpPr>
          <p:cNvPr id="6" name="Text 3"/>
          <p:cNvSpPr txBox="1"/>
          <p:nvPr/>
        </p:nvSpPr>
        <p:spPr>
          <a:xfrm>
            <a:off x="7269480" y="1719072"/>
            <a:ext cx="4114800" cy="365760"/>
          </a:xfrm>
          <a:prstGeom prst="rect">
            <a:avLst/>
          </a:prstGeom>
          <a:noFill/>
          <a:ln/>
        </p:spPr>
        <p:txBody>
          <a:bodyPr wrap="square" lIns="0" tIns="0" rIns="0" bIns="0" rtlCol="0" anchor="ctr"/>
          <a:lstStyle/>
          <a:p>
            <a:pPr marL="0" indent="0">
              <a:buNone/>
            </a:pPr>
            <a:r>
              <a:rPr lang="en-US" sz="1350" b="1" dirty="0">
                <a:solidFill>
                  <a:srgbClr val="CADCFC"/>
                </a:solidFill>
                <a:latin typeface="Times New Roman" panose="02020603050405020304" pitchFamily="18" charset="0"/>
                <a:ea typeface="Calibri" pitchFamily="34" charset="-122"/>
                <a:cs typeface="Times New Roman" panose="02020603050405020304" pitchFamily="18" charset="0"/>
              </a:rPr>
              <a:t>What it shows</a:t>
            </a:r>
            <a:endParaRPr lang="en-US" sz="1350" dirty="0">
              <a:latin typeface="Times New Roman" panose="02020603050405020304" pitchFamily="18" charset="0"/>
              <a:cs typeface="Times New Roman" panose="02020603050405020304" pitchFamily="18" charset="0"/>
            </a:endParaRPr>
          </a:p>
        </p:txBody>
      </p:sp>
      <p:sp>
        <p:nvSpPr>
          <p:cNvPr id="7" name="Text 4"/>
          <p:cNvSpPr txBox="1"/>
          <p:nvPr/>
        </p:nvSpPr>
        <p:spPr>
          <a:xfrm>
            <a:off x="7269480" y="2148840"/>
            <a:ext cx="4114800" cy="3384722"/>
          </a:xfrm>
          <a:prstGeom prst="rect">
            <a:avLst/>
          </a:prstGeom>
          <a:noFill/>
          <a:ln/>
        </p:spPr>
        <p:txBody>
          <a:bodyPr wrap="square" lIns="0" tIns="0" rIns="0" bIns="0" rtlCol="0" anchor="t"/>
          <a:lstStyle/>
          <a:p>
            <a:pPr marL="342900" indent="-342900" algn="l">
              <a:lnSpc>
                <a:spcPct val="112000"/>
              </a:lnSpc>
              <a:spcAft>
                <a:spcPts val="600"/>
              </a:spcAft>
              <a:buSzPct val="100000"/>
              <a:buChar char="●"/>
            </a:pPr>
            <a:r>
              <a:rPr sz="1450">
                <a:solidFill>
                  <a:srgbClr val="FFFFFF"/>
                </a:solidFill>
                <a:latin typeface="Times New Roman" panose="02020603050405020304" pitchFamily="18" charset="0"/>
                <a:cs typeface="Times New Roman" panose="02020603050405020304" pitchFamily="18" charset="0"/>
              </a:rPr>
              <a:t>The strongest words come from real US job posts, such as "data entry", "assistant", "administrative" and "offshore"</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600"/>
              </a:spcAft>
              <a:buSzPct val="100000"/>
              <a:buChar char="●"/>
            </a:pPr>
            <a:r>
              <a:rPr sz="1450">
                <a:solidFill>
                  <a:srgbClr val="FFFFFF"/>
                </a:solidFill>
                <a:latin typeface="Times New Roman" panose="02020603050405020304" pitchFamily="18" charset="0"/>
                <a:cs typeface="Times New Roman" panose="02020603050405020304" pitchFamily="18" charset="0"/>
              </a:rPr>
              <a:t>Kenyan scam words such as "M-Pesa" or till numbers do not show up, because the training data has no Kenyan scams</a:t>
            </a:r>
          </a:p>
          <a:p>
            <a:pPr marL="342900" indent="-342900" algn="l">
              <a:lnSpc>
                <a:spcPct val="112000"/>
              </a:lnSpc>
              <a:spcAft>
                <a:spcPts val="600"/>
              </a:spcAft>
              <a:buSzPct val="100000"/>
              <a:buChar char="●"/>
            </a:pPr>
            <a:r>
              <a:rPr sz="1450">
                <a:solidFill>
                  <a:srgbClr val="FFFFFF"/>
                </a:solidFill>
                <a:latin typeface="Times New Roman" panose="02020603050405020304" pitchFamily="18" charset="0"/>
                <a:cs typeface="Times New Roman" panose="02020603050405020304" pitchFamily="18" charset="0"/>
              </a:rPr>
              <a:t>An earlier model that used synthetic data ranked "whatsapp" and "fee" highly, but also template words like "group" and "looking". We dropped it</a:t>
            </a:r>
          </a:p>
          <a:p>
            <a:pPr marL="342900" indent="-342900" algn="l">
              <a:lnSpc>
                <a:spcPct val="112000"/>
              </a:lnSpc>
              <a:spcAft>
                <a:spcPts val="600"/>
              </a:spcAft>
              <a:buSzPct val="100000"/>
              <a:buChar char="●"/>
            </a:pPr>
            <a:r>
              <a:rPr sz="1450">
                <a:solidFill>
                  <a:srgbClr val="FFFFFF"/>
                </a:solidFill>
                <a:latin typeface="Times New Roman" panose="02020603050405020304" pitchFamily="18" charset="0"/>
                <a:cs typeface="Times New Roman" panose="02020603050405020304" pitchFamily="18" charset="0"/>
              </a:rPr>
              <a:t>These are patterns in this data, not rules for all scams. They support human review</a:t>
            </a:r>
          </a:p>
        </p:txBody>
      </p:sp>
      <p:sp>
        <p:nvSpPr>
          <p:cNvPr id="8" name="Text 5"/>
          <p:cNvSpPr txBox="1"/>
          <p:nvPr/>
        </p:nvSpPr>
        <p:spPr>
          <a:xfrm>
            <a:off x="548640" y="6510528"/>
            <a:ext cx="11064240" cy="274320"/>
          </a:xfrm>
          <a:prstGeom prst="rect">
            <a:avLst/>
          </a:prstGeom>
          <a:noFill/>
          <a:ln/>
        </p:spPr>
        <p:txBody>
          <a:bodyPr wrap="square" lIns="0" tIns="0" rIns="0" bIns="0" rtlCol="0" anchor="ctr"/>
          <a:lstStyle/>
          <a:p>
            <a:pPr marL="0" indent="0">
              <a:buNone/>
            </a:pPr>
            <a:r>
              <a:rPr lang="en-US" sz="950" i="1" dirty="0">
                <a:solidFill>
                  <a:srgbClr val="6B7A8D"/>
                </a:solidFill>
                <a:latin typeface="Times New Roman" panose="02020603050405020304" pitchFamily="18" charset="0"/>
                <a:ea typeface="Calibri" pitchFamily="34" charset="-122"/>
                <a:cs typeface="Times New Roman" panose="02020603050405020304" pitchFamily="18" charset="0"/>
              </a:rPr>
              <a:t>Source: notebook, logistic regression trained on real EMSCAD data.</a:t>
            </a:r>
            <a:endParaRPr lang="en-US" sz="9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961120" cy="685800"/>
          </a:xfrm>
          <a:prstGeom prst="rect">
            <a:avLst/>
          </a:prstGeom>
          <a:noFill/>
          <a:ln/>
        </p:spPr>
        <p:txBody>
          <a:bodyPr wrap="square" lIns="0" tIns="0" rIns="0" bIns="0" rtlCol="0" anchor="t"/>
          <a:lstStyle/>
          <a:p>
            <a:r>
              <a:rPr>
                <a:latin typeface="Times New Roman" panose="02020603050405020304" pitchFamily="18" charset="0"/>
                <a:cs typeface="Times New Roman" panose="02020603050405020304" pitchFamily="18" charset="0"/>
              </a:rPr>
              <a:t>Final Evaluation, Deployment &amp; Limitations</a:t>
            </a:r>
          </a:p>
        </p:txBody>
      </p:sp>
      <p:sp>
        <p:nvSpPr>
          <p:cNvPr id="3" name="Text 1"/>
          <p:cNvSpPr txBox="1"/>
          <p:nvPr/>
        </p:nvSpPr>
        <p:spPr>
          <a:xfrm>
            <a:off x="548640" y="1042416"/>
            <a:ext cx="10332720" cy="365760"/>
          </a:xfrm>
          <a:prstGeom prst="rect">
            <a:avLst/>
          </a:prstGeom>
          <a:noFill/>
          <a:ln/>
        </p:spPr>
        <p:txBody>
          <a:bodyPr wrap="square" lIns="0" tIns="0" rIns="0" bIns="0" rtlCol="0" anchor="ctr"/>
          <a:lstStyle/>
          <a:p>
            <a:r>
              <a:rPr>
                <a:latin typeface="Times New Roman" panose="02020603050405020304" pitchFamily="18" charset="0"/>
                <a:cs typeface="Times New Roman" panose="02020603050405020304" pitchFamily="18" charset="0"/>
              </a:rPr>
              <a:t>Real EMSCAD holdout (2,331 posts, 114 fraud-risk) at threshold 0.25: results (left) and limits (right)</a:t>
            </a:r>
          </a:p>
        </p:txBody>
      </p:sp>
      <p:sp>
        <p:nvSpPr>
          <p:cNvPr id="4" name="Shape 2"/>
          <p:cNvSpPr/>
          <p:nvPr/>
        </p:nvSpPr>
        <p:spPr>
          <a:xfrm>
            <a:off x="548640" y="1600200"/>
            <a:ext cx="5120640" cy="4572000"/>
          </a:xfrm>
          <a:prstGeom prst="roundRect">
            <a:avLst>
              <a:gd name="adj" fmla="val 2000"/>
            </a:avLst>
          </a:prstGeom>
          <a:solidFill>
            <a:srgbClr val="1B2A4A"/>
          </a:solidFill>
          <a:ln/>
        </p:spPr>
        <p:txBody>
          <a:bodyPr/>
          <a:p/>
        </p:txBody>
      </p:sp>
      <p:sp>
        <p:nvSpPr>
          <p:cNvPr id="5" name="Text 3"/>
          <p:cNvSpPr txBox="1"/>
          <p:nvPr/>
        </p:nvSpPr>
        <p:spPr>
          <a:xfrm>
            <a:off x="822960" y="1828800"/>
            <a:ext cx="4572000" cy="365760"/>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anose="02020603050405020304" pitchFamily="18" charset="0"/>
                <a:ea typeface="Calibri" pitchFamily="34" charset="-122"/>
                <a:cs typeface="Times New Roman" panose="02020603050405020304" pitchFamily="18" charset="0"/>
              </a:rPr>
              <a:t>Measured Results</a:t>
            </a:r>
            <a:endParaRPr lang="en-US" sz="1500" dirty="0">
              <a:latin typeface="Times New Roman" panose="02020603050405020304" pitchFamily="18" charset="0"/>
              <a:cs typeface="Times New Roman" panose="02020603050405020304" pitchFamily="18" charset="0"/>
            </a:endParaRPr>
          </a:p>
        </p:txBody>
      </p:sp>
      <p:sp>
        <p:nvSpPr>
          <p:cNvPr id="6" name="Text 4"/>
          <p:cNvSpPr txBox="1"/>
          <p:nvPr/>
        </p:nvSpPr>
        <p:spPr>
          <a:xfrm>
            <a:off x="822960" y="2377440"/>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Fraud-risk precision</a:t>
            </a:r>
            <a:endParaRPr lang="en-US" sz="1200" dirty="0">
              <a:latin typeface="Times New Roman" panose="02020603050405020304" pitchFamily="18" charset="0"/>
              <a:cs typeface="Times New Roman" panose="02020603050405020304" pitchFamily="18" charset="0"/>
            </a:endParaRPr>
          </a:p>
        </p:txBody>
      </p:sp>
      <p:sp>
        <p:nvSpPr>
          <p:cNvPr id="7" name="Text 5"/>
          <p:cNvSpPr txBox="1"/>
          <p:nvPr/>
        </p:nvSpPr>
        <p:spPr>
          <a:xfrm>
            <a:off x="3566160" y="2377440"/>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63%</a:t>
            </a:r>
            <a:endParaRPr lang="en-US" sz="1300" dirty="0">
              <a:latin typeface="Times New Roman" panose="02020603050405020304" pitchFamily="18" charset="0"/>
              <a:cs typeface="Times New Roman" panose="02020603050405020304" pitchFamily="18" charset="0"/>
            </a:endParaRPr>
          </a:p>
        </p:txBody>
      </p:sp>
      <p:sp>
        <p:nvSpPr>
          <p:cNvPr id="8" name="Text 6"/>
          <p:cNvSpPr txBox="1"/>
          <p:nvPr/>
        </p:nvSpPr>
        <p:spPr>
          <a:xfrm>
            <a:off x="822960" y="2862072"/>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Fraud-risk recall</a:t>
            </a:r>
            <a:endParaRPr lang="en-US" sz="1200" dirty="0">
              <a:latin typeface="Times New Roman" panose="02020603050405020304" pitchFamily="18" charset="0"/>
              <a:cs typeface="Times New Roman" panose="02020603050405020304" pitchFamily="18" charset="0"/>
            </a:endParaRPr>
          </a:p>
        </p:txBody>
      </p:sp>
      <p:sp>
        <p:nvSpPr>
          <p:cNvPr id="9" name="Text 7"/>
          <p:cNvSpPr txBox="1"/>
          <p:nvPr/>
        </p:nvSpPr>
        <p:spPr>
          <a:xfrm>
            <a:off x="3566160" y="2862072"/>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82%</a:t>
            </a:r>
            <a:endParaRPr lang="en-US" sz="1300" dirty="0">
              <a:latin typeface="Times New Roman" panose="02020603050405020304" pitchFamily="18" charset="0"/>
              <a:cs typeface="Times New Roman" panose="02020603050405020304" pitchFamily="18" charset="0"/>
            </a:endParaRPr>
          </a:p>
        </p:txBody>
      </p:sp>
      <p:sp>
        <p:nvSpPr>
          <p:cNvPr id="10" name="Text 8"/>
          <p:cNvSpPr txBox="1"/>
          <p:nvPr/>
        </p:nvSpPr>
        <p:spPr>
          <a:xfrm>
            <a:off x="822960" y="3346704"/>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Fraud-risk F1</a:t>
            </a:r>
            <a:endParaRPr lang="en-US" sz="1200" dirty="0">
              <a:latin typeface="Times New Roman" panose="02020603050405020304" pitchFamily="18" charset="0"/>
              <a:cs typeface="Times New Roman" panose="02020603050405020304" pitchFamily="18" charset="0"/>
            </a:endParaRPr>
          </a:p>
        </p:txBody>
      </p:sp>
      <p:sp>
        <p:nvSpPr>
          <p:cNvPr id="11" name="Text 9"/>
          <p:cNvSpPr txBox="1"/>
          <p:nvPr/>
        </p:nvSpPr>
        <p:spPr>
          <a:xfrm>
            <a:off x="3566160" y="3346704"/>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71%</a:t>
            </a:r>
            <a:endParaRPr lang="en-US" sz="1300" dirty="0">
              <a:latin typeface="Times New Roman" panose="02020603050405020304" pitchFamily="18" charset="0"/>
              <a:cs typeface="Times New Roman" panose="02020603050405020304" pitchFamily="18" charset="0"/>
            </a:endParaRPr>
          </a:p>
        </p:txBody>
      </p:sp>
      <p:sp>
        <p:nvSpPr>
          <p:cNvPr id="12" name="Text 10"/>
          <p:cNvSpPr txBox="1"/>
          <p:nvPr/>
        </p:nvSpPr>
        <p:spPr>
          <a:xfrm>
            <a:off x="822960" y="3831336"/>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ROC-AUC</a:t>
            </a:r>
            <a:endParaRPr lang="en-US" sz="12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3566160" y="3831336"/>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0.969</a:t>
            </a:r>
            <a:endParaRPr lang="en-US" sz="1300" dirty="0">
              <a:latin typeface="Times New Roman" panose="02020603050405020304" pitchFamily="18" charset="0"/>
              <a:cs typeface="Times New Roman" panose="02020603050405020304" pitchFamily="18" charset="0"/>
            </a:endParaRPr>
          </a:p>
        </p:txBody>
      </p:sp>
      <p:sp>
        <p:nvSpPr>
          <p:cNvPr id="14" name="Text 12"/>
          <p:cNvSpPr txBox="1"/>
          <p:nvPr/>
        </p:nvSpPr>
        <p:spPr>
          <a:xfrm>
            <a:off x="822960" y="4315968"/>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PR-AUC</a:t>
            </a:r>
            <a:endParaRPr lang="en-US" sz="1200" dirty="0">
              <a:latin typeface="Times New Roman" panose="02020603050405020304" pitchFamily="18" charset="0"/>
              <a:cs typeface="Times New Roman" panose="02020603050405020304" pitchFamily="18" charset="0"/>
            </a:endParaRPr>
          </a:p>
        </p:txBody>
      </p:sp>
      <p:sp>
        <p:nvSpPr>
          <p:cNvPr id="15" name="Text 13"/>
          <p:cNvSpPr txBox="1"/>
          <p:nvPr/>
        </p:nvSpPr>
        <p:spPr>
          <a:xfrm>
            <a:off x="3566160" y="4315968"/>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0.807</a:t>
            </a:r>
            <a:endParaRPr lang="en-US" sz="1300" dirty="0">
              <a:latin typeface="Times New Roman" panose="02020603050405020304" pitchFamily="18" charset="0"/>
              <a:cs typeface="Times New Roman" panose="02020603050405020304" pitchFamily="18" charset="0"/>
            </a:endParaRPr>
          </a:p>
        </p:txBody>
      </p:sp>
      <p:sp>
        <p:nvSpPr>
          <p:cNvPr id="16" name="Text 14"/>
          <p:cNvSpPr txBox="1"/>
          <p:nvPr/>
        </p:nvSpPr>
        <p:spPr>
          <a:xfrm>
            <a:off x="822960" y="4800600"/>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False positives</a:t>
            </a:r>
            <a:endParaRPr lang="en-US" sz="1200" dirty="0">
              <a:latin typeface="Times New Roman" panose="02020603050405020304" pitchFamily="18" charset="0"/>
              <a:cs typeface="Times New Roman" panose="02020603050405020304" pitchFamily="18" charset="0"/>
            </a:endParaRPr>
          </a:p>
        </p:txBody>
      </p:sp>
      <p:sp>
        <p:nvSpPr>
          <p:cNvPr id="17" name="Text 15"/>
          <p:cNvSpPr txBox="1"/>
          <p:nvPr/>
        </p:nvSpPr>
        <p:spPr>
          <a:xfrm>
            <a:off x="3566160" y="4800600"/>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54 legitimate posts flagged</a:t>
            </a:r>
            <a:endParaRPr lang="en-US" sz="1300" dirty="0">
              <a:latin typeface="Times New Roman" panose="02020603050405020304" pitchFamily="18" charset="0"/>
              <a:cs typeface="Times New Roman" panose="02020603050405020304" pitchFamily="18" charset="0"/>
            </a:endParaRPr>
          </a:p>
        </p:txBody>
      </p:sp>
      <p:sp>
        <p:nvSpPr>
          <p:cNvPr id="18" name="Text 16"/>
          <p:cNvSpPr txBox="1"/>
          <p:nvPr/>
        </p:nvSpPr>
        <p:spPr>
          <a:xfrm>
            <a:off x="822960" y="5285232"/>
            <a:ext cx="2834640" cy="365760"/>
          </a:xfrm>
          <a:prstGeom prst="rect">
            <a:avLst/>
          </a:prstGeom>
          <a:noFill/>
          <a:ln/>
        </p:spPr>
        <p:txBody>
          <a:bodyPr wrap="square" lIns="0" tIns="0" rIns="0" bIns="0"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False negatives</a:t>
            </a:r>
            <a:endParaRPr lang="en-US" sz="1200" dirty="0">
              <a:latin typeface="Times New Roman" panose="02020603050405020304" pitchFamily="18" charset="0"/>
              <a:cs typeface="Times New Roman" panose="02020603050405020304" pitchFamily="18" charset="0"/>
            </a:endParaRPr>
          </a:p>
        </p:txBody>
      </p:sp>
      <p:sp>
        <p:nvSpPr>
          <p:cNvPr id="19" name="Text 17"/>
          <p:cNvSpPr txBox="1"/>
          <p:nvPr/>
        </p:nvSpPr>
        <p:spPr>
          <a:xfrm>
            <a:off x="3566160" y="5285232"/>
            <a:ext cx="18288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21 fraud-risk posts missed</a:t>
            </a:r>
            <a:endParaRPr lang="en-US" sz="1300" dirty="0">
              <a:latin typeface="Times New Roman" panose="02020603050405020304" pitchFamily="18" charset="0"/>
              <a:cs typeface="Times New Roman" panose="02020603050405020304" pitchFamily="18" charset="0"/>
            </a:endParaRPr>
          </a:p>
        </p:txBody>
      </p:sp>
      <p:sp>
        <p:nvSpPr>
          <p:cNvPr id="20" name="Shape 18"/>
          <p:cNvSpPr/>
          <p:nvPr/>
        </p:nvSpPr>
        <p:spPr>
          <a:xfrm>
            <a:off x="6035040" y="1600200"/>
            <a:ext cx="5577840" cy="4572000"/>
          </a:xfrm>
          <a:prstGeom prst="roundRect">
            <a:avLst>
              <a:gd name="adj" fmla="val 2000"/>
            </a:avLst>
          </a:prstGeom>
          <a:solidFill>
            <a:srgbClr val="FFFFFF"/>
          </a:solidFill>
          <a:ln w="19050">
            <a:solidFill>
              <a:srgbClr val="C0392B"/>
            </a:solidFill>
            <a:prstDash val="solid"/>
          </a:ln>
        </p:spPr>
        <p:txBody>
          <a:bodyPr/>
          <a:p/>
        </p:txBody>
      </p:sp>
      <p:sp>
        <p:nvSpPr>
          <p:cNvPr id="21" name="Text 19"/>
          <p:cNvSpPr txBox="1"/>
          <p:nvPr/>
        </p:nvSpPr>
        <p:spPr>
          <a:xfrm>
            <a:off x="6309360" y="1828800"/>
            <a:ext cx="5029200" cy="365760"/>
          </a:xfrm>
          <a:prstGeom prst="rect">
            <a:avLst/>
          </a:prstGeom>
          <a:noFill/>
          <a:ln/>
        </p:spPr>
        <p:txBody>
          <a:bodyPr wrap="square" lIns="0" tIns="0" rIns="0" bIns="0" rtlCol="0" anchor="ctr"/>
          <a:lstStyle/>
          <a:p>
            <a:r>
              <a:rPr>
                <a:latin typeface="Times New Roman" panose="02020603050405020304" pitchFamily="18" charset="0"/>
                <a:cs typeface="Times New Roman" panose="02020603050405020304" pitchFamily="18" charset="0"/>
              </a:rPr>
              <a:t>Deployment Status &amp; Limitations</a:t>
            </a:r>
          </a:p>
        </p:txBody>
      </p:sp>
      <p:sp>
        <p:nvSpPr>
          <p:cNvPr id="22" name="Text 20"/>
          <p:cNvSpPr txBox="1"/>
          <p:nvPr/>
        </p:nvSpPr>
        <p:spPr>
          <a:xfrm>
            <a:off x="6309360" y="2377440"/>
            <a:ext cx="5029200" cy="3657600"/>
          </a:xfrm>
          <a:prstGeom prst="rect">
            <a:avLst/>
          </a:prstGeom>
          <a:noFill/>
          <a:ln/>
        </p:spPr>
        <p:txBody>
          <a:bodyPr wrap="square" lIns="0" tIns="0" rIns="0" bIns="0" rtlCol="0" anchor="t"/>
          <a:lstStyle/>
          <a:p>
            <a:pPr marL="342900" indent="-342900" algn="l">
              <a:lnSpc>
                <a:spcPct val="112000"/>
              </a:lnSpc>
              <a:spcAft>
                <a:spcPts val="600"/>
              </a:spcAft>
              <a:buSzPct val="100000"/>
              <a:buChar char="●"/>
            </a:pPr>
            <a:r>
              <a:rPr sz="1420">
                <a:latin typeface="Times New Roman" panose="02020603050405020304" pitchFamily="18" charset="0"/>
                <a:cs typeface="Times New Roman" panose="02020603050405020304" pitchFamily="18" charset="0"/>
              </a:rPr>
              <a:t>Deployment is live: Vercel frontend + Render FastAPI backend</a:t>
            </a:r>
            <a:endParaRPr lang="en-US" sz="1250" dirty="0">
              <a:latin typeface="Times New Roman" panose="02020603050405020304" pitchFamily="18" charset="0"/>
              <a:cs typeface="Times New Roman" panose="02020603050405020304" pitchFamily="18" charset="0"/>
            </a:endParaRPr>
          </a:p>
          <a:p>
            <a:pPr marL="342900" indent="-342900" algn="l">
              <a:lnSpc>
                <a:spcPct val="112000"/>
              </a:lnSpc>
              <a:spcAft>
                <a:spcPts val="600"/>
              </a:spcAft>
              <a:buSzPct val="100000"/>
              <a:buChar char="●"/>
            </a:pPr>
            <a:r>
              <a:rPr sz="1420">
                <a:latin typeface="Times New Roman" panose="02020603050405020304" pitchFamily="18" charset="0"/>
                <a:cs typeface="Times New Roman" panose="02020603050405020304" pitchFamily="18" charset="0"/>
              </a:rPr>
              <a:t>Registry verification, blacklist checks, and fuzzy impersonation matching are implemented</a:t>
            </a:r>
          </a:p>
          <a:p>
            <a:pPr marL="342900" indent="-342900" algn="l">
              <a:lnSpc>
                <a:spcPct val="112000"/>
              </a:lnSpc>
              <a:spcAft>
                <a:spcPts val="600"/>
              </a:spcAft>
              <a:buSzPct val="100000"/>
              <a:buChar char="●"/>
            </a:pPr>
            <a:r>
              <a:rPr sz="1420">
                <a:latin typeface="Times New Roman" panose="02020603050405020304" pitchFamily="18" charset="0"/>
                <a:cs typeface="Times New Roman" panose="02020603050405020304" pitchFamily="18" charset="0"/>
              </a:rPr>
              <a:t>Trained on US job posts from 2012–14. No labelled Kenyan scams exist yet</a:t>
            </a:r>
          </a:p>
          <a:p>
            <a:pPr marL="342900" indent="-342900" algn="l">
              <a:lnSpc>
                <a:spcPct val="112000"/>
              </a:lnSpc>
              <a:spcAft>
                <a:spcPts val="600"/>
              </a:spcAft>
              <a:buSzPct val="100000"/>
              <a:buChar char="●"/>
            </a:pPr>
            <a:r>
              <a:rPr sz="1420">
                <a:latin typeface="Times New Roman" panose="02020603050405020304" pitchFamily="18" charset="0"/>
                <a:cs typeface="Times New Roman" panose="02020603050405020304" pitchFamily="18" charset="0"/>
              </a:rPr>
              <a:t>About 1 in 5 scams is missed (21 of 114)</a:t>
            </a:r>
          </a:p>
          <a:p>
            <a:pPr marL="342900" indent="-342900" algn="l">
              <a:lnSpc>
                <a:spcPct val="112000"/>
              </a:lnSpc>
              <a:spcAft>
                <a:spcPts val="600"/>
              </a:spcAft>
              <a:buSzPct val="100000"/>
              <a:buChar char="●"/>
            </a:pPr>
            <a:r>
              <a:rPr sz="1420">
                <a:latin typeface="Times New Roman" panose="02020603050405020304" pitchFamily="18" charset="0"/>
                <a:cs typeface="Times New Roman" panose="02020603050405020304" pitchFamily="18" charset="0"/>
              </a:rPr>
              <a:t>A Kenyan fee-scam test scored only 0.31, just over the 0.25 warning level</a:t>
            </a:r>
          </a:p>
          <a:p>
            <a:pPr marL="342900" indent="-342900" algn="l">
              <a:lnSpc>
                <a:spcPct val="112000"/>
              </a:lnSpc>
              <a:spcAft>
                <a:spcPts val="600"/>
              </a:spcAft>
              <a:buSzPct val="100000"/>
              <a:buChar char="●"/>
            </a:pPr>
            <a:r>
              <a:rPr sz="1420">
                <a:latin typeface="Times New Roman" panose="02020603050405020304" pitchFamily="18" charset="0"/>
                <a:cs typeface="Times New Roman" panose="02020603050405020304" pitchFamily="18" charset="0"/>
              </a:rPr>
              <a:t>Padding a scam with normal text lowers its score (7 of 93 caught scams slipped under the line)</a:t>
            </a:r>
          </a:p>
          <a:p>
            <a:pPr marL="342900" indent="-342900" algn="l">
              <a:lnSpc>
                <a:spcPct val="112000"/>
              </a:lnSpc>
              <a:spcAft>
                <a:spcPts val="600"/>
              </a:spcAft>
              <a:buSzPct val="100000"/>
              <a:buChar char="●"/>
            </a:pPr>
            <a:r>
              <a:rPr sz="1420">
                <a:latin typeface="Times New Roman" panose="02020603050405020304" pitchFamily="18" charset="0"/>
                <a:cs typeface="Times New Roman" panose="02020603050405020304" pitchFamily="18" charset="0"/>
              </a:rPr>
              <a:t>Real Kenyan performance is still unproven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94488"/>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Stress Test — Padding a Scam Post</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411480" y="1109472"/>
            <a:ext cx="6400800" cy="3651120"/>
          </a:xfrm>
          <a:prstGeom prst="roundRect">
            <a:avLst>
              <a:gd name="adj" fmla="val 2004"/>
            </a:avLst>
          </a:prstGeom>
          <a:solidFill>
            <a:srgbClr val="FFFFFF"/>
          </a:solidFill>
          <a:ln w="12700">
            <a:solidFill>
              <a:srgbClr val="E1E6ED"/>
            </a:solidFill>
            <a:prstDash val="solid"/>
          </a:ln>
        </p:spPr>
        <p:txBody>
          <a:bodyPr/>
          <a:p/>
        </p:txBody>
      </p:sp>
      <p:pic>
        <p:nvPicPr>
          <p:cNvPr id="4" name="Image 0" descr="model1_threshold.png"/>
          <p:cNvPicPr>
            <a:picLocks noChangeAspect="1"/>
          </p:cNvPicPr>
          <p:nvPr/>
        </p:nvPicPr>
        <p:blipFill>
          <a:blip r:embed="rId2"/>
          <a:stretch>
            <a:fillRect/>
          </a:stretch>
        </p:blipFill>
        <p:spPr>
          <a:xfrm>
            <a:off x="548640" y="1292352"/>
            <a:ext cx="6126480" cy="3376800"/>
          </a:xfrm>
          <a:prstGeom prst="rect">
            <a:avLst/>
          </a:prstGeom>
        </p:spPr>
      </p:pic>
      <p:sp>
        <p:nvSpPr>
          <p:cNvPr id="5" name="Shape 2"/>
          <p:cNvSpPr/>
          <p:nvPr/>
        </p:nvSpPr>
        <p:spPr>
          <a:xfrm>
            <a:off x="7040880" y="1155192"/>
            <a:ext cx="4572000" cy="3651120"/>
          </a:xfrm>
          <a:prstGeom prst="roundRect">
            <a:avLst>
              <a:gd name="adj" fmla="val 2504"/>
            </a:avLst>
          </a:prstGeom>
          <a:solidFill>
            <a:srgbClr val="1B2A4A"/>
          </a:solidFill>
          <a:ln/>
        </p:spPr>
        <p:txBody>
          <a:bodyPr/>
          <a:p/>
        </p:txBody>
      </p:sp>
      <p:sp>
        <p:nvSpPr>
          <p:cNvPr id="6" name="Text 3"/>
          <p:cNvSpPr txBox="1"/>
          <p:nvPr/>
        </p:nvSpPr>
        <p:spPr>
          <a:xfrm>
            <a:off x="7269480" y="1109472"/>
            <a:ext cx="4114800" cy="365760"/>
          </a:xfrm>
          <a:prstGeom prst="rect">
            <a:avLst/>
          </a:prstGeom>
          <a:noFill/>
          <a:ln/>
        </p:spPr>
        <p:txBody>
          <a:bodyPr wrap="square" lIns="0" tIns="0" rIns="0" bIns="0" rtlCol="0" anchor="ctr"/>
          <a:lstStyle/>
          <a:p>
            <a:pPr marL="0" indent="0">
              <a:buNone/>
            </a:pPr>
            <a:r>
              <a:rPr lang="en-US" sz="1350" b="1" dirty="0">
                <a:solidFill>
                  <a:srgbClr val="CADCFC"/>
                </a:solidFill>
                <a:latin typeface="Times New Roman" panose="02020603050405020304" pitchFamily="18" charset="0"/>
                <a:ea typeface="Calibri" pitchFamily="34" charset="-122"/>
                <a:cs typeface="Times New Roman" panose="02020603050405020304" pitchFamily="18" charset="0"/>
              </a:rPr>
              <a:t>What it shows</a:t>
            </a:r>
            <a:endParaRPr lang="en-US" sz="1350" dirty="0">
              <a:latin typeface="Times New Roman" panose="02020603050405020304" pitchFamily="18" charset="0"/>
              <a:cs typeface="Times New Roman" panose="02020603050405020304" pitchFamily="18" charset="0"/>
            </a:endParaRPr>
          </a:p>
        </p:txBody>
      </p:sp>
      <p:sp>
        <p:nvSpPr>
          <p:cNvPr id="7" name="Text 4"/>
          <p:cNvSpPr txBox="1"/>
          <p:nvPr/>
        </p:nvSpPr>
        <p:spPr>
          <a:xfrm>
            <a:off x="7269480" y="1539240"/>
            <a:ext cx="4114800" cy="2691000"/>
          </a:xfrm>
          <a:prstGeom prst="rect">
            <a:avLst/>
          </a:prstGeom>
          <a:noFill/>
          <a:ln/>
        </p:spPr>
        <p:txBody>
          <a:bodyPr wrap="square" lIns="0" tIns="0" rIns="0" bIns="0" rtlCol="0" anchor="t"/>
          <a:lstStyle/>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We took one M-Pesa fee scam and changed only the padding around it</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Repeating the scam 3 or 6 times left its score at 0.31</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Adding normal-sounding new words cut it to 0.13</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So the cause is word mix, not length. Our first guess (length) was wrong</a:t>
            </a:r>
            <a:endParaRPr lang="en-US" sz="1150" dirty="0">
              <a:latin typeface="Times New Roman" panose="02020603050405020304" pitchFamily="18" charset="0"/>
              <a:cs typeface="Times New Roman" panose="02020603050405020304" pitchFamily="18" charset="0"/>
            </a:endParaRPr>
          </a:p>
          <a:p>
            <a:pPr marL="342900" indent="-342900" algn="l">
              <a:lnSpc>
                <a:spcPct val="112000"/>
              </a:lnSpc>
              <a:spcAft>
                <a:spcPts val="800"/>
              </a:spcAft>
              <a:buSzPct val="100000"/>
              <a:buChar char="●"/>
            </a:pPr>
            <a:r>
              <a:rPr lang="en-US" sz="1150" dirty="0">
                <a:solidFill>
                  <a:srgbClr val="FFFFFF"/>
                </a:solidFill>
                <a:latin typeface="Times New Roman" panose="02020603050405020304" pitchFamily="18" charset="0"/>
                <a:ea typeface="Calibri" pitchFamily="34" charset="-122"/>
                <a:cs typeface="Times New Roman" panose="02020603050405020304" pitchFamily="18" charset="0"/>
              </a:rPr>
              <a:t>On the holdout, padding pushed 7 of 93 caught scams under the line. The rule layer won back 1</a:t>
            </a:r>
            <a:endParaRPr lang="en-US" sz="1150" dirty="0">
              <a:latin typeface="Times New Roman" panose="02020603050405020304" pitchFamily="18" charset="0"/>
              <a:cs typeface="Times New Roman" panose="02020603050405020304" pitchFamily="18" charset="0"/>
            </a:endParaRPr>
          </a:p>
        </p:txBody>
      </p:sp>
      <p:sp>
        <p:nvSpPr>
          <p:cNvPr id="8" name="Text 5"/>
          <p:cNvSpPr txBox="1"/>
          <p:nvPr/>
        </p:nvSpPr>
        <p:spPr>
          <a:xfrm>
            <a:off x="548640" y="5900928"/>
            <a:ext cx="11064240" cy="274320"/>
          </a:xfrm>
          <a:prstGeom prst="rect">
            <a:avLst/>
          </a:prstGeom>
          <a:noFill/>
          <a:ln/>
        </p:spPr>
        <p:txBody>
          <a:bodyPr wrap="square" lIns="0" tIns="0" rIns="0" bIns="0" rtlCol="0" anchor="ctr"/>
          <a:lstStyle/>
          <a:p>
            <a:pPr marL="0" indent="0">
              <a:buNone/>
            </a:pPr>
            <a:r>
              <a:rPr lang="en-US" sz="950" i="1" dirty="0">
                <a:solidFill>
                  <a:srgbClr val="6B7A8D"/>
                </a:solidFill>
                <a:latin typeface="Times New Roman" panose="02020603050405020304" pitchFamily="18" charset="0"/>
                <a:ea typeface="Calibri" pitchFamily="34" charset="-122"/>
                <a:cs typeface="Times New Roman" panose="02020603050405020304" pitchFamily="18" charset="0"/>
              </a:rPr>
              <a:t>Source: notebook Part 27 padding tests.</a:t>
            </a:r>
            <a:endParaRPr lang="en-US" sz="9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398780"/>
            <a:ext cx="8961120" cy="685800"/>
          </a:xfrm>
          <a:prstGeom prst="rect">
            <a:avLst/>
          </a:prstGeom>
          <a:noFill/>
          <a:ln/>
        </p:spPr>
        <p:txBody>
          <a:bodyPr wrap="square" lIns="0" tIns="0" rIns="0" bIns="0" rtlCol="0" anchor="t"/>
          <a:lstStyle/>
          <a:p>
            <a:pPr marL="0" indent="0">
              <a:buNone/>
            </a:pPr>
            <a:r>
              <a:rPr lang="en-US" sz="3000" b="1" dirty="0">
                <a:solidFill>
                  <a:srgbClr val="1B2A4A"/>
                </a:solidFill>
                <a:latin typeface="Times New Roman" panose="02020603050405020304" pitchFamily="18" charset="0"/>
                <a:ea typeface="Cambria" pitchFamily="34" charset="-122"/>
                <a:cs typeface="Times New Roman" panose="02020603050405020304" pitchFamily="18" charset="0"/>
              </a:rPr>
              <a:t>Limits &amp; Next Steps</a:t>
            </a:r>
            <a:endParaRPr lang="en-US" sz="3000" dirty="0">
              <a:latin typeface="Times New Roman" panose="02020603050405020304" pitchFamily="18" charset="0"/>
              <a:cs typeface="Times New Roman" panose="02020603050405020304" pitchFamily="18" charset="0"/>
            </a:endParaRPr>
          </a:p>
        </p:txBody>
      </p:sp>
      <p:sp>
        <p:nvSpPr>
          <p:cNvPr id="3" name="Shape 1"/>
          <p:cNvSpPr/>
          <p:nvPr/>
        </p:nvSpPr>
        <p:spPr>
          <a:xfrm>
            <a:off x="548640" y="1541780"/>
            <a:ext cx="2388870" cy="1737360"/>
          </a:xfrm>
          <a:prstGeom prst="roundRect">
            <a:avLst>
              <a:gd name="adj" fmla="val 4211"/>
            </a:avLst>
          </a:prstGeom>
          <a:solidFill>
            <a:srgbClr val="FFFFFF"/>
          </a:solidFill>
          <a:ln w="12700">
            <a:solidFill>
              <a:srgbClr val="E1E6ED"/>
            </a:solidFill>
            <a:prstDash val="solid"/>
          </a:ln>
        </p:spPr>
        <p:txBody>
          <a:bodyPr/>
          <a:p/>
        </p:txBody>
      </p:sp>
      <p:sp>
        <p:nvSpPr>
          <p:cNvPr id="4" name="Shape 2"/>
          <p:cNvSpPr/>
          <p:nvPr/>
        </p:nvSpPr>
        <p:spPr>
          <a:xfrm>
            <a:off x="1468755" y="1678940"/>
            <a:ext cx="548640" cy="548640"/>
          </a:xfrm>
          <a:prstGeom prst="ellipse">
            <a:avLst/>
          </a:prstGeom>
          <a:solidFill>
            <a:srgbClr val="4A6FA5"/>
          </a:solidFill>
          <a:ln/>
        </p:spPr>
        <p:txBody>
          <a:bodyPr/>
          <a:p/>
        </p:txBody>
      </p:sp>
      <p:pic>
        <p:nvPicPr>
          <p:cNvPr id="5" name="Image 0" descr="preencoded.png"/>
          <p:cNvPicPr>
            <a:picLocks noChangeAspect="1"/>
          </p:cNvPicPr>
          <p:nvPr/>
        </p:nvPicPr>
        <p:blipFill>
          <a:blip r:embed="rId3"/>
          <a:stretch>
            <a:fillRect/>
          </a:stretch>
        </p:blipFill>
        <p:spPr>
          <a:xfrm>
            <a:off x="1596771" y="1806956"/>
            <a:ext cx="292608" cy="292608"/>
          </a:xfrm>
          <a:prstGeom prst="rect">
            <a:avLst/>
          </a:prstGeom>
        </p:spPr>
      </p:pic>
      <p:sp>
        <p:nvSpPr>
          <p:cNvPr id="6" name="Text 3"/>
          <p:cNvSpPr txBox="1"/>
          <p:nvPr/>
        </p:nvSpPr>
        <p:spPr>
          <a:xfrm>
            <a:off x="658368" y="229158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Label Kenyan Posts</a:t>
            </a:r>
            <a:endParaRPr lang="en-US" sz="1150" dirty="0">
              <a:latin typeface="Times New Roman" panose="02020603050405020304" pitchFamily="18" charset="0"/>
              <a:cs typeface="Times New Roman" panose="02020603050405020304" pitchFamily="18" charset="0"/>
            </a:endParaRPr>
          </a:p>
        </p:txBody>
      </p:sp>
      <p:sp>
        <p:nvSpPr>
          <p:cNvPr id="7" name="Text 4"/>
          <p:cNvSpPr txBox="1"/>
          <p:nvPr/>
        </p:nvSpPr>
        <p:spPr>
          <a:xfrm>
            <a:off x="658368" y="262077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Review the 13,055 scraped Kenyan posts by hand. Biggest gain available</a:t>
            </a:r>
            <a:endParaRPr lang="en-US" sz="950" dirty="0">
              <a:latin typeface="Times New Roman" panose="02020603050405020304" pitchFamily="18" charset="0"/>
              <a:cs typeface="Times New Roman" panose="02020603050405020304" pitchFamily="18" charset="0"/>
            </a:endParaRPr>
          </a:p>
        </p:txBody>
      </p:sp>
      <p:sp>
        <p:nvSpPr>
          <p:cNvPr id="9" name="Shape 6"/>
          <p:cNvSpPr/>
          <p:nvPr/>
        </p:nvSpPr>
        <p:spPr>
          <a:xfrm>
            <a:off x="3440430" y="1541780"/>
            <a:ext cx="2388870" cy="1737360"/>
          </a:xfrm>
          <a:prstGeom prst="roundRect">
            <a:avLst>
              <a:gd name="adj" fmla="val 4211"/>
            </a:avLst>
          </a:prstGeom>
          <a:solidFill>
            <a:srgbClr val="FFFFFF"/>
          </a:solidFill>
          <a:ln w="12700">
            <a:solidFill>
              <a:srgbClr val="E1E6ED"/>
            </a:solidFill>
            <a:prstDash val="solid"/>
          </a:ln>
        </p:spPr>
        <p:txBody>
          <a:bodyPr/>
          <a:p/>
        </p:txBody>
      </p:sp>
      <p:sp>
        <p:nvSpPr>
          <p:cNvPr id="10" name="Shape 7"/>
          <p:cNvSpPr/>
          <p:nvPr/>
        </p:nvSpPr>
        <p:spPr>
          <a:xfrm>
            <a:off x="4360545" y="1678940"/>
            <a:ext cx="548640" cy="548640"/>
          </a:xfrm>
          <a:prstGeom prst="ellipse">
            <a:avLst/>
          </a:prstGeom>
          <a:solidFill>
            <a:srgbClr val="4A6FA5"/>
          </a:solidFill>
          <a:ln/>
        </p:spPr>
        <p:txBody>
          <a:bodyPr/>
          <a:p/>
        </p:txBody>
      </p:sp>
      <p:pic>
        <p:nvPicPr>
          <p:cNvPr id="11" name="Image 1" descr="preencoded.png"/>
          <p:cNvPicPr>
            <a:picLocks noChangeAspect="1"/>
          </p:cNvPicPr>
          <p:nvPr/>
        </p:nvPicPr>
        <p:blipFill>
          <a:blip r:embed="rId4"/>
          <a:stretch>
            <a:fillRect/>
          </a:stretch>
        </p:blipFill>
        <p:spPr>
          <a:xfrm>
            <a:off x="4488561" y="1806956"/>
            <a:ext cx="292608" cy="292608"/>
          </a:xfrm>
          <a:prstGeom prst="rect">
            <a:avLst/>
          </a:prstGeom>
        </p:spPr>
      </p:pic>
      <p:sp>
        <p:nvSpPr>
          <p:cNvPr id="12" name="Text 8"/>
          <p:cNvSpPr txBox="1"/>
          <p:nvPr/>
        </p:nvSpPr>
        <p:spPr>
          <a:xfrm>
            <a:off x="3550158" y="229158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Check the Employer</a:t>
            </a:r>
            <a:endParaRPr lang="en-US" sz="1150" dirty="0">
              <a:latin typeface="Times New Roman" panose="02020603050405020304" pitchFamily="18" charset="0"/>
              <a:cs typeface="Times New Roman" panose="02020603050405020304" pitchFamily="18" charset="0"/>
            </a:endParaRPr>
          </a:p>
        </p:txBody>
      </p:sp>
      <p:sp>
        <p:nvSpPr>
          <p:cNvPr id="13" name="Text 9"/>
          <p:cNvSpPr txBox="1"/>
          <p:nvPr/>
        </p:nvSpPr>
        <p:spPr>
          <a:xfrm>
            <a:off x="3550158" y="262077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Some scams read like normal ads. Only employer and blacklist checks catch them</a:t>
            </a:r>
            <a:endParaRPr lang="en-US" sz="950" dirty="0">
              <a:latin typeface="Times New Roman" panose="02020603050405020304" pitchFamily="18" charset="0"/>
              <a:cs typeface="Times New Roman" panose="02020603050405020304" pitchFamily="18" charset="0"/>
            </a:endParaRPr>
          </a:p>
        </p:txBody>
      </p:sp>
      <p:sp>
        <p:nvSpPr>
          <p:cNvPr id="15" name="Shape 11"/>
          <p:cNvSpPr/>
          <p:nvPr/>
        </p:nvSpPr>
        <p:spPr>
          <a:xfrm>
            <a:off x="6332220" y="1541780"/>
            <a:ext cx="2388870" cy="1737360"/>
          </a:xfrm>
          <a:prstGeom prst="roundRect">
            <a:avLst>
              <a:gd name="adj" fmla="val 4211"/>
            </a:avLst>
          </a:prstGeom>
          <a:solidFill>
            <a:srgbClr val="FFFFFF"/>
          </a:solidFill>
          <a:ln w="12700">
            <a:solidFill>
              <a:srgbClr val="E1E6ED"/>
            </a:solidFill>
            <a:prstDash val="solid"/>
          </a:ln>
        </p:spPr>
        <p:txBody>
          <a:bodyPr/>
          <a:p/>
        </p:txBody>
      </p:sp>
      <p:sp>
        <p:nvSpPr>
          <p:cNvPr id="16" name="Shape 12"/>
          <p:cNvSpPr/>
          <p:nvPr/>
        </p:nvSpPr>
        <p:spPr>
          <a:xfrm>
            <a:off x="7252335" y="1678940"/>
            <a:ext cx="548640" cy="548640"/>
          </a:xfrm>
          <a:prstGeom prst="ellipse">
            <a:avLst/>
          </a:prstGeom>
          <a:solidFill>
            <a:srgbClr val="4A6FA5"/>
          </a:solidFill>
          <a:ln/>
        </p:spPr>
        <p:txBody>
          <a:bodyPr/>
          <a:p/>
        </p:txBody>
      </p:sp>
      <p:pic>
        <p:nvPicPr>
          <p:cNvPr id="17" name="Image 2" descr="preencoded.png"/>
          <p:cNvPicPr>
            <a:picLocks noChangeAspect="1"/>
          </p:cNvPicPr>
          <p:nvPr/>
        </p:nvPicPr>
        <p:blipFill>
          <a:blip r:embed="rId5"/>
          <a:stretch>
            <a:fillRect/>
          </a:stretch>
        </p:blipFill>
        <p:spPr>
          <a:xfrm>
            <a:off x="7380351" y="1806956"/>
            <a:ext cx="292608" cy="292608"/>
          </a:xfrm>
          <a:prstGeom prst="rect">
            <a:avLst/>
          </a:prstGeom>
        </p:spPr>
      </p:pic>
      <p:sp>
        <p:nvSpPr>
          <p:cNvPr id="18" name="Text 13"/>
          <p:cNvSpPr txBox="1"/>
          <p:nvPr/>
        </p:nvSpPr>
        <p:spPr>
          <a:xfrm>
            <a:off x="6441948" y="229158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Test on Kenyan Data</a:t>
            </a:r>
            <a:endParaRPr lang="en-US" sz="1150" dirty="0">
              <a:latin typeface="Times New Roman" panose="02020603050405020304" pitchFamily="18" charset="0"/>
              <a:cs typeface="Times New Roman" panose="02020603050405020304" pitchFamily="18" charset="0"/>
            </a:endParaRPr>
          </a:p>
        </p:txBody>
      </p:sp>
      <p:sp>
        <p:nvSpPr>
          <p:cNvPr id="19" name="Text 14"/>
          <p:cNvSpPr txBox="1"/>
          <p:nvPr/>
        </p:nvSpPr>
        <p:spPr>
          <a:xfrm>
            <a:off x="6441948" y="262077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Rules changed nothing on EMSCAD. Re-check them and the threshold on Kenyan posts</a:t>
            </a:r>
            <a:endParaRPr lang="en-US" sz="950" dirty="0">
              <a:latin typeface="Times New Roman" panose="02020603050405020304" pitchFamily="18" charset="0"/>
              <a:cs typeface="Times New Roman" panose="02020603050405020304" pitchFamily="18" charset="0"/>
            </a:endParaRPr>
          </a:p>
        </p:txBody>
      </p:sp>
      <p:sp>
        <p:nvSpPr>
          <p:cNvPr id="21" name="Shape 16"/>
          <p:cNvSpPr/>
          <p:nvPr/>
        </p:nvSpPr>
        <p:spPr>
          <a:xfrm>
            <a:off x="9224010" y="1541780"/>
            <a:ext cx="2388870" cy="1737360"/>
          </a:xfrm>
          <a:prstGeom prst="roundRect">
            <a:avLst>
              <a:gd name="adj" fmla="val 4211"/>
            </a:avLst>
          </a:prstGeom>
          <a:solidFill>
            <a:srgbClr val="FFFFFF"/>
          </a:solidFill>
          <a:ln w="12700">
            <a:solidFill>
              <a:srgbClr val="E1E6ED"/>
            </a:solidFill>
            <a:prstDash val="solid"/>
          </a:ln>
        </p:spPr>
        <p:txBody>
          <a:bodyPr/>
          <a:p/>
        </p:txBody>
      </p:sp>
      <p:sp>
        <p:nvSpPr>
          <p:cNvPr id="22" name="Shape 17"/>
          <p:cNvSpPr/>
          <p:nvPr/>
        </p:nvSpPr>
        <p:spPr>
          <a:xfrm>
            <a:off x="10144125" y="1678940"/>
            <a:ext cx="548640" cy="548640"/>
          </a:xfrm>
          <a:prstGeom prst="ellipse">
            <a:avLst/>
          </a:prstGeom>
          <a:solidFill>
            <a:srgbClr val="4A6FA5"/>
          </a:solidFill>
          <a:ln/>
        </p:spPr>
        <p:txBody>
          <a:bodyPr/>
          <a:p/>
        </p:txBody>
      </p:sp>
      <p:pic>
        <p:nvPicPr>
          <p:cNvPr id="23" name="Image 3" descr="preencoded.png"/>
          <p:cNvPicPr>
            <a:picLocks noChangeAspect="1"/>
          </p:cNvPicPr>
          <p:nvPr/>
        </p:nvPicPr>
        <p:blipFill>
          <a:blip r:embed="rId6"/>
          <a:stretch>
            <a:fillRect/>
          </a:stretch>
        </p:blipFill>
        <p:spPr>
          <a:xfrm>
            <a:off x="10272141" y="1806956"/>
            <a:ext cx="292608" cy="292608"/>
          </a:xfrm>
          <a:prstGeom prst="rect">
            <a:avLst/>
          </a:prstGeom>
        </p:spPr>
      </p:pic>
      <p:sp>
        <p:nvSpPr>
          <p:cNvPr id="24" name="Text 18"/>
          <p:cNvSpPr txBox="1"/>
          <p:nvPr/>
        </p:nvSpPr>
        <p:spPr>
          <a:xfrm>
            <a:off x="9333738" y="2291588"/>
            <a:ext cx="2169414" cy="365760"/>
          </a:xfrm>
          <a:prstGeom prst="rect">
            <a:avLst/>
          </a:prstGeom>
          <a:noFill/>
          <a:ln/>
        </p:spPr>
        <p:txBody>
          <a:bodyPr wrap="square" lIns="0" tIns="0" rIns="0" bIns="0" rtlCol="0" anchor="t"/>
          <a:lstStyle/>
          <a:p>
            <a:pPr marL="0" indent="0" algn="ctr">
              <a:buNone/>
            </a:pPr>
            <a:r>
              <a:rPr lang="en-US" sz="1150" b="1" dirty="0">
                <a:solidFill>
                  <a:srgbClr val="1B2A4A"/>
                </a:solidFill>
                <a:latin typeface="Times New Roman" panose="02020603050405020304" pitchFamily="18" charset="0"/>
                <a:ea typeface="Calibri" pitchFamily="34" charset="-122"/>
                <a:cs typeface="Times New Roman" panose="02020603050405020304" pitchFamily="18" charset="0"/>
              </a:rPr>
              <a:t>Revisit DistilBERT</a:t>
            </a:r>
            <a:endParaRPr lang="en-US" sz="1150" dirty="0">
              <a:latin typeface="Times New Roman" panose="02020603050405020304" pitchFamily="18" charset="0"/>
              <a:cs typeface="Times New Roman" panose="02020603050405020304" pitchFamily="18" charset="0"/>
            </a:endParaRPr>
          </a:p>
        </p:txBody>
      </p:sp>
      <p:sp>
        <p:nvSpPr>
          <p:cNvPr id="25" name="Text 19"/>
          <p:cNvSpPr txBox="1"/>
          <p:nvPr/>
        </p:nvSpPr>
        <p:spPr>
          <a:xfrm>
            <a:off x="9333738" y="2620772"/>
            <a:ext cx="2169414" cy="594360"/>
          </a:xfrm>
          <a:prstGeom prst="rect">
            <a:avLst/>
          </a:prstGeom>
          <a:noFill/>
          <a:ln/>
        </p:spPr>
        <p:txBody>
          <a:bodyPr wrap="square" lIns="0" tIns="0" rIns="0" bIns="0" rtlCol="0" anchor="t"/>
          <a:lstStyle/>
          <a:p>
            <a:pPr marL="0" indent="0" algn="ctr">
              <a:buNone/>
            </a:pPr>
            <a:r>
              <a:rPr lang="en-US" sz="950" dirty="0">
                <a:solidFill>
                  <a:srgbClr val="6B7A8D"/>
                </a:solidFill>
                <a:latin typeface="Times New Roman" panose="02020603050405020304" pitchFamily="18" charset="0"/>
                <a:ea typeface="Calibri" pitchFamily="34" charset="-122"/>
                <a:cs typeface="Times New Roman" panose="02020603050405020304" pitchFamily="18" charset="0"/>
              </a:rPr>
              <a:t>Best on Kenyan test scams. Retry once labelled Kenyan data exists</a:t>
            </a:r>
            <a:endParaRPr lang="en-US" sz="950" dirty="0">
              <a:latin typeface="Times New Roman" panose="02020603050405020304" pitchFamily="18" charset="0"/>
              <a:cs typeface="Times New Roman" panose="02020603050405020304" pitchFamily="18" charset="0"/>
            </a:endParaRPr>
          </a:p>
        </p:txBody>
      </p:sp>
      <p:sp>
        <p:nvSpPr>
          <p:cNvPr id="26" name="Text 20"/>
          <p:cNvSpPr txBox="1"/>
          <p:nvPr/>
        </p:nvSpPr>
        <p:spPr>
          <a:xfrm>
            <a:off x="548640" y="3553460"/>
            <a:ext cx="10515600" cy="2011680"/>
          </a:xfrm>
          <a:prstGeom prst="rect">
            <a:avLst/>
          </a:prstGeom>
          <a:noFill/>
          <a:ln/>
        </p:spPr>
        <p:txBody>
          <a:bodyPr wrap="square" lIns="0" tIns="0" rIns="0" bIns="0" rtlCol="0" anchor="t"/>
          <a:lstStyle/>
          <a:p>
            <a:pPr marL="342900" indent="-342900" algn="l">
              <a:lnSpc>
                <a:spcPct val="112000"/>
              </a:lnSpc>
              <a:spcAft>
                <a:spcPts val="1200"/>
              </a:spcAft>
              <a:buSzPct val="100000"/>
              <a:buChar char="●"/>
            </a:pPr>
            <a:r>
              <a:rPr lang="en-US" sz="1300" dirty="0">
                <a:solidFill>
                  <a:srgbClr val="33414F"/>
                </a:solidFill>
                <a:latin typeface="Times New Roman" panose="02020603050405020304" pitchFamily="18" charset="0"/>
                <a:ea typeface="Calibri" pitchFamily="34" charset="-122"/>
                <a:cs typeface="Times New Roman" panose="02020603050405020304" pitchFamily="18" charset="0"/>
              </a:rPr>
              <a:t>Thresholds were tuned on EMSCAD only. They are not yet checked on Kenyan traffic.</a:t>
            </a:r>
            <a:endParaRPr lang="en-US" sz="1300" dirty="0">
              <a:latin typeface="Times New Roman" panose="02020603050405020304" pitchFamily="18" charset="0"/>
              <a:cs typeface="Times New Roman" panose="02020603050405020304" pitchFamily="18" charset="0"/>
            </a:endParaRPr>
          </a:p>
          <a:p>
            <a:pPr marL="342900" indent="-342900" algn="l">
              <a:lnSpc>
                <a:spcPct val="112000"/>
              </a:lnSpc>
              <a:spcAft>
                <a:spcPts val="1200"/>
              </a:spcAft>
              <a:buSzPct val="100000"/>
              <a:buChar char="●"/>
            </a:pPr>
            <a:r>
              <a:rPr lang="en-US" sz="1300" dirty="0">
                <a:solidFill>
                  <a:srgbClr val="33414F"/>
                </a:solidFill>
                <a:latin typeface="Times New Roman" panose="02020603050405020304" pitchFamily="18" charset="0"/>
                <a:ea typeface="Calibri" pitchFamily="34" charset="-122"/>
                <a:cs typeface="Times New Roman" panose="02020603050405020304" pitchFamily="18" charset="0"/>
              </a:rPr>
              <a:t>Some "false alarms" may be wrong EMSCAD labels: two different models scored them above 0.98. So precision is probably understated.</a:t>
            </a:r>
            <a:endParaRPr lang="en-US" sz="1300" dirty="0">
              <a:latin typeface="Times New Roman" panose="02020603050405020304" pitchFamily="18" charset="0"/>
              <a:cs typeface="Times New Roman" panose="02020603050405020304" pitchFamily="18" charset="0"/>
            </a:endParaRPr>
          </a:p>
          <a:p>
            <a:pPr marL="342900" indent="-342900" algn="l">
              <a:lnSpc>
                <a:spcPct val="112000"/>
              </a:lnSpc>
              <a:spcAft>
                <a:spcPts val="1200"/>
              </a:spcAft>
              <a:buSzPct val="100000"/>
              <a:buChar char="●"/>
            </a:pPr>
            <a:r>
              <a:rPr lang="en-US" sz="1300" dirty="0">
                <a:solidFill>
                  <a:srgbClr val="33414F"/>
                </a:solidFill>
                <a:latin typeface="Times New Roman" panose="02020603050405020304" pitchFamily="18" charset="0"/>
                <a:ea typeface="Calibri" pitchFamily="34" charset="-122"/>
                <a:cs typeface="Times New Roman" panose="02020603050405020304" pitchFamily="18" charset="0"/>
              </a:rPr>
              <a:t>Tried and dropped: synthetic training data, calibration, gradient boosting, frozen embeddings and zero-shot scoring. Each lost on real data.</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41F38"/>
        </a:solidFill>
        <a:effectLst/>
      </p:bgPr>
    </p:bg>
    <p:spTree>
      <p:nvGrpSpPr>
        <p:cNvPr id="1" name=""/>
        <p:cNvGrpSpPr/>
        <p:nvPr/>
      </p:nvGrpSpPr>
      <p:grpSpPr>
        <a:xfrm>
          <a:off x="0" y="0"/>
          <a:ext cx="0" cy="0"/>
          <a:chOff x="0" y="0"/>
          <a:chExt cx="0" cy="0"/>
        </a:xfrm>
      </p:grpSpPr>
      <p:sp>
        <p:nvSpPr>
          <p:cNvPr id="2" name="Shape 0"/>
          <p:cNvSpPr/>
          <p:nvPr/>
        </p:nvSpPr>
        <p:spPr>
          <a:xfrm>
            <a:off x="548640" y="502920"/>
            <a:ext cx="640080" cy="640080"/>
          </a:xfrm>
          <a:prstGeom prst="ellipse">
            <a:avLst/>
          </a:prstGeom>
          <a:solidFill>
            <a:srgbClr val="4A6FA5"/>
          </a:solidFill>
          <a:ln/>
        </p:spPr>
      </p:sp>
      <p:pic>
        <p:nvPicPr>
          <p:cNvPr id="3" name="Image 0" descr="preencoded.png"/>
          <p:cNvPicPr>
            <a:picLocks noChangeAspect="1"/>
          </p:cNvPicPr>
          <p:nvPr/>
        </p:nvPicPr>
        <p:blipFill>
          <a:blip r:embed="rId3"/>
          <a:stretch>
            <a:fillRect/>
          </a:stretch>
        </p:blipFill>
        <p:spPr>
          <a:xfrm>
            <a:off x="713232" y="667512"/>
            <a:ext cx="310896" cy="310896"/>
          </a:xfrm>
          <a:prstGeom prst="rect">
            <a:avLst/>
          </a:prstGeom>
        </p:spPr>
      </p:pic>
      <p:sp>
        <p:nvSpPr>
          <p:cNvPr id="4" name="Text 1"/>
          <p:cNvSpPr txBox="1"/>
          <p:nvPr/>
        </p:nvSpPr>
        <p:spPr>
          <a:xfrm>
            <a:off x="548640" y="1325880"/>
            <a:ext cx="91440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2"/>
          <p:cNvSpPr txBox="1"/>
          <p:nvPr/>
        </p:nvSpPr>
        <p:spPr>
          <a:xfrm>
            <a:off x="548640" y="2103120"/>
            <a:ext cx="9144000" cy="4572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Questions welcome</a:t>
            </a:r>
            <a:endParaRPr lang="en-US" sz="1800" dirty="0"/>
          </a:p>
        </p:txBody>
      </p:sp>
      <p:sp>
        <p:nvSpPr>
          <p:cNvPr id="6" name="Shape 3"/>
          <p:cNvSpPr/>
          <p:nvPr/>
        </p:nvSpPr>
        <p:spPr>
          <a:xfrm>
            <a:off x="548640" y="3017520"/>
            <a:ext cx="9601200" cy="1005840"/>
          </a:xfrm>
          <a:prstGeom prst="roundRect">
            <a:avLst>
              <a:gd name="adj" fmla="val 9091"/>
            </a:avLst>
          </a:prstGeom>
          <a:solidFill>
            <a:srgbClr val="1B2A4A"/>
          </a:solidFill>
          <a:ln w="12700">
            <a:solidFill>
              <a:srgbClr val="34456B"/>
            </a:solidFill>
            <a:prstDash val="solid"/>
          </a:ln>
        </p:spPr>
      </p:sp>
      <p:sp>
        <p:nvSpPr>
          <p:cNvPr id="7" name="Text 4"/>
          <p:cNvSpPr txBox="1"/>
          <p:nvPr/>
        </p:nvSpPr>
        <p:spPr>
          <a:xfrm>
            <a:off x="822960" y="3017520"/>
            <a:ext cx="9052560" cy="1005840"/>
          </a:xfrm>
          <a:prstGeom prst="rect">
            <a:avLst/>
          </a:prstGeom>
          <a:noFill/>
          <a:ln/>
        </p:spPr>
        <p:txBody>
          <a:bodyPr wrap="square" lIns="0" tIns="0" rIns="0" bIns="0" rtlCol="0" anchor="ctr"/>
          <a:lstStyle/>
          <a:p>
            <a:pPr marL="0" indent="0" algn="ctr">
              <a:buNone/>
            </a:pPr>
            <a:r>
              <a:rPr lang="en-US" sz="1600" i="1" dirty="0">
                <a:solidFill>
                  <a:srgbClr val="CADCFC"/>
                </a:solidFill>
                <a:latin typeface="Cambria" pitchFamily="34" charset="0"/>
                <a:ea typeface="Cambria" pitchFamily="34" charset="-122"/>
                <a:cs typeface="Cambria" pitchFamily="34" charset="-120"/>
              </a:rPr>
              <a:t>“The goal is not to replace human verification—it is to help people know what to verify first.”</a:t>
            </a:r>
            <a:endParaRPr lang="en-US" sz="1600" dirty="0"/>
          </a:p>
        </p:txBody>
      </p:sp>
      <p:sp>
        <p:nvSpPr>
          <p:cNvPr id="8" name="Text 5"/>
          <p:cNvSpPr txBox="1"/>
          <p:nvPr/>
        </p:nvSpPr>
        <p:spPr>
          <a:xfrm>
            <a:off x="548640" y="6309360"/>
            <a:ext cx="10058400" cy="365760"/>
          </a:xfrm>
          <a:prstGeom prst="rect">
            <a:avLst/>
          </a:prstGeom>
          <a:noFill/>
          <a:ln/>
        </p:spPr>
        <p:txBody>
          <a:bodyPr wrap="square" lIns="0" tIns="0" rIns="0" bIns="0" rtlCol="0" anchor="ctr"/>
          <a:lstStyle/>
          <a:p>
            <a:pPr marL="0" indent="0">
              <a:buNone/>
            </a:pPr>
            <a:r>
              <a:rPr lang="en-US" sz="1100" dirty="0">
                <a:solidFill>
                  <a:srgbClr val="8FA6C9"/>
                </a:solidFill>
                <a:latin typeface="Calibri" pitchFamily="34" charset="0"/>
                <a:ea typeface="Calibri" pitchFamily="34" charset="-122"/>
                <a:cs typeface="Calibri" pitchFamily="34" charset="-120"/>
              </a:rPr>
              <a:t>AI-Powered Job Scam Detection System  |  Moringa School Data Science Capstone</a:t>
            </a:r>
            <a:endParaRPr lang="en-US" sz="11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789920" cy="685800"/>
          </a:xfrm>
          <a:prstGeom prst="rect">
            <a:avLst/>
          </a:prstGeom>
          <a:noFill/>
        </p:spPr>
        <p:txBody>
          <a:bodyPr wrap="none">
            <a:spAutoFit/>
          </a:bodyPr>
          <a:lstStyle/>
          <a:p>
            <a:pPr>
              <a:defRPr sz="2600" b="1">
                <a:solidFill>
                  <a:srgbClr val="1E3455"/>
                </a:solidFill>
                <a:latin typeface="Aptos Display"/>
              </a:defRPr>
            </a:pPr>
            <a:r>
              <a:t>Synthetic Text Patterns &amp; Vocabulary</a:t>
            </a:r>
          </a:p>
        </p:txBody>
      </p:sp>
      <p:sp>
        <p:nvSpPr>
          <p:cNvPr id="3" name="Rounded Rectangle 2"/>
          <p:cNvSpPr/>
          <p:nvPr/>
        </p:nvSpPr>
        <p:spPr>
          <a:xfrm>
            <a:off x="594360" y="1325880"/>
            <a:ext cx="3246120" cy="42519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164592"/>
          <a:lstStyle/>
          <a:p>
            <a:pPr algn="ctr">
              <a:spcAft>
                <a:spcPts val="100"/>
              </a:spcAft>
              <a:defRPr sz="2800" b="1">
                <a:solidFill>
                  <a:srgbClr val="1E3455"/>
                </a:solidFill>
                <a:latin typeface="Aptos Display"/>
              </a:defRPr>
            </a:pPr>
            <a:r>
              <a:t>344</a:t>
            </a:r>
          </a:p>
          <a:p>
            <a:pPr algn="ctr">
              <a:spcAft>
                <a:spcPts val="1300"/>
              </a:spcAft>
              <a:defRPr sz="1250">
                <a:solidFill>
                  <a:srgbClr val="1E1E1E"/>
                </a:solidFill>
                <a:latin typeface="Aptos"/>
              </a:defRPr>
            </a:pPr>
            <a:r>
              <a:t>unique words in all synthetic text</a:t>
            </a:r>
          </a:p>
          <a:p>
            <a:pPr algn="ctr">
              <a:spcAft>
                <a:spcPts val="100"/>
              </a:spcAft>
              <a:defRPr sz="2300" b="1">
                <a:solidFill>
                  <a:srgbClr val="385C84"/>
                </a:solidFill>
                <a:latin typeface="Aptos Display"/>
              </a:defRPr>
            </a:pPr>
            <a:r>
              <a:t>339 / 344</a:t>
            </a:r>
          </a:p>
          <a:p>
            <a:pPr algn="ctr">
              <a:spcAft>
                <a:spcPts val="1300"/>
              </a:spcAft>
              <a:defRPr sz="1250">
                <a:solidFill>
                  <a:srgbClr val="1E1E1E"/>
                </a:solidFill>
                <a:latin typeface="Aptos"/>
              </a:defRPr>
            </a:pPr>
            <a:r>
              <a:t>98.55% of synthetic words also occur in original data</a:t>
            </a:r>
          </a:p>
          <a:p>
            <a:pPr algn="ctr">
              <a:spcAft>
                <a:spcPts val="100"/>
              </a:spcAft>
              <a:defRPr sz="2300" b="1">
                <a:solidFill>
                  <a:srgbClr val="B83C32"/>
                </a:solidFill>
                <a:latin typeface="Aptos Display"/>
              </a:defRPr>
            </a:pPr>
            <a:r>
              <a:t>5</a:t>
            </a:r>
          </a:p>
          <a:p>
            <a:pPr algn="ctr">
              <a:spcAft>
                <a:spcPts val="1300"/>
              </a:spcAft>
              <a:defRPr sz="1250">
                <a:solidFill>
                  <a:srgbClr val="1E1E1E"/>
                </a:solidFill>
                <a:latin typeface="Aptos"/>
              </a:defRPr>
            </a:pPr>
            <a:r>
              <a:t>synthetic-only words</a:t>
            </a:r>
          </a:p>
        </p:txBody>
      </p:sp>
      <p:sp>
        <p:nvSpPr>
          <p:cNvPr id="4" name="Rounded Rectangle 3"/>
          <p:cNvSpPr/>
          <p:nvPr/>
        </p:nvSpPr>
        <p:spPr>
          <a:xfrm>
            <a:off x="4160520" y="1325880"/>
            <a:ext cx="7406640" cy="4251960"/>
          </a:xfrm>
          <a:prstGeom prst="round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lIns="256032" rIns="228600" tIns="201168"/>
          <a:lstStyle/>
          <a:p>
            <a:pPr algn="ctr">
              <a:spcAft>
                <a:spcPts val="700"/>
              </a:spcAft>
              <a:defRPr sz="1900" b="1">
                <a:solidFill>
                  <a:srgbClr val="1E3455"/>
                </a:solidFill>
                <a:latin typeface="Aptos"/>
              </a:defRPr>
            </a:pPr>
            <a:r>
              <a:t>Repeated template signals</a:t>
            </a:r>
          </a:p>
          <a:p>
            <a:pPr>
              <a:spcAft>
                <a:spcPts val="200"/>
              </a:spcAft>
              <a:defRPr sz="1500" b="1">
                <a:solidFill>
                  <a:srgbClr val="1E1E1E"/>
                </a:solidFill>
                <a:latin typeface="Aptos"/>
              </a:defRPr>
            </a:pPr>
            <a:r>
              <a:t>• work / preferred</a:t>
            </a:r>
          </a:p>
          <a:p>
            <a:pPr>
              <a:spcAft>
                <a:spcPts val="700"/>
              </a:spcAft>
              <a:defRPr sz="1280">
                <a:solidFill>
                  <a:srgbClr val="535D6C"/>
                </a:solidFill>
                <a:latin typeface="Aptos"/>
              </a:defRPr>
            </a:pPr>
            <a:r>
              <a:t>11,426 occurrences each — exactly matching the 11,426 Synthetic Suspicious rows.</a:t>
            </a:r>
          </a:p>
          <a:p>
            <a:pPr>
              <a:spcAft>
                <a:spcPts val="200"/>
              </a:spcAft>
              <a:defRPr sz="1500" b="1">
                <a:solidFill>
                  <a:srgbClr val="1E1E1E"/>
                </a:solidFill>
                <a:latin typeface="Aptos"/>
              </a:defRPr>
            </a:pPr>
            <a:r>
              <a:t>• certificate / certificate required</a:t>
            </a:r>
          </a:p>
          <a:p>
            <a:pPr>
              <a:spcAft>
                <a:spcPts val="700"/>
              </a:spcAft>
              <a:defRPr sz="1280">
                <a:solidFill>
                  <a:srgbClr val="535D6C"/>
                </a:solidFill>
                <a:latin typeface="Aptos"/>
              </a:defRPr>
            </a:pPr>
            <a:r>
              <a:t>5,757 occurrences each — indicating repeated template wording.</a:t>
            </a:r>
          </a:p>
          <a:p>
            <a:pPr>
              <a:spcAft>
                <a:spcPts val="200"/>
              </a:spcAft>
              <a:defRPr sz="1500" b="1">
                <a:solidFill>
                  <a:srgbClr val="1E1E1E"/>
                </a:solidFill>
                <a:latin typeface="Aptos"/>
              </a:defRPr>
            </a:pPr>
            <a:r>
              <a:t>• repeated scam phrases</a:t>
            </a:r>
          </a:p>
          <a:p>
            <a:pPr>
              <a:spcAft>
                <a:spcPts val="700"/>
              </a:spcAft>
              <a:defRPr sz="1280">
                <a:solidFill>
                  <a:srgbClr val="535D6C"/>
                </a:solidFill>
                <a:latin typeface="Aptos"/>
              </a:defRPr>
            </a:pPr>
            <a:r>
              <a:t>processing fee; registration fee; refundable registration; via m-pesa; pay processing; needed anyone; must willing.</a:t>
            </a:r>
          </a:p>
          <a:p>
            <a:pPr>
              <a:spcAft>
                <a:spcPts val="200"/>
              </a:spcAft>
              <a:defRPr sz="1500" b="1">
                <a:solidFill>
                  <a:srgbClr val="1E1E1E"/>
                </a:solidFill>
                <a:latin typeface="Aptos"/>
              </a:defRPr>
            </a:pPr>
            <a:r>
              <a:t>• interpretation</a:t>
            </a:r>
          </a:p>
          <a:p>
            <a:pPr>
              <a:spcAft>
                <a:spcPts val="700"/>
              </a:spcAft>
              <a:defRPr sz="1280">
                <a:solidFill>
                  <a:srgbClr val="535D6C"/>
                </a:solidFill>
                <a:latin typeface="Aptos"/>
              </a:defRPr>
            </a:pPr>
            <a:r>
              <a:t>The main concern is vocabulary concentration and repeated templates, not a completely different vocabulary.</a:t>
            </a:r>
          </a:p>
        </p:txBody>
      </p:sp>
      <p:sp>
        <p:nvSpPr>
          <p:cNvPr id="5" name="Rounded Rectangle 4"/>
          <p:cNvSpPr/>
          <p:nvPr/>
        </p:nvSpPr>
        <p:spPr>
          <a:xfrm>
            <a:off x="594360" y="5806440"/>
            <a:ext cx="10972800" cy="502920"/>
          </a:xfrm>
          <a:prstGeom prst="roundRect">
            <a:avLst/>
          </a:prstGeom>
          <a:solidFill>
            <a:srgbClr val="F4F6F9"/>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300"/>
              </a:spcBef>
              <a:defRPr sz="1250" b="1">
                <a:solidFill>
                  <a:srgbClr val="1E3455"/>
                </a:solidFill>
                <a:latin typeface="Aptos"/>
              </a:defRPr>
            </a:pPr>
            <a:r>
              <a:t>Modelling implication: test EMSCAD-only vs EMSCAD + synthetic on the same real holdout, and keep synthetic data only if real-data performance improves.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400</TotalTime>
  <Words>1595</Words>
  <Application>Microsoft Office PowerPoint</Application>
  <PresentationFormat>Widescreen</PresentationFormat>
  <Paragraphs>198</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christopher kariuki</cp:lastModifiedBy>
  <cp:revision>28</cp:revision>
  <dcterms:created xsi:type="dcterms:W3CDTF">2026-09-12T18:27:34Z</dcterms:created>
  <dcterms:modified xsi:type="dcterms:W3CDTF">2026-09-17T15:05:39Z</dcterms:modified>
</cp:coreProperties>
</file>