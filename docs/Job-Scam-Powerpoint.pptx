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2" r:id="rId3"/>
    <p:sldId id="257" r:id="rId4"/>
    <p:sldId id="258" r:id="rId5"/>
    <p:sldId id="259" r:id="rId6"/>
    <p:sldId id="260" r:id="rId7"/>
    <p:sldId id="261" r:id="rId8"/>
    <p:sldId id="262" r:id="rId9"/>
    <p:sldId id="263" r:id="rId10"/>
    <p:sldId id="264" r:id="rId11"/>
    <p:sldId id="266" r:id="rId12"/>
    <p:sldId id="267" r:id="rId13"/>
    <p:sldId id="268" r:id="rId14"/>
    <p:sldId id="269"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4815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this is a deployed capstone decision-support system with a real benchmark evaluation. The frontend and API are live; the model is still a benchmark-validated tool and Kenyan-market generalization remains unverified. Team roles reflect division of labor across data, modelling, and product/deployment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framing careful: this is a decision-support / prioritization tool, not an enforcement or investigation system. The FTC figure is US-wide, not Kenya-specific — presented as external context, not a Kenyan statistic.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human-in-the-loop framing throughout: score → explanation → human verification, not score → automatic 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accessibility' objective is intentionally phrased as future work — no USSD or WhatsApp integration has been built or tested.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Public-sector partners are grouped together (NEA, Ministry of Labour, DCI) — none of these integrations are implemented; they represent the intended long-term ecosystem.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Row-count reconciliation, verified against the notebook: 71,321 raw → 1,019 duplicates removed (matched on title+company+location+description) → 70,302 final → split into 57,150 labeled and 13,152 unlabeled.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three-class-to-binary mapping was applied consistently across EMSCAD (harmonized from its native binary label) and the synthetic dataset (native 3-class).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EMSCAD holdout (3,484 records: 3,314 Legitimate, 170 Fraud-risk) is the primary final estimate of performance — it is never used for fitting, tuning, or threshold selection.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come from the real EMSCAD benchmark holdout, not confirmed Kenyan job-board scam cases. The system is now deployed with a Vercel frontend and Render FastAPI backend. Registry verification, blacklist checks, and fuzzy impersonation matching are implemented. Kenyan-market generalization remains unverified because the scraped Kenyan postings have no ground-truth fraud labels.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41"/>
        </a:solidFill>
        <a:effectLst/>
      </p:bgPr>
    </p:bg>
    <p:spTree>
      <p:nvGrpSpPr>
        <p:cNvPr id="1" name=""/>
        <p:cNvGrpSpPr/>
        <p:nvPr/>
      </p:nvGrpSpPr>
      <p:grpSpPr>
        <a:xfrm>
          <a:off x="0" y="0"/>
          <a:ext cx="0" cy="0"/>
          <a:chOff x="0" y="0"/>
          <a:chExt cx="0" cy="0"/>
        </a:xfrm>
      </p:grpSpPr>
      <p:sp>
        <p:nvSpPr>
          <p:cNvPr id="2" name="TextBox 1"/>
          <p:cNvSpPr txBox="1"/>
          <p:nvPr/>
        </p:nvSpPr>
        <p:spPr>
          <a:xfrm>
            <a:off x="914400" y="2423160"/>
            <a:ext cx="10332720" cy="1097280"/>
          </a:xfrm>
          <a:prstGeom prst="rect">
            <a:avLst/>
          </a:prstGeom>
          <a:noFill/>
        </p:spPr>
        <p:txBody>
          <a:bodyPr wrap="none">
            <a:spAutoFit/>
          </a:bodyPr>
          <a:lstStyle/>
          <a:p>
            <a:pPr algn="ctr">
              <a:defRPr sz="3400" b="1">
                <a:solidFill>
                  <a:srgbClr val="FFFFFF"/>
                </a:solidFill>
                <a:latin typeface="Aptos Display"/>
              </a:defRPr>
            </a:pPr>
            <a:r>
              <a:t>AI-Powered Job Scam Detection System</a:t>
            </a:r>
          </a:p>
        </p:txBody>
      </p:sp>
      <p:sp>
        <p:nvSpPr>
          <p:cNvPr id="3" name="TextBox 2"/>
          <p:cNvSpPr txBox="1"/>
          <p:nvPr/>
        </p:nvSpPr>
        <p:spPr>
          <a:xfrm>
            <a:off x="4690796" y="3657600"/>
            <a:ext cx="2779927" cy="646331"/>
          </a:xfrm>
          <a:prstGeom prst="rect">
            <a:avLst/>
          </a:prstGeom>
          <a:noFill/>
        </p:spPr>
        <p:txBody>
          <a:bodyPr wrap="none">
            <a:spAutoFit/>
          </a:bodyPr>
          <a:lstStyle/>
          <a:p>
            <a:pPr algn="ctr">
              <a:defRPr sz="2400" b="1">
                <a:solidFill>
                  <a:srgbClr val="FFFFFF"/>
                </a:solidFill>
                <a:latin typeface="Aptos"/>
              </a:defRPr>
            </a:pPr>
            <a:r>
              <a:rPr sz="3600" dirty="0"/>
              <a:t>HAKIKI HIRE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548640"/>
          </a:xfrm>
          <a:prstGeom prst="rect">
            <a:avLst/>
          </a:prstGeom>
          <a:noFill/>
        </p:spPr>
        <p:txBody>
          <a:bodyPr wrap="none">
            <a:spAutoFit/>
          </a:bodyPr>
          <a:lstStyle/>
          <a:p>
            <a:pPr>
              <a:defRPr sz="2500" b="1">
                <a:solidFill>
                  <a:srgbClr val="1B2B41"/>
                </a:solidFill>
                <a:latin typeface="Aptos Display"/>
              </a:defRPr>
            </a:pPr>
            <a:r>
              <a:t>Project Participants &amp; Roles</a:t>
            </a:r>
          </a:p>
        </p:txBody>
      </p:sp>
      <p:sp>
        <p:nvSpPr>
          <p:cNvPr id="4" name="Rounded Rectangle 3"/>
          <p:cNvSpPr/>
          <p:nvPr/>
        </p:nvSpPr>
        <p:spPr>
          <a:xfrm>
            <a:off x="594360" y="11430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19201" y="1844949"/>
            <a:ext cx="2313432" cy="411480"/>
          </a:xfrm>
          <a:prstGeom prst="rect">
            <a:avLst/>
          </a:prstGeom>
          <a:noFill/>
        </p:spPr>
        <p:txBody>
          <a:bodyPr wrap="none">
            <a:spAutoFit/>
          </a:bodyPr>
          <a:lstStyle/>
          <a:p>
            <a:pPr algn="ctr">
              <a:defRPr sz="1600" b="1">
                <a:solidFill>
                  <a:srgbClr val="1B2B41"/>
                </a:solidFill>
                <a:latin typeface="Aptos"/>
              </a:defRPr>
            </a:pPr>
            <a:r>
              <a:rPr dirty="0"/>
              <a:t>Melisa Achieng</a:t>
            </a:r>
          </a:p>
        </p:txBody>
      </p:sp>
      <p:sp>
        <p:nvSpPr>
          <p:cNvPr id="6" name="TextBox 5"/>
          <p:cNvSpPr txBox="1"/>
          <p:nvPr/>
        </p:nvSpPr>
        <p:spPr>
          <a:xfrm>
            <a:off x="777240" y="1956703"/>
            <a:ext cx="2880360" cy="461665"/>
          </a:xfrm>
          <a:prstGeom prst="rect">
            <a:avLst/>
          </a:prstGeom>
          <a:noFill/>
        </p:spPr>
        <p:txBody>
          <a:bodyPr wrap="square">
            <a:spAutoFit/>
          </a:bodyPr>
          <a:lstStyle/>
          <a:p>
            <a:pPr algn="ctr">
              <a:defRPr sz="1200">
                <a:solidFill>
                  <a:srgbClr val="46505C"/>
                </a:solidFill>
                <a:latin typeface="Aptos"/>
              </a:defRPr>
            </a:pPr>
            <a:endParaRPr dirty="0"/>
          </a:p>
          <a:p>
            <a:pPr algn="ctr">
              <a:defRPr sz="1200">
                <a:solidFill>
                  <a:srgbClr val="46505C"/>
                </a:solidFill>
                <a:latin typeface="Aptos"/>
              </a:defRPr>
            </a:pPr>
            <a:r>
              <a:rPr dirty="0"/>
              <a:t>Data Cleaning</a:t>
            </a:r>
            <a:r>
              <a:rPr lang="en-US" dirty="0"/>
              <a:t> &amp; Data Collection.</a:t>
            </a:r>
            <a:endParaRPr dirty="0"/>
          </a:p>
        </p:txBody>
      </p:sp>
      <p:sp>
        <p:nvSpPr>
          <p:cNvPr id="7" name="Rounded Rectangle 6"/>
          <p:cNvSpPr/>
          <p:nvPr/>
        </p:nvSpPr>
        <p:spPr>
          <a:xfrm>
            <a:off x="4160520" y="11430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5175379" y="1787426"/>
            <a:ext cx="2063241" cy="338554"/>
          </a:xfrm>
          <a:prstGeom prst="rect">
            <a:avLst/>
          </a:prstGeom>
          <a:noFill/>
        </p:spPr>
        <p:txBody>
          <a:bodyPr wrap="square">
            <a:spAutoFit/>
          </a:bodyPr>
          <a:lstStyle/>
          <a:p>
            <a:pPr algn="ctr">
              <a:defRPr sz="1600" b="1">
                <a:solidFill>
                  <a:srgbClr val="1B2B41"/>
                </a:solidFill>
                <a:latin typeface="Aptos"/>
              </a:defRPr>
            </a:pPr>
            <a:r>
              <a:rPr dirty="0" err="1"/>
              <a:t>Briannah</a:t>
            </a:r>
            <a:r>
              <a:rPr dirty="0"/>
              <a:t> </a:t>
            </a:r>
            <a:r>
              <a:rPr dirty="0" err="1"/>
              <a:t>Chelangat</a:t>
            </a:r>
            <a:endParaRPr dirty="0"/>
          </a:p>
        </p:txBody>
      </p:sp>
      <p:sp>
        <p:nvSpPr>
          <p:cNvPr id="9" name="TextBox 8"/>
          <p:cNvSpPr txBox="1"/>
          <p:nvPr/>
        </p:nvSpPr>
        <p:spPr>
          <a:xfrm>
            <a:off x="4457700" y="2111502"/>
            <a:ext cx="2880360" cy="461665"/>
          </a:xfrm>
          <a:prstGeom prst="rect">
            <a:avLst/>
          </a:prstGeom>
          <a:noFill/>
        </p:spPr>
        <p:txBody>
          <a:bodyPr wrap="square">
            <a:spAutoFit/>
          </a:bodyPr>
          <a:lstStyle/>
          <a:p>
            <a:pPr algn="ctr">
              <a:defRPr sz="1200">
                <a:solidFill>
                  <a:srgbClr val="46505C"/>
                </a:solidFill>
                <a:latin typeface="Aptos"/>
              </a:defRPr>
            </a:pPr>
            <a:r>
              <a:rPr lang="en-US" dirty="0"/>
              <a:t>Backend, Government Dashboard UI, Deployment &amp; Data collection.</a:t>
            </a:r>
            <a:endParaRPr dirty="0"/>
          </a:p>
        </p:txBody>
      </p:sp>
      <p:sp>
        <p:nvSpPr>
          <p:cNvPr id="10" name="Rounded Rectangle 9"/>
          <p:cNvSpPr/>
          <p:nvPr/>
        </p:nvSpPr>
        <p:spPr>
          <a:xfrm>
            <a:off x="7726679" y="11430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76487" y="1602347"/>
            <a:ext cx="2313432" cy="411480"/>
          </a:xfrm>
          <a:prstGeom prst="rect">
            <a:avLst/>
          </a:prstGeom>
          <a:noFill/>
        </p:spPr>
        <p:txBody>
          <a:bodyPr wrap="none">
            <a:spAutoFit/>
          </a:bodyPr>
          <a:lstStyle/>
          <a:p>
            <a:pPr algn="ctr">
              <a:defRPr sz="1600" b="1">
                <a:solidFill>
                  <a:srgbClr val="1B2B41"/>
                </a:solidFill>
                <a:latin typeface="Aptos"/>
              </a:defRPr>
            </a:pPr>
            <a:r>
              <a:rPr dirty="0"/>
              <a:t>Christopher Kariuki</a:t>
            </a:r>
          </a:p>
        </p:txBody>
      </p:sp>
      <p:sp>
        <p:nvSpPr>
          <p:cNvPr id="12" name="TextBox 11"/>
          <p:cNvSpPr txBox="1"/>
          <p:nvPr/>
        </p:nvSpPr>
        <p:spPr>
          <a:xfrm>
            <a:off x="8092439" y="2032107"/>
            <a:ext cx="2880360" cy="646331"/>
          </a:xfrm>
          <a:prstGeom prst="rect">
            <a:avLst/>
          </a:prstGeom>
          <a:noFill/>
        </p:spPr>
        <p:txBody>
          <a:bodyPr wrap="square">
            <a:spAutoFit/>
          </a:bodyPr>
          <a:lstStyle/>
          <a:p>
            <a:pPr algn="ctr">
              <a:defRPr sz="1200">
                <a:solidFill>
                  <a:srgbClr val="46505C"/>
                </a:solidFill>
                <a:latin typeface="Aptos"/>
              </a:defRPr>
            </a:pPr>
            <a:r>
              <a:rPr dirty="0"/>
              <a:t>EDA</a:t>
            </a:r>
            <a:r>
              <a:rPr lang="en-US" dirty="0"/>
              <a:t>, Data </a:t>
            </a:r>
            <a:r>
              <a:rPr dirty="0"/>
              <a:t>&amp; PowerPoint </a:t>
            </a:r>
            <a:r>
              <a:rPr lang="en-US" dirty="0"/>
              <a:t> Deck collection, Project Documentation </a:t>
            </a:r>
            <a:r>
              <a:rPr dirty="0"/>
              <a:t>creation</a:t>
            </a:r>
          </a:p>
        </p:txBody>
      </p:sp>
      <p:sp>
        <p:nvSpPr>
          <p:cNvPr id="13" name="Rounded Rectangle 12"/>
          <p:cNvSpPr/>
          <p:nvPr/>
        </p:nvSpPr>
        <p:spPr>
          <a:xfrm>
            <a:off x="2331720" y="36576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46578" y="4064508"/>
            <a:ext cx="2313432" cy="411480"/>
          </a:xfrm>
          <a:prstGeom prst="rect">
            <a:avLst/>
          </a:prstGeom>
          <a:noFill/>
        </p:spPr>
        <p:txBody>
          <a:bodyPr wrap="none">
            <a:spAutoFit/>
          </a:bodyPr>
          <a:lstStyle/>
          <a:p>
            <a:pPr algn="ctr">
              <a:defRPr sz="1600" b="1">
                <a:solidFill>
                  <a:srgbClr val="1B2B41"/>
                </a:solidFill>
                <a:latin typeface="Aptos"/>
              </a:defRPr>
            </a:pPr>
            <a:r>
              <a:rPr dirty="0"/>
              <a:t>Cleopas Karanja</a:t>
            </a:r>
          </a:p>
        </p:txBody>
      </p:sp>
      <p:sp>
        <p:nvSpPr>
          <p:cNvPr id="15" name="TextBox 14"/>
          <p:cNvSpPr txBox="1"/>
          <p:nvPr/>
        </p:nvSpPr>
        <p:spPr>
          <a:xfrm>
            <a:off x="2514600" y="4407408"/>
            <a:ext cx="2880360" cy="276999"/>
          </a:xfrm>
          <a:prstGeom prst="rect">
            <a:avLst/>
          </a:prstGeom>
          <a:noFill/>
        </p:spPr>
        <p:txBody>
          <a:bodyPr wrap="square">
            <a:spAutoFit/>
          </a:bodyPr>
          <a:lstStyle/>
          <a:p>
            <a:pPr algn="ctr">
              <a:defRPr sz="1200">
                <a:solidFill>
                  <a:srgbClr val="46505C"/>
                </a:solidFill>
                <a:latin typeface="Aptos"/>
              </a:defRPr>
            </a:pPr>
            <a:r>
              <a:rPr dirty="0"/>
              <a:t>Modelling</a:t>
            </a:r>
            <a:r>
              <a:rPr lang="en-US" dirty="0"/>
              <a:t> &amp; Data collection.</a:t>
            </a:r>
            <a:endParaRPr dirty="0"/>
          </a:p>
        </p:txBody>
      </p:sp>
      <p:sp>
        <p:nvSpPr>
          <p:cNvPr id="16" name="Rounded Rectangle 15"/>
          <p:cNvSpPr/>
          <p:nvPr/>
        </p:nvSpPr>
        <p:spPr>
          <a:xfrm>
            <a:off x="5897880" y="36576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9963" y="4229100"/>
            <a:ext cx="2313432" cy="411480"/>
          </a:xfrm>
          <a:prstGeom prst="rect">
            <a:avLst/>
          </a:prstGeom>
          <a:noFill/>
        </p:spPr>
        <p:txBody>
          <a:bodyPr wrap="none">
            <a:spAutoFit/>
          </a:bodyPr>
          <a:lstStyle/>
          <a:p>
            <a:pPr algn="ctr">
              <a:defRPr sz="1600" b="1">
                <a:solidFill>
                  <a:srgbClr val="1B2B41"/>
                </a:solidFill>
                <a:latin typeface="Aptos"/>
              </a:defRPr>
            </a:pPr>
            <a:r>
              <a:rPr dirty="0"/>
              <a:t>Alex Kinyua</a:t>
            </a:r>
          </a:p>
        </p:txBody>
      </p:sp>
      <p:sp>
        <p:nvSpPr>
          <p:cNvPr id="18" name="TextBox 17"/>
          <p:cNvSpPr txBox="1"/>
          <p:nvPr/>
        </p:nvSpPr>
        <p:spPr>
          <a:xfrm>
            <a:off x="6019799" y="4642090"/>
            <a:ext cx="2880360" cy="461665"/>
          </a:xfrm>
          <a:prstGeom prst="rect">
            <a:avLst/>
          </a:prstGeom>
          <a:noFill/>
        </p:spPr>
        <p:txBody>
          <a:bodyPr wrap="square">
            <a:spAutoFit/>
          </a:bodyPr>
          <a:lstStyle/>
          <a:p>
            <a:pPr algn="ctr">
              <a:defRPr sz="1200">
                <a:solidFill>
                  <a:srgbClr val="46505C"/>
                </a:solidFill>
                <a:latin typeface="Aptos"/>
              </a:defRPr>
            </a:pPr>
            <a:r>
              <a:rPr lang="en-US" dirty="0"/>
              <a:t>Data collection, </a:t>
            </a:r>
            <a:r>
              <a:rPr dirty="0"/>
              <a:t>Backend, Repository Admin &amp; Deployment, </a:t>
            </a:r>
            <a:r>
              <a:rPr lang="en-US" dirty="0"/>
              <a:t>Job seeker UI.</a:t>
            </a:r>
            <a:r>
              <a:rPr dirty="0"/>
              <a:t> </a:t>
            </a:r>
          </a:p>
        </p:txBody>
      </p:sp>
      <p:sp>
        <p:nvSpPr>
          <p:cNvPr id="19" name="TextBox 18"/>
          <p:cNvSpPr txBox="1"/>
          <p:nvPr/>
        </p:nvSpPr>
        <p:spPr>
          <a:xfrm>
            <a:off x="731520" y="6172200"/>
            <a:ext cx="10698480" cy="320040"/>
          </a:xfrm>
          <a:prstGeom prst="rect">
            <a:avLst/>
          </a:prstGeom>
          <a:noFill/>
        </p:spPr>
        <p:txBody>
          <a:bodyPr wrap="none">
            <a:spAutoFit/>
          </a:bodyPr>
          <a:lstStyle/>
          <a:p>
            <a:pPr algn="ctr">
              <a:defRPr sz="1000">
                <a:solidFill>
                  <a:srgbClr val="46505C"/>
                </a:solidFill>
                <a:latin typeface="Aptos"/>
              </a:defRPr>
            </a:pPr>
            <a:r>
              <a:t>AI-Powered Job Scam Detection System | HAKIKI HIRE</a:t>
            </a:r>
          </a:p>
        </p:txBody>
      </p:sp>
      <p:pic>
        <p:nvPicPr>
          <p:cNvPr id="20" name="Picture 19" descr="Melisa.jpeg"/>
          <p:cNvPicPr>
            <a:picLocks noChangeAspect="1"/>
          </p:cNvPicPr>
          <p:nvPr/>
        </p:nvPicPr>
        <p:blipFill>
          <a:blip r:embed="rId2"/>
          <a:stretch>
            <a:fillRect/>
          </a:stretch>
        </p:blipFill>
        <p:spPr>
          <a:xfrm>
            <a:off x="731520" y="1239773"/>
            <a:ext cx="803149" cy="886207"/>
          </a:xfrm>
          <a:prstGeom prst="rect">
            <a:avLst/>
          </a:prstGeom>
        </p:spPr>
      </p:pic>
      <p:pic>
        <p:nvPicPr>
          <p:cNvPr id="21" name="Picture 20" descr="Christopher.jpeg"/>
          <p:cNvPicPr>
            <a:picLocks noChangeAspect="1"/>
          </p:cNvPicPr>
          <p:nvPr/>
        </p:nvPicPr>
        <p:blipFill>
          <a:blip r:embed="rId3"/>
          <a:stretch>
            <a:fillRect/>
          </a:stretch>
        </p:blipFill>
        <p:spPr>
          <a:xfrm>
            <a:off x="7870442" y="1239774"/>
            <a:ext cx="816357" cy="792334"/>
          </a:xfrm>
          <a:prstGeom prst="rect">
            <a:avLst/>
          </a:prstGeom>
        </p:spPr>
      </p:pic>
      <p:pic>
        <p:nvPicPr>
          <p:cNvPr id="22" name="Picture 21" descr="Cleopas.jpeg"/>
          <p:cNvPicPr>
            <a:picLocks noChangeAspect="1"/>
          </p:cNvPicPr>
          <p:nvPr/>
        </p:nvPicPr>
        <p:blipFill>
          <a:blip r:embed="rId4"/>
          <a:stretch>
            <a:fillRect/>
          </a:stretch>
        </p:blipFill>
        <p:spPr>
          <a:xfrm>
            <a:off x="2479548" y="3788049"/>
            <a:ext cx="695452" cy="695452"/>
          </a:xfrm>
          <a:prstGeom prst="rect">
            <a:avLst/>
          </a:prstGeom>
        </p:spPr>
      </p:pic>
      <p:pic>
        <p:nvPicPr>
          <p:cNvPr id="23" name="Picture 22" descr="Alex.jpeg"/>
          <p:cNvPicPr>
            <a:picLocks noChangeAspect="1"/>
          </p:cNvPicPr>
          <p:nvPr/>
        </p:nvPicPr>
        <p:blipFill>
          <a:blip r:embed="rId5"/>
          <a:stretch>
            <a:fillRect/>
          </a:stretch>
        </p:blipFill>
        <p:spPr>
          <a:xfrm>
            <a:off x="6096000" y="3707784"/>
            <a:ext cx="889000" cy="934305"/>
          </a:xfrm>
          <a:prstGeom prst="rect">
            <a:avLst/>
          </a:prstGeom>
        </p:spPr>
      </p:pic>
      <p:pic>
        <p:nvPicPr>
          <p:cNvPr id="27" name="Picture 26">
            <a:extLst>
              <a:ext uri="{FF2B5EF4-FFF2-40B4-BE49-F238E27FC236}">
                <a16:creationId xmlns:a16="http://schemas.microsoft.com/office/drawing/2014/main" id="{BB711CE9-21A8-E90C-B398-D9873CA32FEA}"/>
              </a:ext>
            </a:extLst>
          </p:cNvPr>
          <p:cNvPicPr>
            <a:picLocks noChangeAspect="1"/>
          </p:cNvPicPr>
          <p:nvPr/>
        </p:nvPicPr>
        <p:blipFill>
          <a:blip r:embed="rId6"/>
          <a:stretch>
            <a:fillRect/>
          </a:stretch>
        </p:blipFill>
        <p:spPr>
          <a:xfrm>
            <a:off x="4343400" y="1248155"/>
            <a:ext cx="914399" cy="8558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996696" y="466344"/>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Problem Statement</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381000" y="1463040"/>
            <a:ext cx="7025640" cy="4709160"/>
          </a:xfrm>
          <a:prstGeom prst="rect">
            <a:avLst/>
          </a:prstGeom>
          <a:noFill/>
          <a:ln/>
        </p:spPr>
        <p:txBody>
          <a:bodyPr wrap="square" lIns="0" tIns="0" rIns="0" bIns="0" rtlCol="0" anchor="t"/>
          <a:lstStyle/>
          <a:p>
            <a:pPr marL="342900" indent="-342900" algn="l">
              <a:lnSpc>
                <a:spcPct val="108000"/>
              </a:lnSpc>
              <a:spcAft>
                <a:spcPts val="1200"/>
              </a:spcAft>
              <a:buSzPct val="100000"/>
              <a:buChar char="●"/>
              <a:defRPr sz="1700">
                <a:solidFill>
                  <a:srgbClr val="46505C"/>
                </a:solidFill>
                <a:latin typeface="Aptos"/>
              </a:defRPr>
            </a:pPr>
            <a:r>
              <a:rPr sz="1600" dirty="0">
                <a:latin typeface="Times New Roman" panose="02020603050405020304" pitchFamily="18" charset="0"/>
                <a:cs typeface="Times New Roman" panose="02020603050405020304" pitchFamily="18" charset="0"/>
              </a:rPr>
              <a:t>Traditionally, job seekers often searched for opportunities through newspapers, notice boards, recruitment offices, and personal networks. As internet access became easier, job searching moved increasingly online, making it faster and easier for people to find and apply for jobs from anywhere. However, this wider and easier access has also created new opportunities for scammers to advertise fraudulent jobs and target job seekers online.</a:t>
            </a:r>
            <a:endParaRPr lang="en-US" sz="1600"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Job seekers may encounter upfront-fee requests, vague job descriptions, urgency language, impersonated employers, or suspicious contact channels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External evidence: FTC-reported US job-scam losses rose from ~$90M (2020) to ~$501M (2024)</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External evidence: a 2024 Kenyan DCI case reportedly affected ~1,000 job seekers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The practical gap: job seekers need a way to prioritize verification before engaging with a posting</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indent="-342900" algn="l">
              <a:lnSpc>
                <a:spcPct val="108000"/>
              </a:lnSpc>
              <a:spcAft>
                <a:spcPts val="1200"/>
              </a:spcAft>
              <a:buSzPct val="100000"/>
              <a:buChar char="●"/>
              <a:defRPr sz="1700">
                <a:solidFill>
                  <a:srgbClr val="46505C"/>
                </a:solidFill>
                <a:latin typeface="Aptos"/>
              </a:defRPr>
            </a:pPr>
            <a:endParaRPr lang="en-US" dirty="0">
              <a:latin typeface="Times New Roman" panose="02020603050405020304" pitchFamily="18" charset="0"/>
              <a:cs typeface="Times New Roman" panose="02020603050405020304" pitchFamily="18" charset="0"/>
            </a:endParaRPr>
          </a:p>
          <a:p>
            <a:pPr algn="l">
              <a:lnSpc>
                <a:spcPct val="108000"/>
              </a:lnSpc>
              <a:spcAft>
                <a:spcPts val="1200"/>
              </a:spcAft>
              <a:buSzPct val="100000"/>
              <a:defRPr sz="1700">
                <a:solidFill>
                  <a:srgbClr val="46505C"/>
                </a:solidFill>
                <a:latin typeface="Aptos"/>
              </a:defRPr>
            </a:pPr>
            <a:endParaRPr lang="en-US" sz="1500" dirty="0">
              <a:latin typeface="Times New Roman" panose="02020603050405020304" pitchFamily="18" charset="0"/>
              <a:cs typeface="Times New Roman" panose="02020603050405020304" pitchFamily="18" charset="0"/>
            </a:endParaRPr>
          </a:p>
        </p:txBody>
      </p:sp>
      <p:sp>
        <p:nvSpPr>
          <p:cNvPr id="4" name="Shape 2"/>
          <p:cNvSpPr/>
          <p:nvPr/>
        </p:nvSpPr>
        <p:spPr>
          <a:xfrm>
            <a:off x="7772400" y="1463040"/>
            <a:ext cx="3840480" cy="4206240"/>
          </a:xfrm>
          <a:prstGeom prst="roundRect">
            <a:avLst>
              <a:gd name="adj" fmla="val 2857"/>
            </a:avLst>
          </a:prstGeom>
          <a:solidFill>
            <a:srgbClr val="FFFFFF"/>
          </a:solidFill>
          <a:ln w="12700">
            <a:solidFill>
              <a:srgbClr val="E1E6ED"/>
            </a:solidFill>
            <a:prstDash val="solid"/>
          </a:ln>
          <a:effectLst>
            <a:outerShdw blurRad="101600" dist="38100" dir="5400000" algn="bl" rotWithShape="0">
              <a:srgbClr val="000000">
                <a:alpha val="12000"/>
              </a:srgbClr>
            </a:outerShdw>
          </a:effectLst>
        </p:spPr>
        <p:txBody>
          <a:bodyPr/>
          <a:lstStyle/>
          <a:p>
            <a:endParaRPr>
              <a:latin typeface="Times New Roman" panose="02020603050405020304" pitchFamily="18" charset="0"/>
              <a:cs typeface="Times New Roman" panose="02020603050405020304" pitchFamily="18" charset="0"/>
            </a:endParaRPr>
          </a:p>
        </p:txBody>
      </p:sp>
      <p:sp>
        <p:nvSpPr>
          <p:cNvPr id="5" name="Shape 3"/>
          <p:cNvSpPr/>
          <p:nvPr/>
        </p:nvSpPr>
        <p:spPr>
          <a:xfrm>
            <a:off x="9189720" y="2286000"/>
            <a:ext cx="1005840" cy="1005840"/>
          </a:xfrm>
          <a:prstGeom prst="ellipse">
            <a:avLst/>
          </a:prstGeom>
          <a:solidFill>
            <a:srgbClr val="C0392B"/>
          </a:solidFill>
          <a:ln/>
        </p:spPr>
        <p:txBody>
          <a:bodyPr/>
          <a:lstStyle/>
          <a:p>
            <a:endParaRPr>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9427464" y="2523744"/>
            <a:ext cx="530352" cy="530352"/>
          </a:xfrm>
          <a:prstGeom prst="rect">
            <a:avLst/>
          </a:prstGeom>
        </p:spPr>
      </p:pic>
      <p:sp>
        <p:nvSpPr>
          <p:cNvPr id="7" name="Text 4"/>
          <p:cNvSpPr txBox="1"/>
          <p:nvPr/>
        </p:nvSpPr>
        <p:spPr>
          <a:xfrm>
            <a:off x="7955280" y="3520440"/>
            <a:ext cx="347472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A prioritization tool</a:t>
            </a:r>
            <a:endParaRPr lang="en-US" sz="1400" dirty="0">
              <a:latin typeface="Times New Roman" panose="02020603050405020304" pitchFamily="18" charset="0"/>
              <a:cs typeface="Times New Roman" panose="02020603050405020304" pitchFamily="18" charset="0"/>
            </a:endParaRPr>
          </a:p>
        </p:txBody>
      </p:sp>
      <p:sp>
        <p:nvSpPr>
          <p:cNvPr id="8" name="Text 5"/>
          <p:cNvSpPr txBox="1"/>
          <p:nvPr/>
        </p:nvSpPr>
        <p:spPr>
          <a:xfrm>
            <a:off x="7955280" y="3931920"/>
            <a:ext cx="3474720" cy="1005840"/>
          </a:xfrm>
          <a:prstGeom prst="rect">
            <a:avLst/>
          </a:prstGeom>
          <a:noFill/>
          <a:ln/>
        </p:spPr>
        <p:txBody>
          <a:bodyPr wrap="square" lIns="0" tIns="0" rIns="0" bIns="0" rtlCol="0" anchor="ctr"/>
          <a:lstStyle/>
          <a:p>
            <a:pPr marL="0" indent="0" algn="ctr">
              <a:buNone/>
            </a:pPr>
            <a:r>
              <a:rPr lang="en-US" sz="1150" dirty="0">
                <a:solidFill>
                  <a:srgbClr val="6B7A8D"/>
                </a:solidFill>
                <a:latin typeface="Times New Roman" panose="02020603050405020304" pitchFamily="18" charset="0"/>
                <a:ea typeface="Calibri" pitchFamily="34" charset="-122"/>
                <a:cs typeface="Times New Roman" panose="02020603050405020304" pitchFamily="18" charset="0"/>
              </a:rPr>
              <a:t>Helping job seekers know what to verify first — not a substitute for official investigation or human judgment</a:t>
            </a:r>
            <a:endParaRPr lang="en-US" sz="1150" dirty="0">
              <a:latin typeface="Times New Roman" panose="02020603050405020304" pitchFamily="18" charset="0"/>
              <a:cs typeface="Times New Roman" panose="02020603050405020304" pitchFamily="18" charset="0"/>
            </a:endParaRPr>
          </a:p>
        </p:txBody>
      </p:sp>
      <p:sp>
        <p:nvSpPr>
          <p:cNvPr id="9" name="Text 6"/>
          <p:cNvSpPr txBox="1"/>
          <p:nvPr/>
        </p:nvSpPr>
        <p:spPr>
          <a:xfrm>
            <a:off x="548640" y="6217920"/>
            <a:ext cx="11064240" cy="566928"/>
          </a:xfrm>
          <a:prstGeom prst="rect">
            <a:avLst/>
          </a:prstGeom>
          <a:noFill/>
          <a:ln/>
        </p:spPr>
        <p:txBody>
          <a:bodyPr wrap="square" lIns="0" tIns="0" rIns="0" bIns="0" rtlCol="0" anchor="ctr"/>
          <a:lstStyle/>
          <a:p>
            <a:r>
              <a:rPr dirty="0">
                <a:latin typeface="Times New Roman" panose="02020603050405020304" pitchFamily="18" charset="0"/>
                <a:cs typeface="Times New Roman" panose="02020603050405020304" pitchFamily="18" charset="0"/>
              </a:rPr>
              <a:t>External statistics: Commission, F.T. (2024), Federal Trade Commission; DCI (202</a:t>
            </a:r>
            <a:r>
              <a:rPr lang="en-US" dirty="0">
                <a:latin typeface="Times New Roman" panose="02020603050405020304" pitchFamily="18" charset="0"/>
                <a:cs typeface="Times New Roman" panose="02020603050405020304" pitchFamily="18" charset="0"/>
              </a:rPr>
              <a:t>5</a:t>
            </a:r>
            <a:r>
              <a:rPr dirty="0">
                <a:latin typeface="Times New Roman" panose="02020603050405020304" pitchFamily="18" charset="0"/>
                <a:cs typeface="Times New Roman" panose="02020603050405020304" pitchFamily="18" charset="0"/>
              </a:rPr>
              <a:t>), Ministry of Interior and National Administration.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Proposed Solution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920240"/>
            <a:ext cx="2388870" cy="1737360"/>
          </a:xfrm>
          <a:prstGeom prst="roundRect">
            <a:avLst>
              <a:gd name="adj" fmla="val 4211"/>
            </a:avLst>
          </a:prstGeom>
          <a:solidFill>
            <a:srgbClr val="FFFFFF"/>
          </a:solidFill>
          <a:ln w="12700">
            <a:solidFill>
              <a:srgbClr val="E1E6ED"/>
            </a:solidFill>
            <a:prstDash val="solid"/>
          </a:ln>
        </p:spPr>
      </p:sp>
      <p:sp>
        <p:nvSpPr>
          <p:cNvPr id="4" name="Shape 2"/>
          <p:cNvSpPr/>
          <p:nvPr/>
        </p:nvSpPr>
        <p:spPr>
          <a:xfrm>
            <a:off x="1468755" y="2057400"/>
            <a:ext cx="548640" cy="548640"/>
          </a:xfrm>
          <a:prstGeom prst="ellipse">
            <a:avLst/>
          </a:prstGeom>
          <a:solidFill>
            <a:srgbClr val="4A6FA5"/>
          </a:solidFill>
          <a:ln/>
        </p:spPr>
      </p:sp>
      <p:pic>
        <p:nvPicPr>
          <p:cNvPr id="5" name="Image 0" descr="preencoded.png"/>
          <p:cNvPicPr>
            <a:picLocks noChangeAspect="1"/>
          </p:cNvPicPr>
          <p:nvPr/>
        </p:nvPicPr>
        <p:blipFill>
          <a:blip r:embed="rId3"/>
          <a:stretch>
            <a:fillRect/>
          </a:stretch>
        </p:blipFill>
        <p:spPr>
          <a:xfrm>
            <a:off x="1596771" y="2185416"/>
            <a:ext cx="292608" cy="292608"/>
          </a:xfrm>
          <a:prstGeom prst="rect">
            <a:avLst/>
          </a:prstGeom>
        </p:spPr>
      </p:pic>
      <p:sp>
        <p:nvSpPr>
          <p:cNvPr id="6" name="Text 3"/>
          <p:cNvSpPr txBox="1"/>
          <p:nvPr/>
        </p:nvSpPr>
        <p:spPr>
          <a:xfrm>
            <a:off x="65836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Posting Text + Metadata</a:t>
            </a:r>
            <a:endParaRPr lang="en-US" sz="1150" dirty="0">
              <a:latin typeface="Times New Roman" panose="02020603050405020304" pitchFamily="18" charset="0"/>
              <a:cs typeface="Times New Roman" panose="02020603050405020304" pitchFamily="18" charset="0"/>
            </a:endParaRPr>
          </a:p>
        </p:txBody>
      </p:sp>
      <p:sp>
        <p:nvSpPr>
          <p:cNvPr id="7" name="Text 4"/>
          <p:cNvSpPr txBox="1"/>
          <p:nvPr/>
        </p:nvSpPr>
        <p:spPr>
          <a:xfrm>
            <a:off x="65836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Title, description, requirements, structured fields</a:t>
            </a:r>
            <a:endParaRPr lang="en-US" sz="950" dirty="0">
              <a:latin typeface="Times New Roman" panose="02020603050405020304" pitchFamily="18" charset="0"/>
              <a:cs typeface="Times New Roman" panose="02020603050405020304" pitchFamily="18" charset="0"/>
            </a:endParaRPr>
          </a:p>
        </p:txBody>
      </p:sp>
      <p:sp>
        <p:nvSpPr>
          <p:cNvPr id="8" name="Text 5"/>
          <p:cNvSpPr txBox="1"/>
          <p:nvPr/>
        </p:nvSpPr>
        <p:spPr>
          <a:xfrm>
            <a:off x="2937510" y="192024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9" name="Shape 6"/>
          <p:cNvSpPr/>
          <p:nvPr/>
        </p:nvSpPr>
        <p:spPr>
          <a:xfrm>
            <a:off x="3440430" y="1920240"/>
            <a:ext cx="2388870" cy="1737360"/>
          </a:xfrm>
          <a:prstGeom prst="roundRect">
            <a:avLst>
              <a:gd name="adj" fmla="val 4211"/>
            </a:avLst>
          </a:prstGeom>
          <a:solidFill>
            <a:srgbClr val="FFFFFF"/>
          </a:solidFill>
          <a:ln w="12700">
            <a:solidFill>
              <a:srgbClr val="E1E6ED"/>
            </a:solidFill>
            <a:prstDash val="solid"/>
          </a:ln>
        </p:spPr>
      </p:sp>
      <p:sp>
        <p:nvSpPr>
          <p:cNvPr id="10" name="Shape 7"/>
          <p:cNvSpPr/>
          <p:nvPr/>
        </p:nvSpPr>
        <p:spPr>
          <a:xfrm>
            <a:off x="4360545" y="2057400"/>
            <a:ext cx="548640" cy="548640"/>
          </a:xfrm>
          <a:prstGeom prst="ellipse">
            <a:avLst/>
          </a:prstGeom>
          <a:solidFill>
            <a:srgbClr val="4A6FA5"/>
          </a:solidFill>
          <a:ln/>
        </p:spPr>
      </p:sp>
      <p:pic>
        <p:nvPicPr>
          <p:cNvPr id="11" name="Image 1" descr="preencoded.png"/>
          <p:cNvPicPr>
            <a:picLocks noChangeAspect="1"/>
          </p:cNvPicPr>
          <p:nvPr/>
        </p:nvPicPr>
        <p:blipFill>
          <a:blip r:embed="rId4"/>
          <a:stretch>
            <a:fillRect/>
          </a:stretch>
        </p:blipFill>
        <p:spPr>
          <a:xfrm>
            <a:off x="4488561" y="2185416"/>
            <a:ext cx="292608" cy="292608"/>
          </a:xfrm>
          <a:prstGeom prst="rect">
            <a:avLst/>
          </a:prstGeom>
        </p:spPr>
      </p:pic>
      <p:sp>
        <p:nvSpPr>
          <p:cNvPr id="12" name="Text 8"/>
          <p:cNvSpPr txBox="1"/>
          <p:nvPr/>
        </p:nvSpPr>
        <p:spPr>
          <a:xfrm>
            <a:off x="355015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Fraud-Risk Score</a:t>
            </a:r>
            <a:endParaRPr lang="en-US" sz="1150" dirty="0">
              <a:latin typeface="Times New Roman" panose="02020603050405020304" pitchFamily="18" charset="0"/>
              <a:cs typeface="Times New Roman" panose="02020603050405020304" pitchFamily="18" charset="0"/>
            </a:endParaRPr>
          </a:p>
        </p:txBody>
      </p:sp>
      <p:sp>
        <p:nvSpPr>
          <p:cNvPr id="13" name="Text 9"/>
          <p:cNvSpPr txBox="1"/>
          <p:nvPr/>
        </p:nvSpPr>
        <p:spPr>
          <a:xfrm>
            <a:off x="355015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Model-generated probability estimate</a:t>
            </a:r>
            <a:endParaRPr lang="en-US" sz="950" dirty="0">
              <a:latin typeface="Times New Roman" panose="02020603050405020304" pitchFamily="18" charset="0"/>
              <a:cs typeface="Times New Roman" panose="02020603050405020304" pitchFamily="18" charset="0"/>
            </a:endParaRPr>
          </a:p>
        </p:txBody>
      </p:sp>
      <p:sp>
        <p:nvSpPr>
          <p:cNvPr id="14" name="Text 10"/>
          <p:cNvSpPr txBox="1"/>
          <p:nvPr/>
        </p:nvSpPr>
        <p:spPr>
          <a:xfrm>
            <a:off x="5829300" y="192024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15" name="Shape 11"/>
          <p:cNvSpPr/>
          <p:nvPr/>
        </p:nvSpPr>
        <p:spPr>
          <a:xfrm>
            <a:off x="6332220" y="1920240"/>
            <a:ext cx="2388870" cy="1737360"/>
          </a:xfrm>
          <a:prstGeom prst="roundRect">
            <a:avLst>
              <a:gd name="adj" fmla="val 4211"/>
            </a:avLst>
          </a:prstGeom>
          <a:solidFill>
            <a:srgbClr val="FFFFFF"/>
          </a:solidFill>
          <a:ln w="12700">
            <a:solidFill>
              <a:srgbClr val="E1E6ED"/>
            </a:solidFill>
            <a:prstDash val="solid"/>
          </a:ln>
        </p:spPr>
      </p:sp>
      <p:sp>
        <p:nvSpPr>
          <p:cNvPr id="16" name="Shape 12"/>
          <p:cNvSpPr/>
          <p:nvPr/>
        </p:nvSpPr>
        <p:spPr>
          <a:xfrm>
            <a:off x="7252335" y="2057400"/>
            <a:ext cx="548640" cy="548640"/>
          </a:xfrm>
          <a:prstGeom prst="ellipse">
            <a:avLst/>
          </a:prstGeom>
          <a:solidFill>
            <a:srgbClr val="4A6FA5"/>
          </a:solidFill>
          <a:ln/>
        </p:spPr>
      </p:sp>
      <p:pic>
        <p:nvPicPr>
          <p:cNvPr id="17" name="Image 2" descr="preencoded.png"/>
          <p:cNvPicPr>
            <a:picLocks noChangeAspect="1"/>
          </p:cNvPicPr>
          <p:nvPr/>
        </p:nvPicPr>
        <p:blipFill>
          <a:blip r:embed="rId5"/>
          <a:stretch>
            <a:fillRect/>
          </a:stretch>
        </p:blipFill>
        <p:spPr>
          <a:xfrm>
            <a:off x="7380351" y="2185416"/>
            <a:ext cx="292608" cy="292608"/>
          </a:xfrm>
          <a:prstGeom prst="rect">
            <a:avLst/>
          </a:prstGeom>
        </p:spPr>
      </p:pic>
      <p:sp>
        <p:nvSpPr>
          <p:cNvPr id="18" name="Text 13"/>
          <p:cNvSpPr txBox="1"/>
          <p:nvPr/>
        </p:nvSpPr>
        <p:spPr>
          <a:xfrm>
            <a:off x="644194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Explanation</a:t>
            </a:r>
            <a:endParaRPr lang="en-US" sz="1150" dirty="0">
              <a:latin typeface="Times New Roman" panose="02020603050405020304" pitchFamily="18" charset="0"/>
              <a:cs typeface="Times New Roman" panose="02020603050405020304" pitchFamily="18" charset="0"/>
            </a:endParaRPr>
          </a:p>
        </p:txBody>
      </p:sp>
      <p:sp>
        <p:nvSpPr>
          <p:cNvPr id="19" name="Text 14"/>
          <p:cNvSpPr txBox="1"/>
          <p:nvPr/>
        </p:nvSpPr>
        <p:spPr>
          <a:xfrm>
            <a:off x="644194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Influential words &amp; structured signals</a:t>
            </a:r>
            <a:endParaRPr lang="en-US" sz="950" dirty="0">
              <a:latin typeface="Times New Roman" panose="02020603050405020304" pitchFamily="18" charset="0"/>
              <a:cs typeface="Times New Roman" panose="02020603050405020304" pitchFamily="18" charset="0"/>
            </a:endParaRPr>
          </a:p>
        </p:txBody>
      </p:sp>
      <p:sp>
        <p:nvSpPr>
          <p:cNvPr id="20" name="Text 15"/>
          <p:cNvSpPr txBox="1"/>
          <p:nvPr/>
        </p:nvSpPr>
        <p:spPr>
          <a:xfrm>
            <a:off x="8721090" y="192024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21" name="Shape 16"/>
          <p:cNvSpPr/>
          <p:nvPr/>
        </p:nvSpPr>
        <p:spPr>
          <a:xfrm>
            <a:off x="9224010" y="1920240"/>
            <a:ext cx="2388870" cy="1737360"/>
          </a:xfrm>
          <a:prstGeom prst="roundRect">
            <a:avLst>
              <a:gd name="adj" fmla="val 4211"/>
            </a:avLst>
          </a:prstGeom>
          <a:solidFill>
            <a:srgbClr val="FFFFFF"/>
          </a:solidFill>
          <a:ln w="12700">
            <a:solidFill>
              <a:srgbClr val="E1E6ED"/>
            </a:solidFill>
            <a:prstDash val="solid"/>
          </a:ln>
        </p:spPr>
      </p:sp>
      <p:sp>
        <p:nvSpPr>
          <p:cNvPr id="22" name="Shape 17"/>
          <p:cNvSpPr/>
          <p:nvPr/>
        </p:nvSpPr>
        <p:spPr>
          <a:xfrm>
            <a:off x="10144125" y="2057400"/>
            <a:ext cx="548640" cy="548640"/>
          </a:xfrm>
          <a:prstGeom prst="ellipse">
            <a:avLst/>
          </a:prstGeom>
          <a:solidFill>
            <a:srgbClr val="4A6FA5"/>
          </a:solidFill>
          <a:ln/>
        </p:spPr>
      </p:sp>
      <p:pic>
        <p:nvPicPr>
          <p:cNvPr id="23" name="Image 3" descr="preencoded.png"/>
          <p:cNvPicPr>
            <a:picLocks noChangeAspect="1"/>
          </p:cNvPicPr>
          <p:nvPr/>
        </p:nvPicPr>
        <p:blipFill>
          <a:blip r:embed="rId6"/>
          <a:stretch>
            <a:fillRect/>
          </a:stretch>
        </p:blipFill>
        <p:spPr>
          <a:xfrm>
            <a:off x="10272141" y="2185416"/>
            <a:ext cx="292608" cy="292608"/>
          </a:xfrm>
          <a:prstGeom prst="rect">
            <a:avLst/>
          </a:prstGeom>
        </p:spPr>
      </p:pic>
      <p:sp>
        <p:nvSpPr>
          <p:cNvPr id="24" name="Text 18"/>
          <p:cNvSpPr txBox="1"/>
          <p:nvPr/>
        </p:nvSpPr>
        <p:spPr>
          <a:xfrm>
            <a:off x="933373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Human Verification</a:t>
            </a:r>
            <a:endParaRPr lang="en-US" sz="1150" dirty="0">
              <a:latin typeface="Times New Roman" panose="02020603050405020304" pitchFamily="18" charset="0"/>
              <a:cs typeface="Times New Roman" panose="02020603050405020304" pitchFamily="18" charset="0"/>
            </a:endParaRPr>
          </a:p>
        </p:txBody>
      </p:sp>
      <p:sp>
        <p:nvSpPr>
          <p:cNvPr id="25" name="Text 19"/>
          <p:cNvSpPr txBox="1"/>
          <p:nvPr/>
        </p:nvSpPr>
        <p:spPr>
          <a:xfrm>
            <a:off x="933373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Job seeker / reviewer decides next step</a:t>
            </a:r>
            <a:endParaRPr lang="en-US" sz="950" dirty="0">
              <a:latin typeface="Times New Roman" panose="02020603050405020304" pitchFamily="18" charset="0"/>
              <a:cs typeface="Times New Roman" panose="02020603050405020304" pitchFamily="18" charset="0"/>
            </a:endParaRPr>
          </a:p>
        </p:txBody>
      </p:sp>
      <p:sp>
        <p:nvSpPr>
          <p:cNvPr id="26" name="Text 20"/>
          <p:cNvSpPr txBox="1"/>
          <p:nvPr/>
        </p:nvSpPr>
        <p:spPr>
          <a:xfrm>
            <a:off x="548640" y="4206240"/>
            <a:ext cx="10515600" cy="1463040"/>
          </a:xfrm>
          <a:prstGeom prst="rect">
            <a:avLst/>
          </a:prstGeom>
          <a:noFill/>
          <a:ln/>
        </p:spPr>
        <p:txBody>
          <a:bodyPr wrap="square" lIns="0" tIns="0" rIns="0" bIns="0" rtlCol="0" anchor="t"/>
          <a:lstStyle/>
          <a:p>
            <a:pPr marL="342900" indent="-342900" algn="l">
              <a:lnSpc>
                <a:spcPct val="112000"/>
              </a:lnSpc>
              <a:spcAft>
                <a:spcPts val="1200"/>
              </a:spcAft>
              <a:buSzPct val="100000"/>
              <a:buChar char="●"/>
            </a:pPr>
            <a:r>
              <a:rPr lang="en-US" sz="1450" dirty="0">
                <a:solidFill>
                  <a:srgbClr val="33414F"/>
                </a:solidFill>
                <a:latin typeface="Times New Roman" panose="02020603050405020304" pitchFamily="18" charset="0"/>
                <a:ea typeface="Calibri" pitchFamily="34" charset="-122"/>
                <a:cs typeface="Times New Roman" panose="02020603050405020304" pitchFamily="18" charset="0"/>
              </a:rPr>
              <a:t>The system supports human verification and official reporting channels — it does not replace them</a:t>
            </a:r>
            <a:endParaRPr lang="en-US" sz="145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450" dirty="0">
                <a:solidFill>
                  <a:srgbClr val="33414F"/>
                </a:solidFill>
                <a:latin typeface="Times New Roman" panose="02020603050405020304" pitchFamily="18" charset="0"/>
                <a:ea typeface="Calibri" pitchFamily="34" charset="-122"/>
                <a:cs typeface="Times New Roman" panose="02020603050405020304" pitchFamily="18" charset="0"/>
              </a:rPr>
              <a:t>Output is a fraud-risk score and classification (Legitimate / Fraud-risk) at a chosen operating threshold, not a certainty</a:t>
            </a:r>
            <a:endParaRPr lang="en-US" sz="14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15620" y="256032"/>
            <a:ext cx="1705980" cy="477054"/>
          </a:xfrm>
          <a:prstGeom prst="rect">
            <a:avLst/>
          </a:prstGeom>
          <a:noFill/>
        </p:spPr>
        <p:txBody>
          <a:bodyPr wrap="none">
            <a:spAutoFit/>
          </a:bodyPr>
          <a:lstStyle/>
          <a:p>
            <a:pPr>
              <a:defRPr sz="2500" b="1">
                <a:solidFill>
                  <a:srgbClr val="1B2B41"/>
                </a:solidFill>
                <a:latin typeface="Aptos Display"/>
              </a:defRPr>
            </a:pPr>
            <a:r>
              <a:rPr dirty="0"/>
              <a:t>Objectives </a:t>
            </a:r>
          </a:p>
        </p:txBody>
      </p:sp>
      <p:sp>
        <p:nvSpPr>
          <p:cNvPr id="4" name="Rounded Rectangle 3"/>
          <p:cNvSpPr/>
          <p:nvPr/>
        </p:nvSpPr>
        <p:spPr>
          <a:xfrm>
            <a:off x="502920" y="96012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67512" y="111556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1</a:t>
            </a:r>
          </a:p>
        </p:txBody>
      </p:sp>
      <p:sp>
        <p:nvSpPr>
          <p:cNvPr id="6" name="TextBox 5"/>
          <p:cNvSpPr txBox="1"/>
          <p:nvPr/>
        </p:nvSpPr>
        <p:spPr>
          <a:xfrm>
            <a:off x="1216152" y="1088136"/>
            <a:ext cx="4709160" cy="530352"/>
          </a:xfrm>
          <a:prstGeom prst="rect">
            <a:avLst/>
          </a:prstGeom>
          <a:noFill/>
        </p:spPr>
        <p:txBody>
          <a:bodyPr wrap="none">
            <a:spAutoFit/>
          </a:bodyPr>
          <a:lstStyle/>
          <a:p>
            <a:pPr>
              <a:defRPr sz="1500" b="1">
                <a:solidFill>
                  <a:srgbClr val="1B2B41"/>
                </a:solidFill>
                <a:latin typeface="Aptos"/>
              </a:defRPr>
            </a:pPr>
            <a:r>
              <a:t>Objective 1: Detect Fraudulent Job Advertisements</a:t>
            </a:r>
          </a:p>
        </p:txBody>
      </p:sp>
      <p:sp>
        <p:nvSpPr>
          <p:cNvPr id="7" name="TextBox 6"/>
          <p:cNvSpPr txBox="1"/>
          <p:nvPr/>
        </p:nvSpPr>
        <p:spPr>
          <a:xfrm>
            <a:off x="731520" y="1673352"/>
            <a:ext cx="5166360" cy="1298448"/>
          </a:xfrm>
          <a:prstGeom prst="rect">
            <a:avLst/>
          </a:prstGeom>
          <a:noFill/>
        </p:spPr>
        <p:txBody>
          <a:bodyPr wrap="square">
            <a:spAutoFit/>
          </a:bodyPr>
          <a:lstStyle/>
          <a:p>
            <a:pPr>
              <a:lnSpc>
                <a:spcPct val="105000"/>
              </a:lnSpc>
              <a:defRPr sz="1250">
                <a:solidFill>
                  <a:srgbClr val="46505C"/>
                </a:solidFill>
                <a:latin typeface="Aptos"/>
              </a:defRPr>
            </a:pPr>
            <a:r>
              <a:t>Develop a machine learning model that classifies job advertisements as Genuine (0) or Fraudulent (1) using textual and structured job-posting information.</a:t>
            </a:r>
          </a:p>
        </p:txBody>
      </p:sp>
      <p:sp>
        <p:nvSpPr>
          <p:cNvPr id="8" name="Rounded Rectangle 7"/>
          <p:cNvSpPr/>
          <p:nvPr/>
        </p:nvSpPr>
        <p:spPr>
          <a:xfrm>
            <a:off x="6355080" y="96012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19672" y="111556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2</a:t>
            </a:r>
          </a:p>
        </p:txBody>
      </p:sp>
      <p:sp>
        <p:nvSpPr>
          <p:cNvPr id="10" name="TextBox 9"/>
          <p:cNvSpPr txBox="1"/>
          <p:nvPr/>
        </p:nvSpPr>
        <p:spPr>
          <a:xfrm>
            <a:off x="7068312" y="1088136"/>
            <a:ext cx="4709160" cy="530352"/>
          </a:xfrm>
          <a:prstGeom prst="rect">
            <a:avLst/>
          </a:prstGeom>
          <a:noFill/>
        </p:spPr>
        <p:txBody>
          <a:bodyPr wrap="none">
            <a:spAutoFit/>
          </a:bodyPr>
          <a:lstStyle/>
          <a:p>
            <a:pPr>
              <a:defRPr sz="1500" b="1">
                <a:solidFill>
                  <a:srgbClr val="1B2B41"/>
                </a:solidFill>
                <a:latin typeface="Aptos"/>
              </a:defRPr>
            </a:pPr>
            <a:r>
              <a:t>Objective 2: Identify Scam Patterns</a:t>
            </a:r>
          </a:p>
        </p:txBody>
      </p:sp>
      <p:sp>
        <p:nvSpPr>
          <p:cNvPr id="11" name="TextBox 10"/>
          <p:cNvSpPr txBox="1"/>
          <p:nvPr/>
        </p:nvSpPr>
        <p:spPr>
          <a:xfrm>
            <a:off x="6583680" y="1673352"/>
            <a:ext cx="5166360" cy="1298448"/>
          </a:xfrm>
          <a:prstGeom prst="rect">
            <a:avLst/>
          </a:prstGeom>
          <a:noFill/>
        </p:spPr>
        <p:txBody>
          <a:bodyPr wrap="square">
            <a:spAutoFit/>
          </a:bodyPr>
          <a:lstStyle/>
          <a:p>
            <a:pPr>
              <a:lnSpc>
                <a:spcPct val="105000"/>
              </a:lnSpc>
              <a:defRPr sz="1250">
                <a:solidFill>
                  <a:srgbClr val="46505C"/>
                </a:solidFill>
                <a:latin typeface="Aptos"/>
              </a:defRPr>
            </a:pPr>
            <a:r>
              <a:t>Use NLP techniques to identify common scam indicators such as urgent hiring language, upfront payment requests, poorly written descriptions, unrealistic salaries, and suspicious contact information.</a:t>
            </a:r>
          </a:p>
        </p:txBody>
      </p:sp>
      <p:sp>
        <p:nvSpPr>
          <p:cNvPr id="12" name="Rounded Rectangle 11"/>
          <p:cNvSpPr/>
          <p:nvPr/>
        </p:nvSpPr>
        <p:spPr>
          <a:xfrm>
            <a:off x="502920" y="338328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67512" y="353872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3</a:t>
            </a:r>
          </a:p>
        </p:txBody>
      </p:sp>
      <p:sp>
        <p:nvSpPr>
          <p:cNvPr id="14" name="TextBox 13"/>
          <p:cNvSpPr txBox="1"/>
          <p:nvPr/>
        </p:nvSpPr>
        <p:spPr>
          <a:xfrm>
            <a:off x="1216152" y="3511296"/>
            <a:ext cx="4709160" cy="530352"/>
          </a:xfrm>
          <a:prstGeom prst="rect">
            <a:avLst/>
          </a:prstGeom>
          <a:noFill/>
        </p:spPr>
        <p:txBody>
          <a:bodyPr wrap="none">
            <a:spAutoFit/>
          </a:bodyPr>
          <a:lstStyle/>
          <a:p>
            <a:pPr>
              <a:defRPr sz="1500" b="1">
                <a:solidFill>
                  <a:srgbClr val="1B2B41"/>
                </a:solidFill>
                <a:latin typeface="Aptos"/>
              </a:defRPr>
            </a:pPr>
            <a:r>
              <a:t>Objective 3: Integrate Kenyan Government Verification</a:t>
            </a:r>
          </a:p>
        </p:txBody>
      </p:sp>
      <p:sp>
        <p:nvSpPr>
          <p:cNvPr id="15" name="TextBox 14"/>
          <p:cNvSpPr txBox="1"/>
          <p:nvPr/>
        </p:nvSpPr>
        <p:spPr>
          <a:xfrm>
            <a:off x="731520" y="4096512"/>
            <a:ext cx="5166360" cy="1298448"/>
          </a:xfrm>
          <a:prstGeom prst="rect">
            <a:avLst/>
          </a:prstGeom>
          <a:noFill/>
        </p:spPr>
        <p:txBody>
          <a:bodyPr wrap="square">
            <a:spAutoFit/>
          </a:bodyPr>
          <a:lstStyle/>
          <a:p>
            <a:pPr>
              <a:lnSpc>
                <a:spcPct val="105000"/>
              </a:lnSpc>
              <a:defRPr sz="1250">
                <a:solidFill>
                  <a:srgbClr val="46505C"/>
                </a:solidFill>
                <a:latin typeface="Aptos"/>
              </a:defRPr>
            </a:pPr>
            <a:r>
              <a:t>Verify whether a recruitment agency is licensed, whether the agency appears on government blacklists, and whether the company exists in government records.</a:t>
            </a:r>
          </a:p>
        </p:txBody>
      </p:sp>
      <p:sp>
        <p:nvSpPr>
          <p:cNvPr id="16" name="Rounded Rectangle 15"/>
          <p:cNvSpPr/>
          <p:nvPr/>
        </p:nvSpPr>
        <p:spPr>
          <a:xfrm>
            <a:off x="6355080" y="338328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353872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4</a:t>
            </a:r>
          </a:p>
        </p:txBody>
      </p:sp>
      <p:sp>
        <p:nvSpPr>
          <p:cNvPr id="18" name="TextBox 17"/>
          <p:cNvSpPr txBox="1"/>
          <p:nvPr/>
        </p:nvSpPr>
        <p:spPr>
          <a:xfrm>
            <a:off x="7068312" y="3511296"/>
            <a:ext cx="4709160" cy="530352"/>
          </a:xfrm>
          <a:prstGeom prst="rect">
            <a:avLst/>
          </a:prstGeom>
          <a:noFill/>
        </p:spPr>
        <p:txBody>
          <a:bodyPr wrap="none">
            <a:spAutoFit/>
          </a:bodyPr>
          <a:lstStyle/>
          <a:p>
            <a:pPr>
              <a:defRPr sz="1500" b="1">
                <a:solidFill>
                  <a:srgbClr val="1B2B41"/>
                </a:solidFill>
                <a:latin typeface="Aptos"/>
              </a:defRPr>
            </a:pPr>
            <a:r>
              <a:t>Objective 4: Explain Predictions</a:t>
            </a:r>
          </a:p>
        </p:txBody>
      </p:sp>
      <p:sp>
        <p:nvSpPr>
          <p:cNvPr id="19" name="TextBox 18"/>
          <p:cNvSpPr txBox="1"/>
          <p:nvPr/>
        </p:nvSpPr>
        <p:spPr>
          <a:xfrm>
            <a:off x="6583680" y="4096512"/>
            <a:ext cx="5166360" cy="1298448"/>
          </a:xfrm>
          <a:prstGeom prst="rect">
            <a:avLst/>
          </a:prstGeom>
          <a:noFill/>
        </p:spPr>
        <p:txBody>
          <a:bodyPr wrap="square">
            <a:spAutoFit/>
          </a:bodyPr>
          <a:lstStyle/>
          <a:p>
            <a:pPr>
              <a:lnSpc>
                <a:spcPct val="105000"/>
              </a:lnSpc>
              <a:defRPr sz="1250">
                <a:solidFill>
                  <a:srgbClr val="46505C"/>
                </a:solidFill>
                <a:latin typeface="Aptos"/>
              </a:defRPr>
            </a:pPr>
            <a:r>
              <a:t>Explain why a posting was flagged with reasons such as an agency not found in the NEA registry, visa-processing fee requests, unrealistic overseas salaries, or urgency phrases such as “Apply Immediately.”</a:t>
            </a:r>
          </a:p>
        </p:txBody>
      </p:sp>
      <p:sp>
        <p:nvSpPr>
          <p:cNvPr id="20" name="TextBox 19"/>
          <p:cNvSpPr txBox="1"/>
          <p:nvPr/>
        </p:nvSpPr>
        <p:spPr>
          <a:xfrm>
            <a:off x="548640" y="6272784"/>
            <a:ext cx="11064240" cy="320040"/>
          </a:xfrm>
          <a:prstGeom prst="rect">
            <a:avLst/>
          </a:prstGeom>
          <a:noFill/>
        </p:spPr>
        <p:txBody>
          <a:bodyPr wrap="none">
            <a:spAutoFit/>
          </a:bodyPr>
          <a:lstStyle/>
          <a:p>
            <a:pPr algn="ctr">
              <a:defRPr sz="950" i="1">
                <a:solidFill>
                  <a:srgbClr val="46505C"/>
                </a:solidFill>
                <a:latin typeface="Aptos"/>
              </a:defRPr>
            </a:pPr>
            <a:r>
              <a:t>The system supports verification and human review; the model output is a decision-support signal, not a final determination.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Stakeholders &amp; Intended Workflow</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10424160" y="411480"/>
            <a:ext cx="594360" cy="594360"/>
          </a:xfrm>
          <a:prstGeom prst="ellipse">
            <a:avLst/>
          </a:prstGeom>
          <a:solidFill>
            <a:srgbClr val="4A6FA5"/>
          </a:solidFill>
          <a:ln/>
        </p:spPr>
      </p:sp>
      <p:pic>
        <p:nvPicPr>
          <p:cNvPr id="4" name="Image 0" descr="preencoded.png"/>
          <p:cNvPicPr>
            <a:picLocks noChangeAspect="1"/>
          </p:cNvPicPr>
          <p:nvPr/>
        </p:nvPicPr>
        <p:blipFill>
          <a:blip r:embed="rId3"/>
          <a:stretch>
            <a:fillRect/>
          </a:stretch>
        </p:blipFill>
        <p:spPr>
          <a:xfrm>
            <a:off x="10588752" y="576072"/>
            <a:ext cx="265176" cy="265176"/>
          </a:xfrm>
          <a:prstGeom prst="rect">
            <a:avLst/>
          </a:prstGeom>
        </p:spPr>
      </p:pic>
      <p:sp>
        <p:nvSpPr>
          <p:cNvPr id="5" name="Shape 2"/>
          <p:cNvSpPr/>
          <p:nvPr/>
        </p:nvSpPr>
        <p:spPr>
          <a:xfrm>
            <a:off x="6080760" y="1485900"/>
            <a:ext cx="9144" cy="1988820"/>
          </a:xfrm>
          <a:prstGeom prst="line">
            <a:avLst/>
          </a:prstGeom>
          <a:noFill/>
          <a:ln w="19050">
            <a:solidFill>
              <a:srgbClr val="E1E6ED"/>
            </a:solidFill>
            <a:prstDash val="solid"/>
          </a:ln>
        </p:spPr>
      </p:sp>
      <p:sp>
        <p:nvSpPr>
          <p:cNvPr id="6" name="Shape 3"/>
          <p:cNvSpPr/>
          <p:nvPr/>
        </p:nvSpPr>
        <p:spPr>
          <a:xfrm flipV="1">
            <a:off x="6080760" y="2766060"/>
            <a:ext cx="3840480" cy="708660"/>
          </a:xfrm>
          <a:prstGeom prst="line">
            <a:avLst/>
          </a:prstGeom>
          <a:noFill/>
          <a:ln w="19050">
            <a:solidFill>
              <a:srgbClr val="E1E6ED"/>
            </a:solidFill>
            <a:prstDash val="solid"/>
          </a:ln>
        </p:spPr>
      </p:sp>
      <p:sp>
        <p:nvSpPr>
          <p:cNvPr id="7" name="Shape 4"/>
          <p:cNvSpPr/>
          <p:nvPr/>
        </p:nvSpPr>
        <p:spPr>
          <a:xfrm>
            <a:off x="6080760" y="3474720"/>
            <a:ext cx="2560320" cy="1851660"/>
          </a:xfrm>
          <a:prstGeom prst="line">
            <a:avLst/>
          </a:prstGeom>
          <a:noFill/>
          <a:ln w="19050">
            <a:solidFill>
              <a:srgbClr val="E1E6ED"/>
            </a:solidFill>
            <a:prstDash val="solid"/>
          </a:ln>
        </p:spPr>
      </p:sp>
      <p:sp>
        <p:nvSpPr>
          <p:cNvPr id="8" name="Shape 5"/>
          <p:cNvSpPr/>
          <p:nvPr/>
        </p:nvSpPr>
        <p:spPr>
          <a:xfrm flipV="1">
            <a:off x="3154680" y="3474720"/>
            <a:ext cx="2926080" cy="1851660"/>
          </a:xfrm>
          <a:prstGeom prst="line">
            <a:avLst/>
          </a:prstGeom>
          <a:noFill/>
          <a:ln w="19050">
            <a:solidFill>
              <a:srgbClr val="E1E6ED"/>
            </a:solidFill>
            <a:prstDash val="solid"/>
          </a:ln>
        </p:spPr>
      </p:sp>
      <p:sp>
        <p:nvSpPr>
          <p:cNvPr id="9" name="Shape 6"/>
          <p:cNvSpPr/>
          <p:nvPr/>
        </p:nvSpPr>
        <p:spPr>
          <a:xfrm>
            <a:off x="1874520" y="2766060"/>
            <a:ext cx="4206240" cy="708660"/>
          </a:xfrm>
          <a:prstGeom prst="line">
            <a:avLst/>
          </a:prstGeom>
          <a:noFill/>
          <a:ln w="19050">
            <a:solidFill>
              <a:srgbClr val="E1E6ED"/>
            </a:solidFill>
            <a:prstDash val="solid"/>
          </a:ln>
        </p:spPr>
      </p:sp>
      <p:sp>
        <p:nvSpPr>
          <p:cNvPr id="10" name="Shape 7"/>
          <p:cNvSpPr/>
          <p:nvPr/>
        </p:nvSpPr>
        <p:spPr>
          <a:xfrm>
            <a:off x="4709160" y="2880360"/>
            <a:ext cx="2743200" cy="1188720"/>
          </a:xfrm>
          <a:prstGeom prst="roundRect">
            <a:avLst>
              <a:gd name="adj" fmla="val 7692"/>
            </a:avLst>
          </a:prstGeom>
          <a:solidFill>
            <a:srgbClr val="1B2A4A"/>
          </a:solidFill>
          <a:ln/>
        </p:spPr>
      </p:sp>
      <p:sp>
        <p:nvSpPr>
          <p:cNvPr id="11" name="Text 8"/>
          <p:cNvSpPr txBox="1"/>
          <p:nvPr/>
        </p:nvSpPr>
        <p:spPr>
          <a:xfrm>
            <a:off x="4800600" y="2880360"/>
            <a:ext cx="256032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Fraud-Risk</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Screening System</a:t>
            </a:r>
            <a:endParaRPr lang="en-US" sz="1300" dirty="0">
              <a:latin typeface="Times New Roman" panose="02020603050405020304" pitchFamily="18" charset="0"/>
              <a:cs typeface="Times New Roman" panose="02020603050405020304" pitchFamily="18" charset="0"/>
            </a:endParaRPr>
          </a:p>
        </p:txBody>
      </p:sp>
      <p:sp>
        <p:nvSpPr>
          <p:cNvPr id="12" name="Shape 9"/>
          <p:cNvSpPr/>
          <p:nvPr/>
        </p:nvSpPr>
        <p:spPr>
          <a:xfrm>
            <a:off x="4343400" y="868680"/>
            <a:ext cx="3474720" cy="1234440"/>
          </a:xfrm>
          <a:prstGeom prst="roundRect">
            <a:avLst>
              <a:gd name="adj" fmla="val 5926"/>
            </a:avLst>
          </a:prstGeom>
          <a:solidFill>
            <a:srgbClr val="FFFFFF"/>
          </a:solidFill>
          <a:ln w="12700">
            <a:solidFill>
              <a:srgbClr val="E1E6ED"/>
            </a:solidFill>
            <a:prstDash val="solid"/>
          </a:ln>
        </p:spPr>
      </p:sp>
      <p:sp>
        <p:nvSpPr>
          <p:cNvPr id="13" name="Text 10"/>
          <p:cNvSpPr txBox="1"/>
          <p:nvPr/>
        </p:nvSpPr>
        <p:spPr>
          <a:xfrm>
            <a:off x="4480560" y="96012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Primary Users</a:t>
            </a:r>
            <a:endParaRPr lang="en-US" sz="1250" dirty="0">
              <a:latin typeface="Times New Roman" panose="02020603050405020304" pitchFamily="18" charset="0"/>
              <a:cs typeface="Times New Roman" panose="02020603050405020304" pitchFamily="18" charset="0"/>
            </a:endParaRPr>
          </a:p>
        </p:txBody>
      </p:sp>
      <p:sp>
        <p:nvSpPr>
          <p:cNvPr id="14" name="Text 11"/>
          <p:cNvSpPr txBox="1"/>
          <p:nvPr/>
        </p:nvSpPr>
        <p:spPr>
          <a:xfrm>
            <a:off x="4480560" y="134416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Kenyan job seekers, especially young adults</a:t>
            </a:r>
            <a:endParaRPr lang="en-US" sz="1050" dirty="0">
              <a:latin typeface="Times New Roman" panose="02020603050405020304" pitchFamily="18" charset="0"/>
              <a:cs typeface="Times New Roman" panose="02020603050405020304" pitchFamily="18" charset="0"/>
            </a:endParaRPr>
          </a:p>
        </p:txBody>
      </p:sp>
      <p:sp>
        <p:nvSpPr>
          <p:cNvPr id="15" name="Shape 12"/>
          <p:cNvSpPr/>
          <p:nvPr/>
        </p:nvSpPr>
        <p:spPr>
          <a:xfrm>
            <a:off x="8183880" y="2148840"/>
            <a:ext cx="3474720" cy="1234440"/>
          </a:xfrm>
          <a:prstGeom prst="roundRect">
            <a:avLst>
              <a:gd name="adj" fmla="val 5926"/>
            </a:avLst>
          </a:prstGeom>
          <a:solidFill>
            <a:srgbClr val="FFFFFF"/>
          </a:solidFill>
          <a:ln w="12700">
            <a:solidFill>
              <a:srgbClr val="E1E6ED"/>
            </a:solidFill>
            <a:prstDash val="solid"/>
          </a:ln>
        </p:spPr>
      </p:sp>
      <p:sp>
        <p:nvSpPr>
          <p:cNvPr id="16" name="Text 13"/>
          <p:cNvSpPr txBox="1"/>
          <p:nvPr/>
        </p:nvSpPr>
        <p:spPr>
          <a:xfrm>
            <a:off x="8321040" y="224028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Distribution &amp; Data Partners</a:t>
            </a:r>
            <a:endParaRPr lang="en-US" sz="1250" dirty="0">
              <a:latin typeface="Times New Roman" panose="02020603050405020304" pitchFamily="18" charset="0"/>
              <a:cs typeface="Times New Roman" panose="02020603050405020304" pitchFamily="18" charset="0"/>
            </a:endParaRPr>
          </a:p>
        </p:txBody>
      </p:sp>
      <p:sp>
        <p:nvSpPr>
          <p:cNvPr id="17" name="Text 14"/>
          <p:cNvSpPr txBox="1"/>
          <p:nvPr/>
        </p:nvSpPr>
        <p:spPr>
          <a:xfrm>
            <a:off x="8321040" y="262432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Job boards and recruiters</a:t>
            </a:r>
            <a:endParaRPr lang="en-US" sz="1050" dirty="0">
              <a:latin typeface="Times New Roman" panose="02020603050405020304" pitchFamily="18" charset="0"/>
              <a:cs typeface="Times New Roman" panose="02020603050405020304" pitchFamily="18" charset="0"/>
            </a:endParaRPr>
          </a:p>
        </p:txBody>
      </p:sp>
      <p:sp>
        <p:nvSpPr>
          <p:cNvPr id="18" name="Shape 15"/>
          <p:cNvSpPr/>
          <p:nvPr/>
        </p:nvSpPr>
        <p:spPr>
          <a:xfrm>
            <a:off x="6903720" y="4709160"/>
            <a:ext cx="3474720" cy="1234440"/>
          </a:xfrm>
          <a:prstGeom prst="roundRect">
            <a:avLst>
              <a:gd name="adj" fmla="val 5926"/>
            </a:avLst>
          </a:prstGeom>
          <a:solidFill>
            <a:srgbClr val="FFFFFF"/>
          </a:solidFill>
          <a:ln w="12700">
            <a:solidFill>
              <a:srgbClr val="E1E6ED"/>
            </a:solidFill>
            <a:prstDash val="solid"/>
          </a:ln>
        </p:spPr>
      </p:sp>
      <p:sp>
        <p:nvSpPr>
          <p:cNvPr id="19" name="Text 16"/>
          <p:cNvSpPr txBox="1"/>
          <p:nvPr/>
        </p:nvSpPr>
        <p:spPr>
          <a:xfrm>
            <a:off x="7040880" y="480060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Public-Sector Partners</a:t>
            </a:r>
            <a:endParaRPr lang="en-US" sz="1250" dirty="0">
              <a:latin typeface="Times New Roman" panose="02020603050405020304" pitchFamily="18" charset="0"/>
              <a:cs typeface="Times New Roman" panose="02020603050405020304" pitchFamily="18" charset="0"/>
            </a:endParaRPr>
          </a:p>
        </p:txBody>
      </p:sp>
      <p:sp>
        <p:nvSpPr>
          <p:cNvPr id="20" name="Text 17"/>
          <p:cNvSpPr txBox="1"/>
          <p:nvPr/>
        </p:nvSpPr>
        <p:spPr>
          <a:xfrm>
            <a:off x="7040880" y="518464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NEA, Ministry of Labour, DCI, and related agencies</a:t>
            </a:r>
            <a:endParaRPr lang="en-US" sz="1050" dirty="0">
              <a:latin typeface="Times New Roman" panose="02020603050405020304" pitchFamily="18" charset="0"/>
              <a:cs typeface="Times New Roman" panose="02020603050405020304" pitchFamily="18" charset="0"/>
            </a:endParaRPr>
          </a:p>
        </p:txBody>
      </p:sp>
      <p:sp>
        <p:nvSpPr>
          <p:cNvPr id="21" name="Shape 18"/>
          <p:cNvSpPr/>
          <p:nvPr/>
        </p:nvSpPr>
        <p:spPr>
          <a:xfrm>
            <a:off x="1417320" y="4709160"/>
            <a:ext cx="3474720" cy="1234440"/>
          </a:xfrm>
          <a:prstGeom prst="roundRect">
            <a:avLst>
              <a:gd name="adj" fmla="val 5926"/>
            </a:avLst>
          </a:prstGeom>
          <a:solidFill>
            <a:srgbClr val="FFFFFF"/>
          </a:solidFill>
          <a:ln w="12700">
            <a:solidFill>
              <a:srgbClr val="E1E6ED"/>
            </a:solidFill>
            <a:prstDash val="solid"/>
          </a:ln>
        </p:spPr>
      </p:sp>
      <p:sp>
        <p:nvSpPr>
          <p:cNvPr id="22" name="Text 19"/>
          <p:cNvSpPr txBox="1"/>
          <p:nvPr/>
        </p:nvSpPr>
        <p:spPr>
          <a:xfrm>
            <a:off x="1554480" y="480060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Community Channels</a:t>
            </a:r>
            <a:endParaRPr lang="en-US" sz="1250" dirty="0">
              <a:latin typeface="Times New Roman" panose="02020603050405020304" pitchFamily="18" charset="0"/>
              <a:cs typeface="Times New Roman" panose="02020603050405020304" pitchFamily="18" charset="0"/>
            </a:endParaRPr>
          </a:p>
        </p:txBody>
      </p:sp>
      <p:sp>
        <p:nvSpPr>
          <p:cNvPr id="23" name="Text 20"/>
          <p:cNvSpPr txBox="1"/>
          <p:nvPr/>
        </p:nvSpPr>
        <p:spPr>
          <a:xfrm>
            <a:off x="1554480" y="518464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County governments and TVET career services</a:t>
            </a:r>
            <a:endParaRPr lang="en-US" sz="1050" dirty="0">
              <a:latin typeface="Times New Roman" panose="02020603050405020304" pitchFamily="18" charset="0"/>
              <a:cs typeface="Times New Roman" panose="02020603050405020304" pitchFamily="18" charset="0"/>
            </a:endParaRPr>
          </a:p>
        </p:txBody>
      </p:sp>
      <p:sp>
        <p:nvSpPr>
          <p:cNvPr id="24" name="Shape 21"/>
          <p:cNvSpPr/>
          <p:nvPr/>
        </p:nvSpPr>
        <p:spPr>
          <a:xfrm>
            <a:off x="137160" y="2148840"/>
            <a:ext cx="3474720" cy="1234440"/>
          </a:xfrm>
          <a:prstGeom prst="roundRect">
            <a:avLst>
              <a:gd name="adj" fmla="val 5926"/>
            </a:avLst>
          </a:prstGeom>
          <a:solidFill>
            <a:srgbClr val="FFFFFF"/>
          </a:solidFill>
          <a:ln w="12700">
            <a:solidFill>
              <a:srgbClr val="E1E6ED"/>
            </a:solidFill>
            <a:prstDash val="solid"/>
          </a:ln>
        </p:spPr>
      </p:sp>
      <p:sp>
        <p:nvSpPr>
          <p:cNvPr id="25" name="Text 22"/>
          <p:cNvSpPr txBox="1"/>
          <p:nvPr/>
        </p:nvSpPr>
        <p:spPr>
          <a:xfrm>
            <a:off x="274320" y="224028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Beneficiaries</a:t>
            </a:r>
            <a:endParaRPr lang="en-US" sz="1250" dirty="0">
              <a:latin typeface="Times New Roman" panose="02020603050405020304" pitchFamily="18" charset="0"/>
              <a:cs typeface="Times New Roman" panose="02020603050405020304" pitchFamily="18" charset="0"/>
            </a:endParaRPr>
          </a:p>
        </p:txBody>
      </p:sp>
      <p:sp>
        <p:nvSpPr>
          <p:cNvPr id="26" name="Text 23"/>
          <p:cNvSpPr txBox="1"/>
          <p:nvPr/>
        </p:nvSpPr>
        <p:spPr>
          <a:xfrm>
            <a:off x="274320" y="262432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Legitimate employers and agencies</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Data Sources &amp; Labeling Strategy</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10424160" y="411480"/>
            <a:ext cx="594360" cy="594360"/>
          </a:xfrm>
          <a:prstGeom prst="ellipse">
            <a:avLst/>
          </a:prstGeom>
          <a:solidFill>
            <a:srgbClr val="4A6FA5"/>
          </a:solidFill>
          <a:ln/>
        </p:spPr>
      </p:sp>
      <p:pic>
        <p:nvPicPr>
          <p:cNvPr id="4" name="Image 0" descr="preencoded.png"/>
          <p:cNvPicPr>
            <a:picLocks noChangeAspect="1"/>
          </p:cNvPicPr>
          <p:nvPr/>
        </p:nvPicPr>
        <p:blipFill>
          <a:blip r:embed="rId3"/>
          <a:stretch>
            <a:fillRect/>
          </a:stretch>
        </p:blipFill>
        <p:spPr>
          <a:xfrm>
            <a:off x="10588752" y="576072"/>
            <a:ext cx="265176" cy="265176"/>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291840"/>
        </p:xfrm>
        <a:graphic>
          <a:graphicData uri="http://schemas.openxmlformats.org/drawingml/2006/table">
            <a:tbl>
              <a:tblPr/>
              <a:tblGrid>
                <a:gridCol w="4846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 group</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Approx. original size</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Label status</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Fake Job Postings / EMSCAD</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17,880</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Real benchmark labels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Fuzu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666</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PigiaMe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1,500</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Corporate Staffing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3,988</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BrighterMonday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1,964</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JobWeb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5,323</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6"/>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Synthetic Kenya-market augmentation</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40,000 (39,733 after cleaning)</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Generated labels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2"/>
          <p:cNvSpPr/>
          <p:nvPr/>
        </p:nvSpPr>
        <p:spPr>
          <a:xfrm>
            <a:off x="548640" y="4892040"/>
            <a:ext cx="2606040" cy="1051560"/>
          </a:xfrm>
          <a:prstGeom prst="roundRect">
            <a:avLst>
              <a:gd name="adj" fmla="val 6957"/>
            </a:avLst>
          </a:prstGeom>
          <a:solidFill>
            <a:srgbClr val="1B2A4A"/>
          </a:solidFill>
          <a:ln/>
        </p:spPr>
      </p:sp>
      <p:sp>
        <p:nvSpPr>
          <p:cNvPr id="5" name="Text 3"/>
          <p:cNvSpPr txBox="1"/>
          <p:nvPr/>
        </p:nvSpPr>
        <p:spPr>
          <a:xfrm>
            <a:off x="548640" y="4983480"/>
            <a:ext cx="26060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71,321</a:t>
            </a:r>
            <a:endParaRPr lang="en-US" sz="2200" dirty="0">
              <a:latin typeface="Times New Roman" panose="02020603050405020304" pitchFamily="18" charset="0"/>
              <a:cs typeface="Times New Roman" panose="02020603050405020304" pitchFamily="18" charset="0"/>
            </a:endParaRPr>
          </a:p>
        </p:txBody>
      </p:sp>
      <p:sp>
        <p:nvSpPr>
          <p:cNvPr id="8" name="Text 4"/>
          <p:cNvSpPr txBox="1"/>
          <p:nvPr/>
        </p:nvSpPr>
        <p:spPr>
          <a:xfrm>
            <a:off x="6400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Initial combined records</a:t>
            </a:r>
            <a:endParaRPr lang="en-US" sz="950" dirty="0">
              <a:latin typeface="Times New Roman" panose="02020603050405020304" pitchFamily="18" charset="0"/>
              <a:cs typeface="Times New Roman" panose="02020603050405020304" pitchFamily="18" charset="0"/>
            </a:endParaRPr>
          </a:p>
        </p:txBody>
      </p:sp>
      <p:sp>
        <p:nvSpPr>
          <p:cNvPr id="9" name="Shape 5"/>
          <p:cNvSpPr/>
          <p:nvPr/>
        </p:nvSpPr>
        <p:spPr>
          <a:xfrm>
            <a:off x="3291840" y="4892040"/>
            <a:ext cx="2606040" cy="1051560"/>
          </a:xfrm>
          <a:prstGeom prst="roundRect">
            <a:avLst>
              <a:gd name="adj" fmla="val 6957"/>
            </a:avLst>
          </a:prstGeom>
          <a:solidFill>
            <a:srgbClr val="1B2A4A"/>
          </a:solidFill>
          <a:ln/>
        </p:spPr>
      </p:sp>
      <p:sp>
        <p:nvSpPr>
          <p:cNvPr id="10" name="Text 6"/>
          <p:cNvSpPr txBox="1"/>
          <p:nvPr/>
        </p:nvSpPr>
        <p:spPr>
          <a:xfrm>
            <a:off x="3291840" y="4983480"/>
            <a:ext cx="2606040" cy="502920"/>
          </a:xfrm>
          <a:prstGeom prst="rect">
            <a:avLst/>
          </a:prstGeom>
          <a:noFill/>
          <a:ln/>
        </p:spPr>
        <p:txBody>
          <a:bodyPr wrap="square" lIns="0" tIns="0" rIns="0" bIns="0" rtlCol="0" anchor="ctr"/>
          <a:lstStyle/>
          <a:p>
            <a:pPr marL="0" indent="0" algn="ctr">
              <a:buNone/>
            </a:pPr>
            <a:r>
              <a:rPr lang="en-US" sz="2200" b="1" dirty="0">
                <a:solidFill>
                  <a:srgbClr val="FF8A75"/>
                </a:solidFill>
                <a:latin typeface="Times New Roman" panose="02020603050405020304" pitchFamily="18" charset="0"/>
                <a:ea typeface="Cambria" pitchFamily="34" charset="-122"/>
                <a:cs typeface="Times New Roman" panose="02020603050405020304" pitchFamily="18" charset="0"/>
              </a:rPr>
              <a:t>−1,019</a:t>
            </a:r>
            <a:endParaRPr lang="en-US" sz="2200" dirty="0">
              <a:latin typeface="Times New Roman" panose="02020603050405020304" pitchFamily="18" charset="0"/>
              <a:cs typeface="Times New Roman" panose="02020603050405020304" pitchFamily="18" charset="0"/>
            </a:endParaRPr>
          </a:p>
        </p:txBody>
      </p:sp>
      <p:sp>
        <p:nvSpPr>
          <p:cNvPr id="11" name="Text 7"/>
          <p:cNvSpPr txBox="1"/>
          <p:nvPr/>
        </p:nvSpPr>
        <p:spPr>
          <a:xfrm>
            <a:off x="33832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Duplicates removed</a:t>
            </a:r>
            <a:endParaRPr lang="en-US" sz="950" dirty="0">
              <a:latin typeface="Times New Roman" panose="02020603050405020304" pitchFamily="18" charset="0"/>
              <a:cs typeface="Times New Roman" panose="02020603050405020304" pitchFamily="18" charset="0"/>
            </a:endParaRPr>
          </a:p>
        </p:txBody>
      </p:sp>
      <p:sp>
        <p:nvSpPr>
          <p:cNvPr id="12" name="Shape 8"/>
          <p:cNvSpPr/>
          <p:nvPr/>
        </p:nvSpPr>
        <p:spPr>
          <a:xfrm>
            <a:off x="6035040" y="4892040"/>
            <a:ext cx="2606040" cy="1051560"/>
          </a:xfrm>
          <a:prstGeom prst="roundRect">
            <a:avLst>
              <a:gd name="adj" fmla="val 6957"/>
            </a:avLst>
          </a:prstGeom>
          <a:solidFill>
            <a:srgbClr val="1B2A4A"/>
          </a:solidFill>
          <a:ln/>
        </p:spPr>
      </p:sp>
      <p:sp>
        <p:nvSpPr>
          <p:cNvPr id="13" name="Text 9"/>
          <p:cNvSpPr txBox="1"/>
          <p:nvPr/>
        </p:nvSpPr>
        <p:spPr>
          <a:xfrm>
            <a:off x="6035040" y="4983480"/>
            <a:ext cx="26060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70,302</a:t>
            </a:r>
            <a:endParaRPr lang="en-US" sz="2200" dirty="0">
              <a:latin typeface="Times New Roman" panose="02020603050405020304" pitchFamily="18" charset="0"/>
              <a:cs typeface="Times New Roman" panose="02020603050405020304" pitchFamily="18" charset="0"/>
            </a:endParaRPr>
          </a:p>
        </p:txBody>
      </p:sp>
      <p:sp>
        <p:nvSpPr>
          <p:cNvPr id="14" name="Text 10"/>
          <p:cNvSpPr txBox="1"/>
          <p:nvPr/>
        </p:nvSpPr>
        <p:spPr>
          <a:xfrm>
            <a:off x="61264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Final integrated records</a:t>
            </a:r>
            <a:endParaRPr lang="en-US" sz="950" dirty="0">
              <a:latin typeface="Times New Roman" panose="02020603050405020304" pitchFamily="18" charset="0"/>
              <a:cs typeface="Times New Roman" panose="02020603050405020304" pitchFamily="18" charset="0"/>
            </a:endParaRPr>
          </a:p>
        </p:txBody>
      </p:sp>
      <p:sp>
        <p:nvSpPr>
          <p:cNvPr id="15" name="Shape 11"/>
          <p:cNvSpPr/>
          <p:nvPr/>
        </p:nvSpPr>
        <p:spPr>
          <a:xfrm>
            <a:off x="8778240" y="4892040"/>
            <a:ext cx="2606040" cy="1051560"/>
          </a:xfrm>
          <a:prstGeom prst="roundRect">
            <a:avLst>
              <a:gd name="adj" fmla="val 6957"/>
            </a:avLst>
          </a:prstGeom>
          <a:solidFill>
            <a:srgbClr val="1B2A4A"/>
          </a:solidFill>
          <a:ln/>
        </p:spPr>
      </p:sp>
      <p:sp>
        <p:nvSpPr>
          <p:cNvPr id="16" name="Text 12"/>
          <p:cNvSpPr txBox="1"/>
          <p:nvPr/>
        </p:nvSpPr>
        <p:spPr>
          <a:xfrm>
            <a:off x="8778240" y="4983480"/>
            <a:ext cx="26060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57,150 / 13,152</a:t>
            </a:r>
            <a:endParaRPr lang="en-US" sz="2200" dirty="0">
              <a:latin typeface="Times New Roman" panose="02020603050405020304" pitchFamily="18" charset="0"/>
              <a:cs typeface="Times New Roman" panose="02020603050405020304" pitchFamily="18" charset="0"/>
            </a:endParaRPr>
          </a:p>
        </p:txBody>
      </p:sp>
      <p:sp>
        <p:nvSpPr>
          <p:cNvPr id="17" name="Text 13"/>
          <p:cNvSpPr txBox="1"/>
          <p:nvPr/>
        </p:nvSpPr>
        <p:spPr>
          <a:xfrm>
            <a:off x="88696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Labeled / Unlabeled records</a:t>
            </a:r>
            <a:endParaRPr lang="en-US" sz="950" dirty="0">
              <a:latin typeface="Times New Roman" panose="02020603050405020304" pitchFamily="18" charset="0"/>
              <a:cs typeface="Times New Roman" panose="02020603050405020304" pitchFamily="18" charset="0"/>
            </a:endParaRPr>
          </a:p>
        </p:txBody>
      </p:sp>
      <p:sp>
        <p:nvSpPr>
          <p:cNvPr id="18" name="Text 14"/>
          <p:cNvSpPr txBox="1"/>
          <p:nvPr/>
        </p:nvSpPr>
        <p:spPr>
          <a:xfrm>
            <a:off x="548640" y="6080760"/>
            <a:ext cx="11064240" cy="365760"/>
          </a:xfrm>
          <a:prstGeom prst="rect">
            <a:avLst/>
          </a:prstGeom>
          <a:noFill/>
          <a:ln/>
        </p:spPr>
        <p:txBody>
          <a:bodyPr wrap="square" lIns="0" tIns="0" rIns="0" bIns="0" rtlCol="0" anchor="ctr"/>
          <a:lstStyle/>
          <a:p>
            <a:pPr marL="0" indent="0">
              <a:buNone/>
            </a:pPr>
            <a:r>
              <a:rPr lang="en-US" sz="1100" i="1" dirty="0">
                <a:solidFill>
                  <a:srgbClr val="6B7A8D"/>
                </a:solidFill>
                <a:latin typeface="Times New Roman" panose="02020603050405020304" pitchFamily="18" charset="0"/>
                <a:ea typeface="Calibri" pitchFamily="34" charset="-122"/>
                <a:cs typeface="Times New Roman" panose="02020603050405020304" pitchFamily="18" charset="0"/>
              </a:rPr>
              <a:t>Scraped Kenyan postings were not automatically labeled legitimate — they remain a separate, unlabeled contextual set.</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Dataset Structure &amp; Target Definition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417320"/>
            <a:ext cx="3017520" cy="594360"/>
          </a:xfrm>
          <a:prstGeom prst="roundRect">
            <a:avLst>
              <a:gd name="adj" fmla="val 9231"/>
            </a:avLst>
          </a:prstGeom>
          <a:solidFill>
            <a:srgbClr val="FFFFFF"/>
          </a:solidFill>
          <a:ln w="19050">
            <a:solidFill>
              <a:srgbClr val="4A6FA5"/>
            </a:solidFill>
            <a:prstDash val="solid"/>
          </a:ln>
        </p:spPr>
      </p:sp>
      <p:sp>
        <p:nvSpPr>
          <p:cNvPr id="4" name="Text 2"/>
          <p:cNvSpPr txBox="1"/>
          <p:nvPr/>
        </p:nvSpPr>
        <p:spPr>
          <a:xfrm>
            <a:off x="548640" y="1417320"/>
            <a:ext cx="3017520" cy="594360"/>
          </a:xfrm>
          <a:prstGeom prst="rect">
            <a:avLst/>
          </a:prstGeom>
          <a:noFill/>
          <a:ln/>
        </p:spPr>
        <p:txBody>
          <a:bodyPr wrap="square" lIns="0" tIns="0" rIns="0" bIns="0" rtlCol="0" anchor="ctr"/>
          <a:lstStyle/>
          <a:p>
            <a:pPr marL="0" indent="0" algn="ctr">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0 — Legitimate</a:t>
            </a:r>
            <a:endParaRPr lang="en-US" sz="1250" dirty="0">
              <a:latin typeface="Times New Roman" panose="02020603050405020304" pitchFamily="18" charset="0"/>
              <a:cs typeface="Times New Roman" panose="02020603050405020304" pitchFamily="18" charset="0"/>
            </a:endParaRPr>
          </a:p>
        </p:txBody>
      </p:sp>
      <p:sp>
        <p:nvSpPr>
          <p:cNvPr id="5" name="Shape 3"/>
          <p:cNvSpPr/>
          <p:nvPr/>
        </p:nvSpPr>
        <p:spPr>
          <a:xfrm>
            <a:off x="548640" y="2148840"/>
            <a:ext cx="3017520" cy="594360"/>
          </a:xfrm>
          <a:prstGeom prst="roundRect">
            <a:avLst>
              <a:gd name="adj" fmla="val 9231"/>
            </a:avLst>
          </a:prstGeom>
          <a:solidFill>
            <a:srgbClr val="FFFFFF"/>
          </a:solidFill>
          <a:ln w="19050">
            <a:solidFill>
              <a:srgbClr val="C0392B"/>
            </a:solidFill>
            <a:prstDash val="solid"/>
          </a:ln>
        </p:spPr>
      </p:sp>
      <p:sp>
        <p:nvSpPr>
          <p:cNvPr id="6" name="Text 4"/>
          <p:cNvSpPr txBox="1"/>
          <p:nvPr/>
        </p:nvSpPr>
        <p:spPr>
          <a:xfrm>
            <a:off x="548640" y="2148840"/>
            <a:ext cx="3017520" cy="594360"/>
          </a:xfrm>
          <a:prstGeom prst="rect">
            <a:avLst/>
          </a:prstGeom>
          <a:noFill/>
          <a:ln/>
        </p:spPr>
        <p:txBody>
          <a:bodyPr wrap="square" lIns="0" tIns="0" rIns="0" bIns="0" rtlCol="0" anchor="ctr"/>
          <a:lstStyle/>
          <a:p>
            <a:pPr marL="0" indent="0" algn="ctr">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1 — Suspicious</a:t>
            </a:r>
            <a:endParaRPr lang="en-US" sz="1250" dirty="0">
              <a:latin typeface="Times New Roman" panose="02020603050405020304" pitchFamily="18" charset="0"/>
              <a:cs typeface="Times New Roman" panose="02020603050405020304" pitchFamily="18" charset="0"/>
            </a:endParaRPr>
          </a:p>
        </p:txBody>
      </p:sp>
      <p:sp>
        <p:nvSpPr>
          <p:cNvPr id="7" name="Shape 5"/>
          <p:cNvSpPr/>
          <p:nvPr/>
        </p:nvSpPr>
        <p:spPr>
          <a:xfrm>
            <a:off x="548640" y="2880360"/>
            <a:ext cx="3017520" cy="594360"/>
          </a:xfrm>
          <a:prstGeom prst="roundRect">
            <a:avLst>
              <a:gd name="adj" fmla="val 9231"/>
            </a:avLst>
          </a:prstGeom>
          <a:solidFill>
            <a:srgbClr val="FFFFFF"/>
          </a:solidFill>
          <a:ln w="19050">
            <a:solidFill>
              <a:srgbClr val="C0392B"/>
            </a:solidFill>
            <a:prstDash val="solid"/>
          </a:ln>
        </p:spPr>
      </p:sp>
      <p:sp>
        <p:nvSpPr>
          <p:cNvPr id="8" name="Text 6"/>
          <p:cNvSpPr txBox="1"/>
          <p:nvPr/>
        </p:nvSpPr>
        <p:spPr>
          <a:xfrm>
            <a:off x="548640" y="2880360"/>
            <a:ext cx="3017520" cy="594360"/>
          </a:xfrm>
          <a:prstGeom prst="rect">
            <a:avLst/>
          </a:prstGeom>
          <a:noFill/>
          <a:ln/>
        </p:spPr>
        <p:txBody>
          <a:bodyPr wrap="square" lIns="0" tIns="0" rIns="0" bIns="0" rtlCol="0" anchor="ctr"/>
          <a:lstStyle/>
          <a:p>
            <a:pPr marL="0" indent="0" algn="ctr">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2 — Fraudulent / Scam</a:t>
            </a:r>
            <a:endParaRPr lang="en-US" sz="1250" dirty="0">
              <a:latin typeface="Times New Roman" panose="02020603050405020304" pitchFamily="18" charset="0"/>
              <a:cs typeface="Times New Roman" panose="02020603050405020304" pitchFamily="18" charset="0"/>
            </a:endParaRPr>
          </a:p>
        </p:txBody>
      </p:sp>
      <p:sp>
        <p:nvSpPr>
          <p:cNvPr id="9" name="Shape 7"/>
          <p:cNvSpPr/>
          <p:nvPr/>
        </p:nvSpPr>
        <p:spPr>
          <a:xfrm>
            <a:off x="8138160" y="1417320"/>
            <a:ext cx="3017520" cy="594360"/>
          </a:xfrm>
          <a:prstGeom prst="roundRect">
            <a:avLst>
              <a:gd name="adj" fmla="val 9231"/>
            </a:avLst>
          </a:prstGeom>
          <a:solidFill>
            <a:srgbClr val="4A6FA5"/>
          </a:solidFill>
          <a:ln/>
        </p:spPr>
      </p:sp>
      <p:sp>
        <p:nvSpPr>
          <p:cNvPr id="10" name="Text 8"/>
          <p:cNvSpPr txBox="1"/>
          <p:nvPr/>
        </p:nvSpPr>
        <p:spPr>
          <a:xfrm>
            <a:off x="8138160" y="1417320"/>
            <a:ext cx="3017520"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0 = Legitimate</a:t>
            </a:r>
            <a:endParaRPr lang="en-US" sz="1250" dirty="0">
              <a:latin typeface="Times New Roman" panose="02020603050405020304" pitchFamily="18" charset="0"/>
              <a:cs typeface="Times New Roman" panose="02020603050405020304" pitchFamily="18" charset="0"/>
            </a:endParaRPr>
          </a:p>
        </p:txBody>
      </p:sp>
      <p:sp>
        <p:nvSpPr>
          <p:cNvPr id="11" name="Shape 9"/>
          <p:cNvSpPr/>
          <p:nvPr/>
        </p:nvSpPr>
        <p:spPr>
          <a:xfrm>
            <a:off x="8138160" y="2240280"/>
            <a:ext cx="3017520" cy="1234440"/>
          </a:xfrm>
          <a:prstGeom prst="roundRect">
            <a:avLst>
              <a:gd name="adj" fmla="val 4444"/>
            </a:avLst>
          </a:prstGeom>
          <a:solidFill>
            <a:srgbClr val="C0392B"/>
          </a:solidFill>
          <a:ln/>
        </p:spPr>
      </p:sp>
      <p:sp>
        <p:nvSpPr>
          <p:cNvPr id="12" name="Text 10"/>
          <p:cNvSpPr txBox="1"/>
          <p:nvPr/>
        </p:nvSpPr>
        <p:spPr>
          <a:xfrm>
            <a:off x="8138160" y="2240280"/>
            <a:ext cx="3017520" cy="12344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1 = Fraud-risk</a:t>
            </a:r>
            <a:endParaRPr lang="en-US" sz="1250" dirty="0">
              <a:latin typeface="Times New Roman" panose="02020603050405020304" pitchFamily="18" charset="0"/>
              <a:cs typeface="Times New Roman" panose="02020603050405020304" pitchFamily="18" charset="0"/>
            </a:endParaRPr>
          </a:p>
          <a:p>
            <a:pPr marL="0" indent="0" algn="ctr">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(Suspicious + Fraudulent)</a:t>
            </a:r>
            <a:endParaRPr lang="en-US" sz="1250" dirty="0">
              <a:latin typeface="Times New Roman" panose="02020603050405020304" pitchFamily="18" charset="0"/>
              <a:cs typeface="Times New Roman" panose="02020603050405020304" pitchFamily="18" charset="0"/>
            </a:endParaRPr>
          </a:p>
        </p:txBody>
      </p:sp>
      <p:sp>
        <p:nvSpPr>
          <p:cNvPr id="13" name="Shape 11"/>
          <p:cNvSpPr/>
          <p:nvPr/>
        </p:nvSpPr>
        <p:spPr>
          <a:xfrm flipV="1">
            <a:off x="3566160" y="1714500"/>
            <a:ext cx="4572000" cy="9144"/>
          </a:xfrm>
          <a:prstGeom prst="line">
            <a:avLst/>
          </a:prstGeom>
          <a:noFill/>
          <a:ln w="25400">
            <a:solidFill>
              <a:srgbClr val="4A6FA5"/>
            </a:solidFill>
            <a:prstDash val="solid"/>
          </a:ln>
        </p:spPr>
      </p:sp>
      <p:sp>
        <p:nvSpPr>
          <p:cNvPr id="14" name="Shape 12"/>
          <p:cNvSpPr/>
          <p:nvPr/>
        </p:nvSpPr>
        <p:spPr>
          <a:xfrm>
            <a:off x="3566160" y="2446020"/>
            <a:ext cx="4572000" cy="205740"/>
          </a:xfrm>
          <a:prstGeom prst="line">
            <a:avLst/>
          </a:prstGeom>
          <a:noFill/>
          <a:ln w="25400">
            <a:solidFill>
              <a:srgbClr val="C0392B"/>
            </a:solidFill>
            <a:prstDash val="solid"/>
          </a:ln>
        </p:spPr>
      </p:sp>
      <p:sp>
        <p:nvSpPr>
          <p:cNvPr id="15" name="Shape 13"/>
          <p:cNvSpPr/>
          <p:nvPr/>
        </p:nvSpPr>
        <p:spPr>
          <a:xfrm flipV="1">
            <a:off x="3566160" y="3017520"/>
            <a:ext cx="4572000" cy="160020"/>
          </a:xfrm>
          <a:prstGeom prst="line">
            <a:avLst/>
          </a:prstGeom>
          <a:noFill/>
          <a:ln w="25400">
            <a:solidFill>
              <a:srgbClr val="C0392B"/>
            </a:solidFill>
            <a:prstDash val="solid"/>
          </a:ln>
        </p:spPr>
      </p:sp>
      <p:sp>
        <p:nvSpPr>
          <p:cNvPr id="16" name="Text 14"/>
          <p:cNvSpPr txBox="1"/>
          <p:nvPr/>
        </p:nvSpPr>
        <p:spPr>
          <a:xfrm>
            <a:off x="548640" y="3657600"/>
            <a:ext cx="10607040" cy="365760"/>
          </a:xfrm>
          <a:prstGeom prst="rect">
            <a:avLst/>
          </a:prstGeom>
          <a:noFill/>
          <a:ln/>
        </p:spPr>
        <p:txBody>
          <a:bodyPr wrap="square" lIns="0" tIns="0" rIns="0" bIns="0" rtlCol="0" anchor="ctr"/>
          <a:lstStyle/>
          <a:p>
            <a:pPr marL="0" indent="0">
              <a:buNone/>
            </a:pPr>
            <a:r>
              <a:rPr lang="en-US" sz="1150" i="1" dirty="0">
                <a:solidFill>
                  <a:srgbClr val="6B7A8D"/>
                </a:solidFill>
                <a:latin typeface="Times New Roman" panose="02020603050405020304" pitchFamily="18" charset="0"/>
                <a:ea typeface="Calibri" pitchFamily="34" charset="-122"/>
                <a:cs typeface="Times New Roman" panose="02020603050405020304" pitchFamily="18" charset="0"/>
              </a:rPr>
              <a:t>Binary modeling target: Suspicious and Fraudulent/Scam are combined into a single Fraud-risk positive class.</a:t>
            </a:r>
            <a:endParaRPr lang="en-US" sz="115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0607040" cy="2286000"/>
        </p:xfrm>
        <a:graphic>
          <a:graphicData uri="http://schemas.openxmlformats.org/drawingml/2006/table">
            <a:tbl>
              <a:tblPr/>
              <a:tblGrid>
                <a:gridCol w="210312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 group</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title + description + requirements → TF-IDF, 1–2 n-grams, 50K-word vocabulary</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Structured</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company, location, industry, work type, salary range, experience level, qualification</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Engineered</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text lengths, word counts, URL/email/phone counts, uppercase-word count, missing-field flags</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Label</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is_fraud (0/1/2 source scheme) → binary Fraud-risk target for modeling</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640080" y="1234440"/>
            <a:ext cx="3840480" cy="1143000"/>
          </a:xfrm>
          <a:prstGeom prst="rect">
            <a:avLst/>
          </a:prstGeom>
          <a:noFill/>
        </p:spPr>
        <p:txBody>
          <a:bodyPr wrap="square">
            <a:spAutoFit/>
          </a:bodyPr>
          <a:lstStyle/>
          <a:p>
            <a:pPr>
              <a:defRPr sz="1700" b="0"/>
            </a:pPr>
            <a:r>
              <a:t>What it shows</a:t>
            </a:r>
            <a:br/>
            <a:r>
              <a:t>• Legitimate: 39,219</a:t>
            </a:r>
            <a:br/>
            <a:r>
              <a:t>• Fraud Risk: 17,931</a:t>
            </a:r>
            <a:br/>
            <a:r>
              <a:t>• Fraud Risk combines Suspicious + Fraudulent</a:t>
            </a:r>
            <a:br/>
            <a:r>
              <a:t>• The labeled data remains imbalanced</a:t>
            </a:r>
          </a:p>
        </p:txBody>
      </p:sp>
      <p:pic>
        <p:nvPicPr>
          <p:cNvPr id="3" name="Picture 2" descr="binary_class_distribution.png"/>
          <p:cNvPicPr>
            <a:picLocks noChangeAspect="1"/>
          </p:cNvPicPr>
          <p:nvPr/>
        </p:nvPicPr>
        <p:blipFill>
          <a:blip r:embed="rId3"/>
          <a:stretch>
            <a:fillRect/>
          </a:stretch>
        </p:blipFill>
        <p:spPr>
          <a:xfrm>
            <a:off x="4572000" y="292100"/>
            <a:ext cx="6949440" cy="47214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640080" y="1234440"/>
            <a:ext cx="3749039" cy="1554480"/>
          </a:xfrm>
          <a:prstGeom prst="rect">
            <a:avLst/>
          </a:prstGeom>
          <a:noFill/>
        </p:spPr>
        <p:txBody>
          <a:bodyPr wrap="square">
            <a:spAutoFit/>
          </a:bodyPr>
          <a:lstStyle/>
          <a:p>
            <a:pPr>
              <a:defRPr sz="1600" b="0"/>
            </a:pPr>
            <a:r>
              <a:t>What it shows</a:t>
            </a:r>
            <a:br/>
            <a:r>
              <a:t>• Legitimate postings had a longer average description</a:t>
            </a:r>
            <a:br/>
            <a:r>
              <a:t>• Fraud Risk postings had shorter average descriptions</a:t>
            </a:r>
            <a:br/>
            <a:r>
              <a:t>• This is a dataset pattern, not a universal fraud rule</a:t>
            </a:r>
            <a:br/>
            <a:r>
              <a:t>• Description length was retained as an engineered feature</a:t>
            </a:r>
          </a:p>
        </p:txBody>
      </p:sp>
      <p:pic>
        <p:nvPicPr>
          <p:cNvPr id="3" name="Picture 2" descr="binary_description_length.png"/>
          <p:cNvPicPr>
            <a:picLocks noChangeAspect="1"/>
          </p:cNvPicPr>
          <p:nvPr/>
        </p:nvPicPr>
        <p:blipFill>
          <a:blip r:embed="rId3"/>
          <a:stretch>
            <a:fillRect/>
          </a:stretch>
        </p:blipFill>
        <p:spPr>
          <a:xfrm>
            <a:off x="4545333" y="1132840"/>
            <a:ext cx="7124700" cy="47726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987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Methodology &amp; Evaluation Design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541780"/>
            <a:ext cx="2388870" cy="1737360"/>
          </a:xfrm>
          <a:prstGeom prst="roundRect">
            <a:avLst>
              <a:gd name="adj" fmla="val 4211"/>
            </a:avLst>
          </a:prstGeom>
          <a:solidFill>
            <a:srgbClr val="FFFFFF"/>
          </a:solidFill>
          <a:ln w="12700">
            <a:solidFill>
              <a:srgbClr val="E1E6ED"/>
            </a:solidFill>
            <a:prstDash val="solid"/>
          </a:ln>
        </p:spPr>
      </p:sp>
      <p:sp>
        <p:nvSpPr>
          <p:cNvPr id="4" name="Shape 2"/>
          <p:cNvSpPr/>
          <p:nvPr/>
        </p:nvSpPr>
        <p:spPr>
          <a:xfrm>
            <a:off x="1468755" y="1678940"/>
            <a:ext cx="548640" cy="548640"/>
          </a:xfrm>
          <a:prstGeom prst="ellipse">
            <a:avLst/>
          </a:prstGeom>
          <a:solidFill>
            <a:srgbClr val="4A6FA5"/>
          </a:solidFill>
          <a:ln/>
        </p:spPr>
      </p:sp>
      <p:pic>
        <p:nvPicPr>
          <p:cNvPr id="5" name="Image 0" descr="preencoded.png"/>
          <p:cNvPicPr>
            <a:picLocks noChangeAspect="1"/>
          </p:cNvPicPr>
          <p:nvPr/>
        </p:nvPicPr>
        <p:blipFill>
          <a:blip r:embed="rId3"/>
          <a:stretch>
            <a:fillRect/>
          </a:stretch>
        </p:blipFill>
        <p:spPr>
          <a:xfrm>
            <a:off x="1596771" y="1806956"/>
            <a:ext cx="292608" cy="292608"/>
          </a:xfrm>
          <a:prstGeom prst="rect">
            <a:avLst/>
          </a:prstGeom>
        </p:spPr>
      </p:pic>
      <p:sp>
        <p:nvSpPr>
          <p:cNvPr id="6" name="Text 3"/>
          <p:cNvSpPr txBox="1"/>
          <p:nvPr/>
        </p:nvSpPr>
        <p:spPr>
          <a:xfrm>
            <a:off x="65836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Isolate Holdout</a:t>
            </a:r>
            <a:endParaRPr lang="en-US" sz="1150" dirty="0">
              <a:latin typeface="Times New Roman" panose="02020603050405020304" pitchFamily="18" charset="0"/>
              <a:cs typeface="Times New Roman" panose="02020603050405020304" pitchFamily="18" charset="0"/>
            </a:endParaRPr>
          </a:p>
        </p:txBody>
      </p:sp>
      <p:sp>
        <p:nvSpPr>
          <p:cNvPr id="7" name="Text 4"/>
          <p:cNvSpPr txBox="1"/>
          <p:nvPr/>
        </p:nvSpPr>
        <p:spPr>
          <a:xfrm>
            <a:off x="65836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20% of real EMSCAD records set aside untouched</a:t>
            </a:r>
            <a:endParaRPr lang="en-US" sz="950" dirty="0">
              <a:latin typeface="Times New Roman" panose="02020603050405020304" pitchFamily="18" charset="0"/>
              <a:cs typeface="Times New Roman" panose="02020603050405020304" pitchFamily="18" charset="0"/>
            </a:endParaRPr>
          </a:p>
        </p:txBody>
      </p:sp>
      <p:sp>
        <p:nvSpPr>
          <p:cNvPr id="8" name="Text 5"/>
          <p:cNvSpPr txBox="1"/>
          <p:nvPr/>
        </p:nvSpPr>
        <p:spPr>
          <a:xfrm>
            <a:off x="2937510" y="154178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9" name="Shape 6"/>
          <p:cNvSpPr/>
          <p:nvPr/>
        </p:nvSpPr>
        <p:spPr>
          <a:xfrm>
            <a:off x="3440430" y="1541780"/>
            <a:ext cx="2388870" cy="1737360"/>
          </a:xfrm>
          <a:prstGeom prst="roundRect">
            <a:avLst>
              <a:gd name="adj" fmla="val 4211"/>
            </a:avLst>
          </a:prstGeom>
          <a:solidFill>
            <a:srgbClr val="FFFFFF"/>
          </a:solidFill>
          <a:ln w="12700">
            <a:solidFill>
              <a:srgbClr val="E1E6ED"/>
            </a:solidFill>
            <a:prstDash val="solid"/>
          </a:ln>
        </p:spPr>
      </p:sp>
      <p:sp>
        <p:nvSpPr>
          <p:cNvPr id="10" name="Shape 7"/>
          <p:cNvSpPr/>
          <p:nvPr/>
        </p:nvSpPr>
        <p:spPr>
          <a:xfrm>
            <a:off x="4360545" y="1678940"/>
            <a:ext cx="548640" cy="548640"/>
          </a:xfrm>
          <a:prstGeom prst="ellipse">
            <a:avLst/>
          </a:prstGeom>
          <a:solidFill>
            <a:srgbClr val="4A6FA5"/>
          </a:solidFill>
          <a:ln/>
        </p:spPr>
      </p:sp>
      <p:pic>
        <p:nvPicPr>
          <p:cNvPr id="11" name="Image 1" descr="preencoded.png"/>
          <p:cNvPicPr>
            <a:picLocks noChangeAspect="1"/>
          </p:cNvPicPr>
          <p:nvPr/>
        </p:nvPicPr>
        <p:blipFill>
          <a:blip r:embed="rId4"/>
          <a:stretch>
            <a:fillRect/>
          </a:stretch>
        </p:blipFill>
        <p:spPr>
          <a:xfrm>
            <a:off x="4488561" y="1806956"/>
            <a:ext cx="292608" cy="292608"/>
          </a:xfrm>
          <a:prstGeom prst="rect">
            <a:avLst/>
          </a:prstGeom>
        </p:spPr>
      </p:pic>
      <p:sp>
        <p:nvSpPr>
          <p:cNvPr id="12" name="Text 8"/>
          <p:cNvSpPr txBox="1"/>
          <p:nvPr/>
        </p:nvSpPr>
        <p:spPr>
          <a:xfrm>
            <a:off x="355015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Train/Validation Pool</a:t>
            </a:r>
            <a:endParaRPr lang="en-US" sz="1150" dirty="0">
              <a:latin typeface="Times New Roman" panose="02020603050405020304" pitchFamily="18" charset="0"/>
              <a:cs typeface="Times New Roman" panose="02020603050405020304" pitchFamily="18" charset="0"/>
            </a:endParaRPr>
          </a:p>
        </p:txBody>
      </p:sp>
      <p:sp>
        <p:nvSpPr>
          <p:cNvPr id="13" name="Text 9"/>
          <p:cNvSpPr txBox="1"/>
          <p:nvPr/>
        </p:nvSpPr>
        <p:spPr>
          <a:xfrm>
            <a:off x="355015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Remaining EMSCAD + synthetic labels: 53,666 records</a:t>
            </a:r>
            <a:endParaRPr lang="en-US" sz="950" dirty="0">
              <a:latin typeface="Times New Roman" panose="02020603050405020304" pitchFamily="18" charset="0"/>
              <a:cs typeface="Times New Roman" panose="02020603050405020304" pitchFamily="18" charset="0"/>
            </a:endParaRPr>
          </a:p>
        </p:txBody>
      </p:sp>
      <p:sp>
        <p:nvSpPr>
          <p:cNvPr id="14" name="Text 10"/>
          <p:cNvSpPr txBox="1"/>
          <p:nvPr/>
        </p:nvSpPr>
        <p:spPr>
          <a:xfrm>
            <a:off x="5829300" y="154178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15" name="Shape 11"/>
          <p:cNvSpPr/>
          <p:nvPr/>
        </p:nvSpPr>
        <p:spPr>
          <a:xfrm>
            <a:off x="6332220" y="1541780"/>
            <a:ext cx="2388870" cy="1737360"/>
          </a:xfrm>
          <a:prstGeom prst="roundRect">
            <a:avLst>
              <a:gd name="adj" fmla="val 4211"/>
            </a:avLst>
          </a:prstGeom>
          <a:solidFill>
            <a:srgbClr val="FFFFFF"/>
          </a:solidFill>
          <a:ln w="12700">
            <a:solidFill>
              <a:srgbClr val="E1E6ED"/>
            </a:solidFill>
            <a:prstDash val="solid"/>
          </a:ln>
        </p:spPr>
      </p:sp>
      <p:sp>
        <p:nvSpPr>
          <p:cNvPr id="16" name="Shape 12"/>
          <p:cNvSpPr/>
          <p:nvPr/>
        </p:nvSpPr>
        <p:spPr>
          <a:xfrm>
            <a:off x="7252335" y="1678940"/>
            <a:ext cx="548640" cy="548640"/>
          </a:xfrm>
          <a:prstGeom prst="ellipse">
            <a:avLst/>
          </a:prstGeom>
          <a:solidFill>
            <a:srgbClr val="4A6FA5"/>
          </a:solidFill>
          <a:ln/>
        </p:spPr>
      </p:sp>
      <p:pic>
        <p:nvPicPr>
          <p:cNvPr id="17" name="Image 2" descr="preencoded.png"/>
          <p:cNvPicPr>
            <a:picLocks noChangeAspect="1"/>
          </p:cNvPicPr>
          <p:nvPr/>
        </p:nvPicPr>
        <p:blipFill>
          <a:blip r:embed="rId5"/>
          <a:stretch>
            <a:fillRect/>
          </a:stretch>
        </p:blipFill>
        <p:spPr>
          <a:xfrm>
            <a:off x="7380351" y="1806956"/>
            <a:ext cx="292608" cy="292608"/>
          </a:xfrm>
          <a:prstGeom prst="rect">
            <a:avLst/>
          </a:prstGeom>
        </p:spPr>
      </p:pic>
      <p:sp>
        <p:nvSpPr>
          <p:cNvPr id="18" name="Text 13"/>
          <p:cNvSpPr txBox="1"/>
          <p:nvPr/>
        </p:nvSpPr>
        <p:spPr>
          <a:xfrm>
            <a:off x="644194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Tune Models</a:t>
            </a:r>
            <a:endParaRPr lang="en-US" sz="1150" dirty="0">
              <a:latin typeface="Times New Roman" panose="02020603050405020304" pitchFamily="18" charset="0"/>
              <a:cs typeface="Times New Roman" panose="02020603050405020304" pitchFamily="18" charset="0"/>
            </a:endParaRPr>
          </a:p>
        </p:txBody>
      </p:sp>
      <p:sp>
        <p:nvSpPr>
          <p:cNvPr id="19" name="Text 14"/>
          <p:cNvSpPr txBox="1"/>
          <p:nvPr/>
        </p:nvSpPr>
        <p:spPr>
          <a:xfrm>
            <a:off x="644194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TF-IDF + engineered features; GridSearchCV, 5-fold, average precision</a:t>
            </a:r>
            <a:endParaRPr lang="en-US" sz="950" dirty="0">
              <a:latin typeface="Times New Roman" panose="02020603050405020304" pitchFamily="18" charset="0"/>
              <a:cs typeface="Times New Roman" panose="02020603050405020304" pitchFamily="18" charset="0"/>
            </a:endParaRPr>
          </a:p>
        </p:txBody>
      </p:sp>
      <p:sp>
        <p:nvSpPr>
          <p:cNvPr id="20" name="Text 15"/>
          <p:cNvSpPr txBox="1"/>
          <p:nvPr/>
        </p:nvSpPr>
        <p:spPr>
          <a:xfrm>
            <a:off x="8721090" y="154178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21" name="Shape 16"/>
          <p:cNvSpPr/>
          <p:nvPr/>
        </p:nvSpPr>
        <p:spPr>
          <a:xfrm>
            <a:off x="9224010" y="1541780"/>
            <a:ext cx="2388870" cy="1737360"/>
          </a:xfrm>
          <a:prstGeom prst="roundRect">
            <a:avLst>
              <a:gd name="adj" fmla="val 4211"/>
            </a:avLst>
          </a:prstGeom>
          <a:solidFill>
            <a:srgbClr val="FFFFFF"/>
          </a:solidFill>
          <a:ln w="12700">
            <a:solidFill>
              <a:srgbClr val="E1E6ED"/>
            </a:solidFill>
            <a:prstDash val="solid"/>
          </a:ln>
        </p:spPr>
      </p:sp>
      <p:sp>
        <p:nvSpPr>
          <p:cNvPr id="22" name="Shape 17"/>
          <p:cNvSpPr/>
          <p:nvPr/>
        </p:nvSpPr>
        <p:spPr>
          <a:xfrm>
            <a:off x="10144125" y="1678940"/>
            <a:ext cx="548640" cy="548640"/>
          </a:xfrm>
          <a:prstGeom prst="ellipse">
            <a:avLst/>
          </a:prstGeom>
          <a:solidFill>
            <a:srgbClr val="4A6FA5"/>
          </a:solidFill>
          <a:ln/>
        </p:spPr>
      </p:sp>
      <p:pic>
        <p:nvPicPr>
          <p:cNvPr id="23" name="Image 3" descr="preencoded.png"/>
          <p:cNvPicPr>
            <a:picLocks noChangeAspect="1"/>
          </p:cNvPicPr>
          <p:nvPr/>
        </p:nvPicPr>
        <p:blipFill>
          <a:blip r:embed="rId6"/>
          <a:stretch>
            <a:fillRect/>
          </a:stretch>
        </p:blipFill>
        <p:spPr>
          <a:xfrm>
            <a:off x="10272141" y="1806956"/>
            <a:ext cx="292608" cy="292608"/>
          </a:xfrm>
          <a:prstGeom prst="rect">
            <a:avLst/>
          </a:prstGeom>
        </p:spPr>
      </p:pic>
      <p:sp>
        <p:nvSpPr>
          <p:cNvPr id="24" name="Text 18"/>
          <p:cNvSpPr txBox="1"/>
          <p:nvPr/>
        </p:nvSpPr>
        <p:spPr>
          <a:xfrm>
            <a:off x="933373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Threshold &amp; Holdout Eval</a:t>
            </a:r>
            <a:endParaRPr lang="en-US" sz="1150" dirty="0">
              <a:latin typeface="Times New Roman" panose="02020603050405020304" pitchFamily="18" charset="0"/>
              <a:cs typeface="Times New Roman" panose="02020603050405020304" pitchFamily="18" charset="0"/>
            </a:endParaRPr>
          </a:p>
        </p:txBody>
      </p:sp>
      <p:sp>
        <p:nvSpPr>
          <p:cNvPr id="25" name="Text 19"/>
          <p:cNvSpPr txBox="1"/>
          <p:nvPr/>
        </p:nvSpPr>
        <p:spPr>
          <a:xfrm>
            <a:off x="933373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Validation threshold selection, then one-time holdout evaluation</a:t>
            </a:r>
            <a:endParaRPr lang="en-US" sz="950" dirty="0">
              <a:latin typeface="Times New Roman" panose="02020603050405020304" pitchFamily="18" charset="0"/>
              <a:cs typeface="Times New Roman" panose="02020603050405020304" pitchFamily="18" charset="0"/>
            </a:endParaRPr>
          </a:p>
        </p:txBody>
      </p:sp>
      <p:sp>
        <p:nvSpPr>
          <p:cNvPr id="26" name="Text 20"/>
          <p:cNvSpPr txBox="1"/>
          <p:nvPr/>
        </p:nvSpPr>
        <p:spPr>
          <a:xfrm>
            <a:off x="548640" y="3553460"/>
            <a:ext cx="10515600" cy="2011680"/>
          </a:xfrm>
          <a:prstGeom prst="rect">
            <a:avLst/>
          </a:prstGeom>
          <a:noFill/>
          <a:ln/>
        </p:spPr>
        <p:txBody>
          <a:bodyPr wrap="square" lIns="0" tIns="0" rIns="0" bIns="0" rtlCol="0" anchor="t"/>
          <a:lstStyle/>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Baseline: Logistic Regression on TF-IDF text only  •  Hybrid candidates: Logistic Regression and LinearSVC on TF-IDF + structured features</a:t>
            </a:r>
            <a:endParaRPr lang="en-US" sz="130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Class imbalance handled with class_weight="balanced"; tuning optimizes average precision (PR-AUC) via 5-fold GridSearchCV</a:t>
            </a:r>
            <a:endParaRPr lang="en-US" sz="130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Training split: 42,932 records  •  Validation split: 10,734 records  •  Real holdout: 3,484 records (kept fully separate)</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94488"/>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Modeling Insight — Threshold Selection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1109472"/>
            <a:ext cx="6400800" cy="3651120"/>
          </a:xfrm>
          <a:prstGeom prst="roundRect">
            <a:avLst>
              <a:gd name="adj" fmla="val 2004"/>
            </a:avLst>
          </a:prstGeom>
          <a:solidFill>
            <a:srgbClr val="FFFFFF"/>
          </a:solidFill>
          <a:ln w="12700">
            <a:solidFill>
              <a:srgbClr val="E1E6ED"/>
            </a:solidFill>
            <a:prstDash val="solid"/>
          </a:ln>
        </p:spPr>
      </p:sp>
      <p:pic>
        <p:nvPicPr>
          <p:cNvPr id="4" name="Image 0" descr="model1_threshold.png"/>
          <p:cNvPicPr>
            <a:picLocks noChangeAspect="1"/>
          </p:cNvPicPr>
          <p:nvPr/>
        </p:nvPicPr>
        <p:blipFill>
          <a:blip r:embed="rId3"/>
          <a:stretch>
            <a:fillRect/>
          </a:stretch>
        </p:blipFill>
        <p:spPr>
          <a:xfrm>
            <a:off x="548640" y="1292352"/>
            <a:ext cx="6126480" cy="3376800"/>
          </a:xfrm>
          <a:prstGeom prst="rect">
            <a:avLst/>
          </a:prstGeom>
        </p:spPr>
      </p:pic>
      <p:sp>
        <p:nvSpPr>
          <p:cNvPr id="5" name="Shape 2"/>
          <p:cNvSpPr/>
          <p:nvPr/>
        </p:nvSpPr>
        <p:spPr>
          <a:xfrm>
            <a:off x="7040880" y="1155192"/>
            <a:ext cx="4572000" cy="3651120"/>
          </a:xfrm>
          <a:prstGeom prst="roundRect">
            <a:avLst>
              <a:gd name="adj" fmla="val 2504"/>
            </a:avLst>
          </a:prstGeom>
          <a:solidFill>
            <a:srgbClr val="1B2A4A"/>
          </a:solidFill>
          <a:ln/>
        </p:spPr>
      </p:sp>
      <p:sp>
        <p:nvSpPr>
          <p:cNvPr id="6" name="Text 3"/>
          <p:cNvSpPr txBox="1"/>
          <p:nvPr/>
        </p:nvSpPr>
        <p:spPr>
          <a:xfrm>
            <a:off x="7269480" y="1109472"/>
            <a:ext cx="4114800" cy="365760"/>
          </a:xfrm>
          <a:prstGeom prst="rect">
            <a:avLst/>
          </a:prstGeom>
          <a:noFill/>
          <a:ln/>
        </p:spPr>
        <p:txBody>
          <a:bodyPr wrap="square" lIns="0" tIns="0" rIns="0" bIns="0" rtlCol="0" anchor="ctr"/>
          <a:lstStyle/>
          <a:p>
            <a:pPr marL="0" indent="0">
              <a:buNone/>
            </a:pPr>
            <a:r>
              <a:rPr lang="en-US" sz="1350" b="1" dirty="0">
                <a:solidFill>
                  <a:srgbClr val="CADCFC"/>
                </a:solidFill>
                <a:latin typeface="Times New Roman" panose="02020603050405020304" pitchFamily="18" charset="0"/>
                <a:ea typeface="Calibri" pitchFamily="34" charset="-122"/>
                <a:cs typeface="Times New Roman" panose="02020603050405020304" pitchFamily="18" charset="0"/>
              </a:rPr>
              <a:t>What it shows</a:t>
            </a:r>
            <a:endParaRPr lang="en-US" sz="1350" dirty="0">
              <a:latin typeface="Times New Roman" panose="02020603050405020304" pitchFamily="18" charset="0"/>
              <a:cs typeface="Times New Roman" panose="02020603050405020304" pitchFamily="18" charset="0"/>
            </a:endParaRPr>
          </a:p>
        </p:txBody>
      </p:sp>
      <p:sp>
        <p:nvSpPr>
          <p:cNvPr id="7" name="Text 4"/>
          <p:cNvSpPr txBox="1"/>
          <p:nvPr/>
        </p:nvSpPr>
        <p:spPr>
          <a:xfrm>
            <a:off x="7269480" y="1539240"/>
            <a:ext cx="4114800" cy="2691000"/>
          </a:xfrm>
          <a:prstGeom prst="rect">
            <a:avLst/>
          </a:prstGeom>
          <a:noFill/>
          <a:ln/>
        </p:spPr>
        <p:txBody>
          <a:bodyPr wrap="square" lIns="0" tIns="0" rIns="0" bIns="0" rtlCol="0" anchor="t"/>
          <a:lstStyle/>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Threshold candidates were evaluated on validation data only</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0.6047 maximized validation F1 (0.9913)</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The real holdout was not used to choose this threshold</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Not claimed to be a universal or permanently optimal threshold</a:t>
            </a:r>
            <a:endParaRPr lang="en-US" sz="1150" dirty="0">
              <a:latin typeface="Times New Roman" panose="02020603050405020304" pitchFamily="18" charset="0"/>
              <a:cs typeface="Times New Roman" panose="02020603050405020304" pitchFamily="18" charset="0"/>
            </a:endParaRPr>
          </a:p>
        </p:txBody>
      </p:sp>
      <p:sp>
        <p:nvSpPr>
          <p:cNvPr id="8" name="Text 5"/>
          <p:cNvSpPr txBox="1"/>
          <p:nvPr/>
        </p:nvSpPr>
        <p:spPr>
          <a:xfrm>
            <a:off x="548640" y="5900928"/>
            <a:ext cx="11064240" cy="274320"/>
          </a:xfrm>
          <a:prstGeom prst="rect">
            <a:avLst/>
          </a:prstGeom>
          <a:noFill/>
          <a:ln/>
        </p:spPr>
        <p:txBody>
          <a:bodyPr wrap="square" lIns="0" tIns="0" rIns="0" bIns="0" rtlCol="0" anchor="ctr"/>
          <a:lstStyle/>
          <a:p>
            <a:pPr marL="0" indent="0">
              <a:buNone/>
            </a:pPr>
            <a:r>
              <a:rPr lang="en-US" sz="950" i="1" dirty="0">
                <a:solidFill>
                  <a:srgbClr val="6B7A8D"/>
                </a:solidFill>
                <a:latin typeface="Times New Roman" panose="02020603050405020304" pitchFamily="18" charset="0"/>
                <a:ea typeface="Calibri" pitchFamily="34" charset="-122"/>
                <a:cs typeface="Times New Roman" panose="02020603050405020304" pitchFamily="18" charset="0"/>
              </a:rPr>
              <a:t>Source/data note: notebook threshold-sweep output (validation set).</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Modeling Insight — Explainable Fraud-Risk Signals</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1371600"/>
            <a:ext cx="6400800" cy="4344842"/>
          </a:xfrm>
          <a:prstGeom prst="roundRect">
            <a:avLst>
              <a:gd name="adj" fmla="val 1684"/>
            </a:avLst>
          </a:prstGeom>
          <a:solidFill>
            <a:srgbClr val="FFFFFF"/>
          </a:solidFill>
          <a:ln w="12700">
            <a:solidFill>
              <a:srgbClr val="E1E6ED"/>
            </a:solidFill>
            <a:prstDash val="solid"/>
          </a:ln>
        </p:spPr>
      </p:sp>
      <p:pic>
        <p:nvPicPr>
          <p:cNvPr id="4" name="Image 0" descr="model2_features.png"/>
          <p:cNvPicPr>
            <a:picLocks noChangeAspect="1"/>
          </p:cNvPicPr>
          <p:nvPr/>
        </p:nvPicPr>
        <p:blipFill>
          <a:blip r:embed="rId3"/>
          <a:stretch>
            <a:fillRect/>
          </a:stretch>
        </p:blipFill>
        <p:spPr>
          <a:xfrm>
            <a:off x="548640" y="1508760"/>
            <a:ext cx="6126480" cy="4070522"/>
          </a:xfrm>
          <a:prstGeom prst="rect">
            <a:avLst/>
          </a:prstGeom>
        </p:spPr>
      </p:pic>
      <p:sp>
        <p:nvSpPr>
          <p:cNvPr id="5" name="Shape 2"/>
          <p:cNvSpPr/>
          <p:nvPr/>
        </p:nvSpPr>
        <p:spPr>
          <a:xfrm>
            <a:off x="7040880" y="1508760"/>
            <a:ext cx="4572000" cy="4344842"/>
          </a:xfrm>
          <a:prstGeom prst="roundRect">
            <a:avLst>
              <a:gd name="adj" fmla="val 2105"/>
            </a:avLst>
          </a:prstGeom>
          <a:solidFill>
            <a:srgbClr val="1B2A4A"/>
          </a:solidFill>
          <a:ln/>
        </p:spPr>
      </p:sp>
      <p:sp>
        <p:nvSpPr>
          <p:cNvPr id="6" name="Text 3"/>
          <p:cNvSpPr txBox="1"/>
          <p:nvPr/>
        </p:nvSpPr>
        <p:spPr>
          <a:xfrm>
            <a:off x="7269480" y="1719072"/>
            <a:ext cx="4114800" cy="365760"/>
          </a:xfrm>
          <a:prstGeom prst="rect">
            <a:avLst/>
          </a:prstGeom>
          <a:noFill/>
          <a:ln/>
        </p:spPr>
        <p:txBody>
          <a:bodyPr wrap="square" lIns="0" tIns="0" rIns="0" bIns="0" rtlCol="0" anchor="ctr"/>
          <a:lstStyle/>
          <a:p>
            <a:pPr marL="0" indent="0">
              <a:buNone/>
            </a:pPr>
            <a:r>
              <a:rPr lang="en-US" sz="1350" b="1" dirty="0">
                <a:solidFill>
                  <a:srgbClr val="CADCFC"/>
                </a:solidFill>
                <a:latin typeface="Times New Roman" panose="02020603050405020304" pitchFamily="18" charset="0"/>
                <a:ea typeface="Calibri" pitchFamily="34" charset="-122"/>
                <a:cs typeface="Times New Roman" panose="02020603050405020304" pitchFamily="18" charset="0"/>
              </a:rPr>
              <a:t>What it shows</a:t>
            </a:r>
            <a:endParaRPr lang="en-US" sz="1350" dirty="0">
              <a:latin typeface="Times New Roman" panose="02020603050405020304" pitchFamily="18" charset="0"/>
              <a:cs typeface="Times New Roman" panose="02020603050405020304" pitchFamily="18" charset="0"/>
            </a:endParaRPr>
          </a:p>
        </p:txBody>
      </p:sp>
      <p:sp>
        <p:nvSpPr>
          <p:cNvPr id="7" name="Text 4"/>
          <p:cNvSpPr txBox="1"/>
          <p:nvPr/>
        </p:nvSpPr>
        <p:spPr>
          <a:xfrm>
            <a:off x="7269480" y="2148840"/>
            <a:ext cx="4114800" cy="3384722"/>
          </a:xfrm>
          <a:prstGeom prst="rect">
            <a:avLst/>
          </a:prstGeom>
          <a:noFill/>
          <a:ln/>
        </p:spPr>
        <p:txBody>
          <a:bodyPr wrap="square" lIns="0" tIns="0" rIns="0" bIns="0" rtlCol="0" anchor="t"/>
          <a:lstStyle/>
          <a:p>
            <a:pPr marL="342900" indent="-342900" algn="l">
              <a:lnSpc>
                <a:spcPct val="112000"/>
              </a:lnSpc>
              <a:spcAft>
                <a:spcPts val="600"/>
              </a:spcAft>
              <a:buSzPct val="100000"/>
              <a:buChar char="●"/>
            </a:pPr>
            <a:r>
              <a:rPr sz="1450">
                <a:latin typeface="Times New Roman" panose="02020603050405020304" pitchFamily="18" charset="0"/>
                <a:cs typeface="Times New Roman" panose="02020603050405020304" pitchFamily="18" charset="0"/>
              </a:rPr>
              <a:t>Strongest positive coefficients include meaningful terms such as "fee", "money", "whatsapp", and "confirm role"</a:t>
            </a:r>
            <a:endParaRPr lang="en-US" sz="1150" dirty="0">
              <a:latin typeface="Times New Roman" panose="02020603050405020304" pitchFamily="18" charset="0"/>
              <a:cs typeface="Times New Roman" panose="02020603050405020304" pitchFamily="18" charset="0"/>
            </a:endParaRPr>
          </a:p>
          <a:p>
            <a:pPr>
              <a:spcAft>
                <a:spcPts val="600"/>
              </a:spcAft>
            </a:pPr>
            <a:r>
              <a:rPr sz="1450">
                <a:latin typeface="Times New Roman" panose="02020603050405020304" pitchFamily="18" charset="0"/>
                <a:cs typeface="Times New Roman" panose="02020603050405020304" pitchFamily="18" charset="0"/>
              </a:rPr>
              <a:t>Some other high-weight terms are synthetic generator fragments (e.g. "group looking", "weather", and "shared confirm") rather than validated scam language</a:t>
            </a:r>
          </a:p>
          <a:p>
            <a:pPr>
              <a:spcAft>
                <a:spcPts val="600"/>
              </a:spcAft>
            </a:pPr>
            <a:r>
              <a:rPr sz="1450">
                <a:latin typeface="Times New Roman" panose="02020603050405020304" pitchFamily="18" charset="0"/>
                <a:cs typeface="Times New Roman" panose="02020603050405020304" pitchFamily="18" charset="0"/>
              </a:rPr>
              <a:t>These are dataset-specific associations, not universal or causal fraud rules; they support human review, not replace it</a:t>
            </a:r>
          </a:p>
          <a:p>
            <a:pPr>
              <a:spcAft>
                <a:spcPts val="600"/>
              </a:spcAft>
            </a:pPr>
            <a:r>
              <a:rPr sz="1450">
                <a:latin typeface="Times New Roman" panose="02020603050405020304" pitchFamily="18" charset="0"/>
                <a:cs typeface="Times New Roman" panose="02020603050405020304" pitchFamily="18" charset="0"/>
              </a:rPr>
              <a:t>The real EMSCAD holdout is the primary reference for reported model performance</a:t>
            </a:r>
          </a:p>
        </p:txBody>
      </p:sp>
      <p:sp>
        <p:nvSpPr>
          <p:cNvPr id="8" name="Text 5"/>
          <p:cNvSpPr txBox="1"/>
          <p:nvPr/>
        </p:nvSpPr>
        <p:spPr>
          <a:xfrm>
            <a:off x="548640" y="6510528"/>
            <a:ext cx="11064240" cy="274320"/>
          </a:xfrm>
          <a:prstGeom prst="rect">
            <a:avLst/>
          </a:prstGeom>
          <a:noFill/>
          <a:ln/>
        </p:spPr>
        <p:txBody>
          <a:bodyPr wrap="square" lIns="0" tIns="0" rIns="0" bIns="0" rtlCol="0" anchor="ctr"/>
          <a:lstStyle/>
          <a:p>
            <a:pPr marL="0" indent="0">
              <a:buNone/>
            </a:pPr>
            <a:r>
              <a:rPr lang="en-US" sz="950" i="1" dirty="0">
                <a:solidFill>
                  <a:srgbClr val="6B7A8D"/>
                </a:solidFill>
                <a:latin typeface="Times New Roman" panose="02020603050405020304" pitchFamily="18" charset="0"/>
                <a:ea typeface="Calibri" pitchFamily="34" charset="-122"/>
                <a:cs typeface="Times New Roman" panose="02020603050405020304" pitchFamily="18" charset="0"/>
              </a:rPr>
              <a:t>Source/data note: notebook Logistic Regression coefficient output.</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r>
              <a:rPr>
                <a:latin typeface="Times New Roman" panose="02020603050405020304" pitchFamily="18" charset="0"/>
                <a:cs typeface="Times New Roman" panose="02020603050405020304" pitchFamily="18" charset="0"/>
              </a:rPr>
              <a:t>Final Evaluation, Deployment &amp; Limitations</a:t>
            </a:r>
          </a:p>
        </p:txBody>
      </p:sp>
      <p:sp>
        <p:nvSpPr>
          <p:cNvPr id="3" name="Text 1"/>
          <p:cNvSpPr txBox="1"/>
          <p:nvPr/>
        </p:nvSpPr>
        <p:spPr>
          <a:xfrm>
            <a:off x="548640" y="1042416"/>
            <a:ext cx="10332720" cy="365760"/>
          </a:xfrm>
          <a:prstGeom prst="rect">
            <a:avLst/>
          </a:prstGeom>
          <a:noFill/>
          <a:ln/>
        </p:spPr>
        <p:txBody>
          <a:bodyPr wrap="square" lIns="0" tIns="0" rIns="0" bIns="0" rtlCol="0" anchor="ctr"/>
          <a:lstStyle/>
          <a:p>
            <a:r>
              <a:rPr>
                <a:latin typeface="Times New Roman" panose="02020603050405020304" pitchFamily="18" charset="0"/>
                <a:cs typeface="Times New Roman" panose="02020603050405020304" pitchFamily="18" charset="0"/>
              </a:rPr>
              <a:t>Real EMSCAD holdout — measured results (left) vs. current deployment status and remaining limitations (right)</a:t>
            </a:r>
          </a:p>
        </p:txBody>
      </p:sp>
      <p:sp>
        <p:nvSpPr>
          <p:cNvPr id="4" name="Shape 2"/>
          <p:cNvSpPr/>
          <p:nvPr/>
        </p:nvSpPr>
        <p:spPr>
          <a:xfrm>
            <a:off x="548640" y="1600200"/>
            <a:ext cx="5120640" cy="4572000"/>
          </a:xfrm>
          <a:prstGeom prst="roundRect">
            <a:avLst>
              <a:gd name="adj" fmla="val 2000"/>
            </a:avLst>
          </a:prstGeom>
          <a:solidFill>
            <a:srgbClr val="1B2A4A"/>
          </a:solidFill>
          <a:ln/>
        </p:spPr>
      </p:sp>
      <p:sp>
        <p:nvSpPr>
          <p:cNvPr id="5" name="Text 3"/>
          <p:cNvSpPr txBox="1"/>
          <p:nvPr/>
        </p:nvSpPr>
        <p:spPr>
          <a:xfrm>
            <a:off x="822960" y="1828800"/>
            <a:ext cx="4572000" cy="365760"/>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Measured Results</a:t>
            </a:r>
            <a:endParaRPr lang="en-US" sz="1500" dirty="0">
              <a:latin typeface="Times New Roman" panose="02020603050405020304" pitchFamily="18" charset="0"/>
              <a:cs typeface="Times New Roman" panose="02020603050405020304" pitchFamily="18" charset="0"/>
            </a:endParaRPr>
          </a:p>
        </p:txBody>
      </p:sp>
      <p:sp>
        <p:nvSpPr>
          <p:cNvPr id="6" name="Text 4"/>
          <p:cNvSpPr txBox="1"/>
          <p:nvPr/>
        </p:nvSpPr>
        <p:spPr>
          <a:xfrm>
            <a:off x="822960" y="2377440"/>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Fraud-risk precision</a:t>
            </a:r>
            <a:endParaRPr lang="en-US" sz="1200" dirty="0">
              <a:latin typeface="Times New Roman" panose="02020603050405020304" pitchFamily="18" charset="0"/>
              <a:cs typeface="Times New Roman" panose="02020603050405020304" pitchFamily="18" charset="0"/>
            </a:endParaRPr>
          </a:p>
        </p:txBody>
      </p:sp>
      <p:sp>
        <p:nvSpPr>
          <p:cNvPr id="7" name="Text 5"/>
          <p:cNvSpPr txBox="1"/>
          <p:nvPr/>
        </p:nvSpPr>
        <p:spPr>
          <a:xfrm>
            <a:off x="3566160" y="2377440"/>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99%</a:t>
            </a:r>
            <a:endParaRPr lang="en-US" sz="1300" dirty="0">
              <a:latin typeface="Times New Roman" panose="02020603050405020304" pitchFamily="18" charset="0"/>
              <a:cs typeface="Times New Roman" panose="02020603050405020304" pitchFamily="18" charset="0"/>
            </a:endParaRPr>
          </a:p>
        </p:txBody>
      </p:sp>
      <p:sp>
        <p:nvSpPr>
          <p:cNvPr id="8" name="Text 6"/>
          <p:cNvSpPr txBox="1"/>
          <p:nvPr/>
        </p:nvSpPr>
        <p:spPr>
          <a:xfrm>
            <a:off x="822960" y="2862072"/>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Fraud-risk recall</a:t>
            </a:r>
            <a:endParaRPr lang="en-US" sz="1200" dirty="0">
              <a:latin typeface="Times New Roman" panose="02020603050405020304" pitchFamily="18" charset="0"/>
              <a:cs typeface="Times New Roman" panose="02020603050405020304" pitchFamily="18" charset="0"/>
            </a:endParaRPr>
          </a:p>
        </p:txBody>
      </p:sp>
      <p:sp>
        <p:nvSpPr>
          <p:cNvPr id="9" name="Text 7"/>
          <p:cNvSpPr txBox="1"/>
          <p:nvPr/>
        </p:nvSpPr>
        <p:spPr>
          <a:xfrm>
            <a:off x="3566160" y="2862072"/>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92%</a:t>
            </a:r>
            <a:endParaRPr lang="en-US" sz="1300" dirty="0">
              <a:latin typeface="Times New Roman" panose="02020603050405020304" pitchFamily="18" charset="0"/>
              <a:cs typeface="Times New Roman" panose="02020603050405020304" pitchFamily="18" charset="0"/>
            </a:endParaRPr>
          </a:p>
        </p:txBody>
      </p:sp>
      <p:sp>
        <p:nvSpPr>
          <p:cNvPr id="10" name="Text 8"/>
          <p:cNvSpPr txBox="1"/>
          <p:nvPr/>
        </p:nvSpPr>
        <p:spPr>
          <a:xfrm>
            <a:off x="822960" y="3346704"/>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Fraud-risk F1</a:t>
            </a:r>
            <a:endParaRPr lang="en-US" sz="1200" dirty="0">
              <a:latin typeface="Times New Roman" panose="02020603050405020304" pitchFamily="18" charset="0"/>
              <a:cs typeface="Times New Roman" panose="02020603050405020304" pitchFamily="18" charset="0"/>
            </a:endParaRPr>
          </a:p>
        </p:txBody>
      </p:sp>
      <p:sp>
        <p:nvSpPr>
          <p:cNvPr id="11" name="Text 9"/>
          <p:cNvSpPr txBox="1"/>
          <p:nvPr/>
        </p:nvSpPr>
        <p:spPr>
          <a:xfrm>
            <a:off x="3566160" y="3346704"/>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96%</a:t>
            </a:r>
            <a:endParaRPr lang="en-US" sz="13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822960" y="3831336"/>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ROC-AUC</a:t>
            </a:r>
            <a:endParaRPr lang="en-US" sz="12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3566160" y="3831336"/>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0.9947</a:t>
            </a:r>
            <a:endParaRPr lang="en-US" sz="13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822960" y="4315968"/>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PR-AUC</a:t>
            </a:r>
            <a:endParaRPr lang="en-US" sz="1200" dirty="0">
              <a:latin typeface="Times New Roman" panose="02020603050405020304" pitchFamily="18" charset="0"/>
              <a:cs typeface="Times New Roman" panose="02020603050405020304" pitchFamily="18" charset="0"/>
            </a:endParaRPr>
          </a:p>
        </p:txBody>
      </p:sp>
      <p:sp>
        <p:nvSpPr>
          <p:cNvPr id="15" name="Text 13"/>
          <p:cNvSpPr txBox="1"/>
          <p:nvPr/>
        </p:nvSpPr>
        <p:spPr>
          <a:xfrm>
            <a:off x="3566160" y="4315968"/>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0.9768</a:t>
            </a:r>
            <a:endParaRPr lang="en-US" sz="13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822960" y="4800600"/>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False positives</a:t>
            </a:r>
            <a:endParaRPr lang="en-US" sz="12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3566160" y="4800600"/>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1 legitimate posting flagged</a:t>
            </a:r>
            <a:endParaRPr lang="en-US" sz="13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822960" y="5285232"/>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False negatives</a:t>
            </a:r>
            <a:endParaRPr lang="en-US" sz="1200" dirty="0">
              <a:latin typeface="Times New Roman" panose="02020603050405020304" pitchFamily="18" charset="0"/>
              <a:cs typeface="Times New Roman" panose="02020603050405020304" pitchFamily="18" charset="0"/>
            </a:endParaRPr>
          </a:p>
        </p:txBody>
      </p:sp>
      <p:sp>
        <p:nvSpPr>
          <p:cNvPr id="19" name="Text 17"/>
          <p:cNvSpPr txBox="1"/>
          <p:nvPr/>
        </p:nvSpPr>
        <p:spPr>
          <a:xfrm>
            <a:off x="3566160" y="5285232"/>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13 fraud-risk postings missed</a:t>
            </a:r>
            <a:endParaRPr lang="en-US" sz="1300" dirty="0">
              <a:latin typeface="Times New Roman" panose="02020603050405020304" pitchFamily="18" charset="0"/>
              <a:cs typeface="Times New Roman" panose="02020603050405020304" pitchFamily="18" charset="0"/>
            </a:endParaRPr>
          </a:p>
        </p:txBody>
      </p:sp>
      <p:sp>
        <p:nvSpPr>
          <p:cNvPr id="20" name="Shape 18"/>
          <p:cNvSpPr/>
          <p:nvPr/>
        </p:nvSpPr>
        <p:spPr>
          <a:xfrm>
            <a:off x="6035040" y="1600200"/>
            <a:ext cx="5577840" cy="4572000"/>
          </a:xfrm>
          <a:prstGeom prst="roundRect">
            <a:avLst>
              <a:gd name="adj" fmla="val 2000"/>
            </a:avLst>
          </a:prstGeom>
          <a:solidFill>
            <a:srgbClr val="FFFFFF"/>
          </a:solidFill>
          <a:ln w="19050">
            <a:solidFill>
              <a:srgbClr val="C0392B"/>
            </a:solidFill>
            <a:prstDash val="solid"/>
          </a:ln>
        </p:spPr>
      </p:sp>
      <p:sp>
        <p:nvSpPr>
          <p:cNvPr id="21" name="Text 19"/>
          <p:cNvSpPr txBox="1"/>
          <p:nvPr/>
        </p:nvSpPr>
        <p:spPr>
          <a:xfrm>
            <a:off x="6309360" y="1828800"/>
            <a:ext cx="5029200" cy="365760"/>
          </a:xfrm>
          <a:prstGeom prst="rect">
            <a:avLst/>
          </a:prstGeom>
          <a:noFill/>
          <a:ln/>
        </p:spPr>
        <p:txBody>
          <a:bodyPr wrap="square" lIns="0" tIns="0" rIns="0" bIns="0" rtlCol="0" anchor="ctr"/>
          <a:lstStyle/>
          <a:p>
            <a:r>
              <a:rPr>
                <a:latin typeface="Times New Roman" panose="02020603050405020304" pitchFamily="18" charset="0"/>
                <a:cs typeface="Times New Roman" panose="02020603050405020304" pitchFamily="18" charset="0"/>
              </a:rPr>
              <a:t>Deployment Status &amp; Limitations</a:t>
            </a:r>
          </a:p>
        </p:txBody>
      </p:sp>
      <p:sp>
        <p:nvSpPr>
          <p:cNvPr id="22" name="Text 20"/>
          <p:cNvSpPr txBox="1"/>
          <p:nvPr/>
        </p:nvSpPr>
        <p:spPr>
          <a:xfrm>
            <a:off x="6309360" y="2377440"/>
            <a:ext cx="5029200" cy="3657600"/>
          </a:xfrm>
          <a:prstGeom prst="rect">
            <a:avLst/>
          </a:prstGeom>
          <a:noFill/>
          <a:ln/>
        </p:spPr>
        <p:txBody>
          <a:bodyPr wrap="square" lIns="0" tIns="0" rIns="0" bIns="0" rtlCol="0" anchor="t"/>
          <a:lstStyle/>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Deployment is live: Vercel frontend + Render FastAPI backend</a:t>
            </a:r>
            <a:endParaRPr lang="en-US" sz="1250" dirty="0">
              <a:latin typeface="Times New Roman" panose="02020603050405020304" pitchFamily="18" charset="0"/>
              <a:cs typeface="Times New Roman" panose="02020603050405020304" pitchFamily="18" charset="0"/>
            </a:endParaRPr>
          </a:p>
          <a:p>
            <a:pPr>
              <a:spcAft>
                <a:spcPts val="600"/>
              </a:spcAft>
            </a:pPr>
            <a:r>
              <a:rPr sz="1420">
                <a:latin typeface="Times New Roman" panose="02020603050405020304" pitchFamily="18" charset="0"/>
                <a:cs typeface="Times New Roman" panose="02020603050405020304" pitchFamily="18" charset="0"/>
              </a:rPr>
              <a:t>Registry verification, blacklist checks, and fuzzy impersonation matching are implemented</a:t>
            </a:r>
          </a:p>
          <a:p>
            <a:pPr>
              <a:spcAft>
                <a:spcPts val="600"/>
              </a:spcAft>
            </a:pPr>
            <a:r>
              <a:rPr sz="1420">
                <a:latin typeface="Times New Roman" panose="02020603050405020304" pitchFamily="18" charset="0"/>
                <a:cs typeface="Times New Roman" panose="02020603050405020304" pitchFamily="18" charset="0"/>
              </a:rPr>
              <a:t>Training data is synthetic-heavy</a:t>
            </a:r>
          </a:p>
          <a:p>
            <a:pPr>
              <a:spcAft>
                <a:spcPts val="600"/>
              </a:spcAft>
            </a:pPr>
            <a:r>
              <a:rPr sz="1420">
                <a:latin typeface="Times New Roman" panose="02020603050405020304" pitchFamily="18" charset="0"/>
                <a:cs typeface="Times New Roman" panose="02020603050405020304" pitchFamily="18" charset="0"/>
              </a:rPr>
              <a:t>Kenyan scraped postings lack ground-truth fraud labels</a:t>
            </a:r>
          </a:p>
          <a:p>
            <a:pPr>
              <a:spcAft>
                <a:spcPts val="600"/>
              </a:spcAft>
            </a:pPr>
            <a:r>
              <a:rPr sz="1420">
                <a:latin typeface="Times New Roman" panose="02020603050405020304" pitchFamily="18" charset="0"/>
                <a:cs typeface="Times New Roman" panose="02020603050405020304" pitchFamily="18" charset="0"/>
              </a:rPr>
              <a:t>Real Kenyan-market generalization has not yet been fully established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41F38"/>
        </a:solidFill>
        <a:effectLst/>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4A6FA5"/>
          </a:solidFill>
          <a:ln/>
        </p:spPr>
      </p:sp>
      <p:pic>
        <p:nvPicPr>
          <p:cNvPr id="3" name="Image 0" descr="preencoded.png"/>
          <p:cNvPicPr>
            <a:picLocks noChangeAspect="1"/>
          </p:cNvPicPr>
          <p:nvPr/>
        </p:nvPicPr>
        <p:blipFill>
          <a:blip r:embed="rId3"/>
          <a:stretch>
            <a:fillRect/>
          </a:stretch>
        </p:blipFill>
        <p:spPr>
          <a:xfrm>
            <a:off x="713232" y="667512"/>
            <a:ext cx="310896" cy="310896"/>
          </a:xfrm>
          <a:prstGeom prst="rect">
            <a:avLst/>
          </a:prstGeom>
        </p:spPr>
      </p:pic>
      <p:sp>
        <p:nvSpPr>
          <p:cNvPr id="4" name="Text 1"/>
          <p:cNvSpPr txBox="1"/>
          <p:nvPr/>
        </p:nvSpPr>
        <p:spPr>
          <a:xfrm>
            <a:off x="548640" y="13258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txBox="1"/>
          <p:nvPr/>
        </p:nvSpPr>
        <p:spPr>
          <a:xfrm>
            <a:off x="548640" y="2103120"/>
            <a:ext cx="9144000" cy="4572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Questions welcome</a:t>
            </a:r>
            <a:endParaRPr lang="en-US" sz="1800" dirty="0"/>
          </a:p>
        </p:txBody>
      </p:sp>
      <p:sp>
        <p:nvSpPr>
          <p:cNvPr id="6" name="Shape 3"/>
          <p:cNvSpPr/>
          <p:nvPr/>
        </p:nvSpPr>
        <p:spPr>
          <a:xfrm>
            <a:off x="548640" y="3017520"/>
            <a:ext cx="9601200" cy="1005840"/>
          </a:xfrm>
          <a:prstGeom prst="roundRect">
            <a:avLst>
              <a:gd name="adj" fmla="val 9091"/>
            </a:avLst>
          </a:prstGeom>
          <a:solidFill>
            <a:srgbClr val="1B2A4A"/>
          </a:solidFill>
          <a:ln w="12700">
            <a:solidFill>
              <a:srgbClr val="34456B"/>
            </a:solidFill>
            <a:prstDash val="solid"/>
          </a:ln>
        </p:spPr>
      </p:sp>
      <p:sp>
        <p:nvSpPr>
          <p:cNvPr id="7" name="Text 4"/>
          <p:cNvSpPr txBox="1"/>
          <p:nvPr/>
        </p:nvSpPr>
        <p:spPr>
          <a:xfrm>
            <a:off x="822960" y="3017520"/>
            <a:ext cx="9052560" cy="1005840"/>
          </a:xfrm>
          <a:prstGeom prst="rect">
            <a:avLst/>
          </a:prstGeom>
          <a:noFill/>
          <a:ln/>
        </p:spPr>
        <p:txBody>
          <a:bodyPr wrap="square" lIns="0" tIns="0" rIns="0" bIns="0" rtlCol="0" anchor="ctr"/>
          <a:lstStyle/>
          <a:p>
            <a:pPr marL="0" indent="0" algn="ctr">
              <a:buNone/>
            </a:pPr>
            <a:r>
              <a:rPr lang="en-US" sz="1600" i="1" dirty="0">
                <a:solidFill>
                  <a:srgbClr val="CADCFC"/>
                </a:solidFill>
                <a:latin typeface="Cambria" pitchFamily="34" charset="0"/>
                <a:ea typeface="Cambria" pitchFamily="34" charset="-122"/>
                <a:cs typeface="Cambria" pitchFamily="34" charset="-120"/>
              </a:rPr>
              <a:t>“The goal is not to replace human verification—it is to help people know what to verify first.”</a:t>
            </a:r>
            <a:endParaRPr lang="en-US" sz="1600" dirty="0"/>
          </a:p>
        </p:txBody>
      </p:sp>
      <p:sp>
        <p:nvSpPr>
          <p:cNvPr id="8" name="Text 5"/>
          <p:cNvSpPr txBox="1"/>
          <p:nvPr/>
        </p:nvSpPr>
        <p:spPr>
          <a:xfrm>
            <a:off x="548640" y="6309360"/>
            <a:ext cx="10058400" cy="365760"/>
          </a:xfrm>
          <a:prstGeom prst="rect">
            <a:avLst/>
          </a:prstGeom>
          <a:noFill/>
          <a:ln/>
        </p:spPr>
        <p:txBody>
          <a:bodyPr wrap="square" lIns="0" tIns="0" rIns="0" bIns="0" rtlCol="0" anchor="ctr"/>
          <a:lstStyle/>
          <a:p>
            <a:pPr marL="0" indent="0">
              <a:buNone/>
            </a:pPr>
            <a:r>
              <a:rPr lang="en-US" sz="1100" dirty="0">
                <a:solidFill>
                  <a:srgbClr val="8FA6C9"/>
                </a:solidFill>
                <a:latin typeface="Calibri" pitchFamily="34" charset="0"/>
                <a:ea typeface="Calibri" pitchFamily="34" charset="-122"/>
                <a:cs typeface="Calibri" pitchFamily="34" charset="-120"/>
              </a:rPr>
              <a:t>AI-Powered Job Scam Detection System  |  Moringa School Data Science Capstone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400</TotalTime>
  <Words>1595</Words>
  <Application>Microsoft Office PowerPoint</Application>
  <PresentationFormat>Widescreen</PresentationFormat>
  <Paragraphs>198</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christopher kariuki</cp:lastModifiedBy>
  <cp:revision>28</cp:revision>
  <dcterms:created xsi:type="dcterms:W3CDTF">2026-09-12T18:27:34Z</dcterms:created>
  <dcterms:modified xsi:type="dcterms:W3CDTF">2026-09-17T15:05:39Z</dcterms:modified>
</cp:coreProperties>
</file>